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589"/>
            <a:ext cx="9144000" cy="587867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04672" y="1463040"/>
            <a:ext cx="47548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5B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· BUSINESS INFOGRAPHIC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804672" y="1810512"/>
            <a:ext cx="6144768" cy="1554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企业运营效率提升方案·编辑验收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841248" y="3218688"/>
            <a:ext cx="594360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DCEA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深蓝青棱模板交互验收</a:t>
            </a:r>
            <a:endParaRPr lang="en-US" sz="1152" dirty="0"/>
          </a:p>
        </p:txBody>
      </p:sp>
      <p:sp>
        <p:nvSpPr>
          <p:cNvPr id="8" name="Shape 3"/>
          <p:cNvSpPr/>
          <p:nvPr/>
        </p:nvSpPr>
        <p:spPr>
          <a:xfrm>
            <a:off x="804672" y="4133088"/>
            <a:ext cx="1261872" cy="0"/>
          </a:xfrm>
          <a:custGeom>
            <a:avLst/>
            <a:gdLst/>
            <a:ahLst/>
            <a:cxnLst/>
            <a:rect l="l" t="t" r="r" b="b"/>
            <a:pathLst>
              <a:path w="1261872" h="0">
                <a:moveTo>
                  <a:pt x="0" y="0"/>
                </a:moveTo>
                <a:lnTo>
                  <a:pt x="1261872" y="0"/>
                </a:lnTo>
              </a:path>
            </a:pathLst>
          </a:custGeom>
          <a:noFill/>
          <a:ln w="45720">
            <a:solidFill>
              <a:srgbClr val="45BEE3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67589"/>
            <a:ext cx="9144000" cy="58786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475488" y="457200"/>
            <a:ext cx="749808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内容结构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475488" y="1225296"/>
            <a:ext cx="1024128" cy="0"/>
          </a:xfrm>
          <a:custGeom>
            <a:avLst/>
            <a:gdLst/>
            <a:ahLst/>
            <a:cxnLst/>
            <a:rect l="l" t="t" r="r" b="b"/>
            <a:pathLst>
              <a:path w="1024128" h="0">
                <a:moveTo>
                  <a:pt x="0" y="0"/>
                </a:moveTo>
                <a:lnTo>
                  <a:pt x="1024128" y="0"/>
                </a:lnTo>
              </a:path>
            </a:pathLst>
          </a:custGeom>
          <a:noFill/>
          <a:ln w="36576">
            <a:solidFill>
              <a:srgbClr val="45BEE3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1499616" y="1225296"/>
            <a:ext cx="512064" cy="0"/>
          </a:xfrm>
          <a:custGeom>
            <a:avLst/>
            <a:gdLst/>
            <a:ahLst/>
            <a:cxnLst/>
            <a:rect l="l" t="t" r="r" b="b"/>
            <a:pathLst>
              <a:path w="512064" h="0">
                <a:moveTo>
                  <a:pt x="0" y="0"/>
                </a:moveTo>
                <a:lnTo>
                  <a:pt x="512064" y="0"/>
                </a:lnTo>
              </a:path>
            </a:pathLst>
          </a:custGeom>
          <a:noFill/>
          <a:ln w="36576">
            <a:solidFill>
              <a:srgbClr val="D7E1E9"/>
            </a:solidFill>
            <a:prstDash val="solid"/>
            <a:headEnd type="none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5870448" y="603504"/>
            <a:ext cx="2798064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先建立共同视角，再进入证据与行动。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640080" y="1353312"/>
            <a:ext cx="3749040" cy="640080"/>
          </a:xfrm>
          <a:custGeom>
            <a:avLst/>
            <a:gdLst/>
            <a:ahLst/>
            <a:cxnLst/>
            <a:rect l="l" t="t" r="r" b="b"/>
            <a:pathLst>
              <a:path w="3749040" h="640080">
                <a:moveTo>
                  <a:pt x="0" y="0"/>
                </a:moveTo>
                <a:lnTo>
                  <a:pt x="3749040" y="0"/>
                </a:lnTo>
                <a:lnTo>
                  <a:pt x="374904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4672" y="1508760"/>
            <a:ext cx="4937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1" name="Text 7"/>
          <p:cNvSpPr/>
          <p:nvPr/>
        </p:nvSpPr>
        <p:spPr>
          <a:xfrm>
            <a:off x="1371600" y="1490472"/>
            <a:ext cx="283464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4754880" y="1353312"/>
            <a:ext cx="3749040" cy="640080"/>
          </a:xfrm>
          <a:custGeom>
            <a:avLst/>
            <a:gdLst/>
            <a:ahLst/>
            <a:cxnLst/>
            <a:rect l="l" t="t" r="r" b="b"/>
            <a:pathLst>
              <a:path w="3749040" h="640080">
                <a:moveTo>
                  <a:pt x="0" y="0"/>
                </a:moveTo>
                <a:lnTo>
                  <a:pt x="3749040" y="0"/>
                </a:lnTo>
                <a:lnTo>
                  <a:pt x="374904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E4F7FC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19472" y="1508760"/>
            <a:ext cx="4937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5486400" y="1490472"/>
            <a:ext cx="283464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640080" y="2231136"/>
            <a:ext cx="3749040" cy="640080"/>
          </a:xfrm>
          <a:custGeom>
            <a:avLst/>
            <a:gdLst/>
            <a:ahLst/>
            <a:cxnLst/>
            <a:rect l="l" t="t" r="r" b="b"/>
            <a:pathLst>
              <a:path w="3749040" h="640080">
                <a:moveTo>
                  <a:pt x="0" y="0"/>
                </a:moveTo>
                <a:lnTo>
                  <a:pt x="3749040" y="0"/>
                </a:lnTo>
                <a:lnTo>
                  <a:pt x="374904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4672" y="2386584"/>
            <a:ext cx="4937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7" name="Text 13"/>
          <p:cNvSpPr/>
          <p:nvPr/>
        </p:nvSpPr>
        <p:spPr>
          <a:xfrm>
            <a:off x="1371600" y="2368296"/>
            <a:ext cx="283464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举措</a:t>
            </a:r>
            <a:endParaRPr lang="en-US" sz="1152" dirty="0"/>
          </a:p>
        </p:txBody>
      </p:sp>
      <p:sp>
        <p:nvSpPr>
          <p:cNvPr id="18" name="Shape 14"/>
          <p:cNvSpPr/>
          <p:nvPr/>
        </p:nvSpPr>
        <p:spPr>
          <a:xfrm>
            <a:off x="4754880" y="2231136"/>
            <a:ext cx="3749040" cy="640080"/>
          </a:xfrm>
          <a:custGeom>
            <a:avLst/>
            <a:gdLst/>
            <a:ahLst/>
            <a:cxnLst/>
            <a:rect l="l" t="t" r="r" b="b"/>
            <a:pathLst>
              <a:path w="3749040" h="640080">
                <a:moveTo>
                  <a:pt x="0" y="0"/>
                </a:moveTo>
                <a:lnTo>
                  <a:pt x="3749040" y="0"/>
                </a:lnTo>
                <a:lnTo>
                  <a:pt x="374904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E4F7FC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19472" y="2386584"/>
            <a:ext cx="4937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5486400" y="2368296"/>
            <a:ext cx="283464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1152" dirty="0"/>
          </a:p>
        </p:txBody>
      </p:sp>
      <p:sp>
        <p:nvSpPr>
          <p:cNvPr id="21" name="Text 17"/>
          <p:cNvSpPr/>
          <p:nvPr/>
        </p:nvSpPr>
        <p:spPr>
          <a:xfrm>
            <a:off x="7132320" y="4864608"/>
            <a:ext cx="1536192" cy="1645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6C7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INFOGRAPHIC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589"/>
            <a:ext cx="9144000" cy="587867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1517904"/>
            <a:ext cx="2286000" cy="14447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624" b="1" dirty="0">
                <a:solidFill>
                  <a:srgbClr val="45B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6" name="Shape 1"/>
          <p:cNvSpPr/>
          <p:nvPr/>
        </p:nvSpPr>
        <p:spPr>
          <a:xfrm>
            <a:off x="3566160" y="1737360"/>
            <a:ext cx="36576" cy="0"/>
          </a:xfrm>
          <a:custGeom>
            <a:avLst/>
            <a:gdLst/>
            <a:ahLst/>
            <a:cxnLst/>
            <a:rect l="l" t="t" r="r" b="b"/>
            <a:pathLst>
              <a:path w="36576" h="0">
                <a:moveTo>
                  <a:pt x="0" y="0"/>
                </a:moveTo>
                <a:lnTo>
                  <a:pt x="36576" y="0"/>
                </a:lnTo>
              </a:path>
            </a:pathLst>
          </a:custGeom>
          <a:noFill/>
          <a:ln w="36576">
            <a:solidFill>
              <a:srgbClr val="FFFFFF">
                <a:alpha val="34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2"/>
          <p:cNvSpPr/>
          <p:nvPr/>
        </p:nvSpPr>
        <p:spPr>
          <a:xfrm>
            <a:off x="3877056" y="1664208"/>
            <a:ext cx="4480560" cy="9509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关键举措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3913632" y="2944368"/>
            <a:ext cx="3931920" cy="8229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DCEA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从共同事实进入可验证行动。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67589"/>
            <a:ext cx="9144000" cy="58786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475488" y="457200"/>
            <a:ext cx="749808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四项能力支撑持续改善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475488" y="1225296"/>
            <a:ext cx="1024128" cy="0"/>
          </a:xfrm>
          <a:custGeom>
            <a:avLst/>
            <a:gdLst/>
            <a:ahLst/>
            <a:cxnLst/>
            <a:rect l="l" t="t" r="r" b="b"/>
            <a:pathLst>
              <a:path w="1024128" h="0">
                <a:moveTo>
                  <a:pt x="0" y="0"/>
                </a:moveTo>
                <a:lnTo>
                  <a:pt x="1024128" y="0"/>
                </a:lnTo>
              </a:path>
            </a:pathLst>
          </a:custGeom>
          <a:noFill/>
          <a:ln w="36576">
            <a:solidFill>
              <a:srgbClr val="45BEE3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1499616" y="1225296"/>
            <a:ext cx="512064" cy="0"/>
          </a:xfrm>
          <a:custGeom>
            <a:avLst/>
            <a:gdLst/>
            <a:ahLst/>
            <a:cxnLst/>
            <a:rect l="l" t="t" r="r" b="b"/>
            <a:pathLst>
              <a:path w="512064" h="0">
                <a:moveTo>
                  <a:pt x="0" y="0"/>
                </a:moveTo>
                <a:lnTo>
                  <a:pt x="512064" y="0"/>
                </a:lnTo>
              </a:path>
            </a:pathLst>
          </a:custGeom>
          <a:noFill/>
          <a:ln w="36576">
            <a:solidFill>
              <a:srgbClr val="D7E1E9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4261104" y="2523744"/>
            <a:ext cx="621792" cy="621792"/>
          </a:xfrm>
          <a:custGeom>
            <a:avLst/>
            <a:gdLst/>
            <a:ahLst/>
            <a:cxnLst/>
            <a:rect l="l" t="t" r="r" b="b"/>
            <a:pathLst>
              <a:path w="621792" h="621792">
                <a:moveTo>
                  <a:pt x="310896" y="0"/>
                </a:moveTo>
                <a:lnTo>
                  <a:pt x="621792" y="310896"/>
                </a:lnTo>
                <a:lnTo>
                  <a:pt x="310896" y="621792"/>
                </a:lnTo>
                <a:lnTo>
                  <a:pt x="0" y="310896"/>
                </a:lnTo>
                <a:close/>
              </a:path>
            </a:pathLst>
          </a:custGeom>
          <a:solidFill>
            <a:srgbClr val="45BEE3"/>
          </a:solidFill>
          <a:ln/>
        </p:spPr>
      </p:sp>
      <p:sp>
        <p:nvSpPr>
          <p:cNvPr id="9" name="Shape 5"/>
          <p:cNvSpPr/>
          <p:nvPr/>
        </p:nvSpPr>
        <p:spPr>
          <a:xfrm>
            <a:off x="640080" y="1371600"/>
            <a:ext cx="3703320" cy="1444752"/>
          </a:xfrm>
          <a:custGeom>
            <a:avLst/>
            <a:gdLst/>
            <a:ahLst/>
            <a:cxnLst/>
            <a:rect l="l" t="t" r="r" b="b"/>
            <a:pathLst>
              <a:path w="3703320" h="1444752">
                <a:moveTo>
                  <a:pt x="0" y="0"/>
                </a:moveTo>
                <a:lnTo>
                  <a:pt x="3703320" y="0"/>
                </a:lnTo>
                <a:lnTo>
                  <a:pt x="3703320" y="1444752"/>
                </a:lnTo>
                <a:lnTo>
                  <a:pt x="0" y="1444752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4672" y="153619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173736" y="0"/>
                </a:moveTo>
                <a:cubicBezTo>
                  <a:pt x="269671" y="48"/>
                  <a:pt x="347409" y="77845"/>
                  <a:pt x="347385" y="173779"/>
                </a:cubicBezTo>
                <a:cubicBezTo>
                  <a:pt x="347361" y="269714"/>
                  <a:pt x="269584" y="347472"/>
                  <a:pt x="173649" y="347472"/>
                </a:cubicBezTo>
                <a:cubicBezTo>
                  <a:pt x="77714" y="347472"/>
                  <a:pt x="-63" y="269714"/>
                  <a:pt x="-87" y="173779"/>
                </a:cubicBezTo>
                <a:cubicBezTo>
                  <a:pt x="-111" y="77845"/>
                  <a:pt x="77627" y="48"/>
                  <a:pt x="173562" y="0"/>
                </a:cubicBezTo>
                <a:close/>
              </a:path>
            </a:pathLst>
          </a:custGeom>
          <a:solidFill>
            <a:srgbClr val="45BEE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1600200"/>
            <a:ext cx="347472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1280160" y="1554480"/>
            <a:ext cx="28803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822960" y="2176272"/>
            <a:ext cx="3337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项能力连接事实、影响与下一步行动。</a:t>
            </a:r>
            <a:endParaRPr lang="en-US" sz="1152" dirty="0"/>
          </a:p>
        </p:txBody>
      </p:sp>
      <p:sp>
        <p:nvSpPr>
          <p:cNvPr id="14" name="Shape 10"/>
          <p:cNvSpPr/>
          <p:nvPr/>
        </p:nvSpPr>
        <p:spPr>
          <a:xfrm>
            <a:off x="4800600" y="1371600"/>
            <a:ext cx="3703320" cy="1444752"/>
          </a:xfrm>
          <a:custGeom>
            <a:avLst/>
            <a:gdLst/>
            <a:ahLst/>
            <a:cxnLst/>
            <a:rect l="l" t="t" r="r" b="b"/>
            <a:pathLst>
              <a:path w="3703320" h="1444752">
                <a:moveTo>
                  <a:pt x="0" y="0"/>
                </a:moveTo>
                <a:lnTo>
                  <a:pt x="3703320" y="0"/>
                </a:lnTo>
                <a:lnTo>
                  <a:pt x="3703320" y="1444752"/>
                </a:lnTo>
                <a:lnTo>
                  <a:pt x="0" y="1444752"/>
                </a:lnTo>
                <a:close/>
              </a:path>
            </a:pathLst>
          </a:custGeom>
          <a:solidFill>
            <a:srgbClr val="E4F7FC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65192" y="153619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173736" y="0"/>
                </a:moveTo>
                <a:cubicBezTo>
                  <a:pt x="269671" y="48"/>
                  <a:pt x="347409" y="77845"/>
                  <a:pt x="347385" y="173779"/>
                </a:cubicBezTo>
                <a:cubicBezTo>
                  <a:pt x="347361" y="269714"/>
                  <a:pt x="269584" y="347472"/>
                  <a:pt x="173649" y="347472"/>
                </a:cubicBezTo>
                <a:cubicBezTo>
                  <a:pt x="77714" y="347472"/>
                  <a:pt x="-63" y="269714"/>
                  <a:pt x="-87" y="173779"/>
                </a:cubicBezTo>
                <a:cubicBezTo>
                  <a:pt x="-111" y="77845"/>
                  <a:pt x="77627" y="48"/>
                  <a:pt x="173562" y="0"/>
                </a:cubicBezTo>
                <a:close/>
              </a:path>
            </a:pathLst>
          </a:custGeom>
          <a:solidFill>
            <a:srgbClr val="243447"/>
          </a:solidFill>
          <a:ln/>
        </p:spPr>
      </p:sp>
      <p:sp>
        <p:nvSpPr>
          <p:cNvPr id="16" name="Text 12"/>
          <p:cNvSpPr/>
          <p:nvPr/>
        </p:nvSpPr>
        <p:spPr>
          <a:xfrm>
            <a:off x="4965192" y="1600200"/>
            <a:ext cx="347472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7" name="Text 13"/>
          <p:cNvSpPr/>
          <p:nvPr/>
        </p:nvSpPr>
        <p:spPr>
          <a:xfrm>
            <a:off x="5440680" y="1554480"/>
            <a:ext cx="28803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4983480" y="2176272"/>
            <a:ext cx="3337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项能力连接事实、影响与下一步行动。</a:t>
            </a:r>
            <a:endParaRPr lang="en-US" sz="1152" dirty="0"/>
          </a:p>
        </p:txBody>
      </p:sp>
      <p:sp>
        <p:nvSpPr>
          <p:cNvPr id="19" name="Shape 15"/>
          <p:cNvSpPr/>
          <p:nvPr/>
        </p:nvSpPr>
        <p:spPr>
          <a:xfrm>
            <a:off x="640080" y="3090672"/>
            <a:ext cx="3703320" cy="1444752"/>
          </a:xfrm>
          <a:custGeom>
            <a:avLst/>
            <a:gdLst/>
            <a:ahLst/>
            <a:cxnLst/>
            <a:rect l="l" t="t" r="r" b="b"/>
            <a:pathLst>
              <a:path w="3703320" h="1444752">
                <a:moveTo>
                  <a:pt x="0" y="0"/>
                </a:moveTo>
                <a:lnTo>
                  <a:pt x="3703320" y="0"/>
                </a:lnTo>
                <a:lnTo>
                  <a:pt x="3703320" y="1444752"/>
                </a:lnTo>
                <a:lnTo>
                  <a:pt x="0" y="1444752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4672" y="325526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173736" y="0"/>
                </a:moveTo>
                <a:cubicBezTo>
                  <a:pt x="269671" y="48"/>
                  <a:pt x="347409" y="77845"/>
                  <a:pt x="347385" y="173779"/>
                </a:cubicBezTo>
                <a:cubicBezTo>
                  <a:pt x="347361" y="269714"/>
                  <a:pt x="269584" y="347472"/>
                  <a:pt x="173649" y="347472"/>
                </a:cubicBezTo>
                <a:cubicBezTo>
                  <a:pt x="77714" y="347472"/>
                  <a:pt x="-63" y="269714"/>
                  <a:pt x="-87" y="173779"/>
                </a:cubicBezTo>
                <a:cubicBezTo>
                  <a:pt x="-111" y="77845"/>
                  <a:pt x="77627" y="48"/>
                  <a:pt x="173562" y="0"/>
                </a:cubicBezTo>
                <a:close/>
              </a:path>
            </a:pathLst>
          </a:custGeom>
          <a:solidFill>
            <a:srgbClr val="243447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" y="3319272"/>
            <a:ext cx="347472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2" name="Text 18"/>
          <p:cNvSpPr/>
          <p:nvPr/>
        </p:nvSpPr>
        <p:spPr>
          <a:xfrm>
            <a:off x="1280160" y="3273552"/>
            <a:ext cx="28803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822960" y="3895344"/>
            <a:ext cx="3337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项能力连接事实、影响与下一步行动。</a:t>
            </a:r>
            <a:endParaRPr lang="en-US" sz="1152" dirty="0"/>
          </a:p>
        </p:txBody>
      </p:sp>
      <p:sp>
        <p:nvSpPr>
          <p:cNvPr id="24" name="Shape 20"/>
          <p:cNvSpPr/>
          <p:nvPr/>
        </p:nvSpPr>
        <p:spPr>
          <a:xfrm>
            <a:off x="4800600" y="3090672"/>
            <a:ext cx="3703320" cy="1444752"/>
          </a:xfrm>
          <a:custGeom>
            <a:avLst/>
            <a:gdLst/>
            <a:ahLst/>
            <a:cxnLst/>
            <a:rect l="l" t="t" r="r" b="b"/>
            <a:pathLst>
              <a:path w="3703320" h="1444752">
                <a:moveTo>
                  <a:pt x="0" y="0"/>
                </a:moveTo>
                <a:lnTo>
                  <a:pt x="3703320" y="0"/>
                </a:lnTo>
                <a:lnTo>
                  <a:pt x="3703320" y="1444752"/>
                </a:lnTo>
                <a:lnTo>
                  <a:pt x="0" y="1444752"/>
                </a:lnTo>
                <a:close/>
              </a:path>
            </a:pathLst>
          </a:custGeom>
          <a:solidFill>
            <a:srgbClr val="E4F7FC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965192" y="325526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173736" y="0"/>
                </a:moveTo>
                <a:cubicBezTo>
                  <a:pt x="269671" y="48"/>
                  <a:pt x="347409" y="77845"/>
                  <a:pt x="347385" y="173779"/>
                </a:cubicBezTo>
                <a:cubicBezTo>
                  <a:pt x="347361" y="269714"/>
                  <a:pt x="269584" y="347472"/>
                  <a:pt x="173649" y="347472"/>
                </a:cubicBezTo>
                <a:cubicBezTo>
                  <a:pt x="77714" y="347472"/>
                  <a:pt x="-63" y="269714"/>
                  <a:pt x="-87" y="173779"/>
                </a:cubicBezTo>
                <a:cubicBezTo>
                  <a:pt x="-111" y="77845"/>
                  <a:pt x="77627" y="48"/>
                  <a:pt x="173562" y="0"/>
                </a:cubicBezTo>
                <a:close/>
              </a:path>
            </a:pathLst>
          </a:custGeom>
          <a:solidFill>
            <a:srgbClr val="243447"/>
          </a:solidFill>
          <a:ln/>
        </p:spPr>
      </p:sp>
      <p:sp>
        <p:nvSpPr>
          <p:cNvPr id="26" name="Text 22"/>
          <p:cNvSpPr/>
          <p:nvPr/>
        </p:nvSpPr>
        <p:spPr>
          <a:xfrm>
            <a:off x="4965192" y="3319272"/>
            <a:ext cx="347472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3"/>
          <p:cNvSpPr/>
          <p:nvPr/>
        </p:nvSpPr>
        <p:spPr>
          <a:xfrm>
            <a:off x="5440680" y="3273552"/>
            <a:ext cx="28803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4983480" y="3895344"/>
            <a:ext cx="3337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项能力连接事实、影响与下一步行动。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7132320" y="4864608"/>
            <a:ext cx="1536192" cy="1645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6C7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INFOGRAPHIC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67589"/>
            <a:ext cx="9144000" cy="58786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" y="256032"/>
            <a:ext cx="274320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475488" y="457200"/>
            <a:ext cx="7498080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图像与业务现场建立联系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475488" y="1225296"/>
            <a:ext cx="1024128" cy="0"/>
          </a:xfrm>
          <a:custGeom>
            <a:avLst/>
            <a:gdLst/>
            <a:ahLst/>
            <a:cxnLst/>
            <a:rect l="l" t="t" r="r" b="b"/>
            <a:pathLst>
              <a:path w="1024128" h="0">
                <a:moveTo>
                  <a:pt x="0" y="0"/>
                </a:moveTo>
                <a:lnTo>
                  <a:pt x="1024128" y="0"/>
                </a:lnTo>
              </a:path>
            </a:pathLst>
          </a:custGeom>
          <a:noFill/>
          <a:ln w="36576">
            <a:solidFill>
              <a:srgbClr val="45BEE3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1499616" y="1225296"/>
            <a:ext cx="512064" cy="0"/>
          </a:xfrm>
          <a:custGeom>
            <a:avLst/>
            <a:gdLst/>
            <a:ahLst/>
            <a:cxnLst/>
            <a:rect l="l" t="t" r="r" b="b"/>
            <a:pathLst>
              <a:path w="512064" h="0">
                <a:moveTo>
                  <a:pt x="0" y="0"/>
                </a:moveTo>
                <a:lnTo>
                  <a:pt x="512064" y="0"/>
                </a:lnTo>
              </a:path>
            </a:pathLst>
          </a:custGeom>
          <a:noFill/>
          <a:ln w="36576">
            <a:solidFill>
              <a:srgbClr val="D7E1E9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640080" y="1371600"/>
            <a:ext cx="3950208" cy="3072384"/>
          </a:xfrm>
          <a:custGeom>
            <a:avLst/>
            <a:gdLst/>
            <a:ahLst/>
            <a:cxnLst/>
            <a:rect l="l" t="t" r="r" b="b"/>
            <a:pathLst>
              <a:path w="3950208" h="3072384">
                <a:moveTo>
                  <a:pt x="0" y="0"/>
                </a:moveTo>
                <a:lnTo>
                  <a:pt x="3950208" y="0"/>
                </a:lnTo>
                <a:lnTo>
                  <a:pt x="3950208" y="3072384"/>
                </a:lnTo>
                <a:lnTo>
                  <a:pt x="0" y="3072384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1426464"/>
            <a:ext cx="5266944" cy="2962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19472" y="1792224"/>
            <a:ext cx="3438144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4919472" y="2340864"/>
            <a:ext cx="3438144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项能力连接事实、影响与下一步行动。</a:t>
            </a:r>
            <a:endParaRPr lang="en-US" sz="1152" dirty="0"/>
          </a:p>
        </p:txBody>
      </p:sp>
      <p:sp>
        <p:nvSpPr>
          <p:cNvPr id="12" name="Text 7"/>
          <p:cNvSpPr/>
          <p:nvPr/>
        </p:nvSpPr>
        <p:spPr>
          <a:xfrm>
            <a:off x="7132320" y="4864608"/>
            <a:ext cx="153619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6C7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INFOGRAPHIC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67589"/>
            <a:ext cx="9144000" cy="58786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28A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475488" y="457200"/>
            <a:ext cx="749808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230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指标驱动优先级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475488" y="1225296"/>
            <a:ext cx="1024128" cy="0"/>
          </a:xfrm>
          <a:custGeom>
            <a:avLst/>
            <a:gdLst/>
            <a:ahLst/>
            <a:cxnLst/>
            <a:rect l="l" t="t" r="r" b="b"/>
            <a:pathLst>
              <a:path w="1024128" h="0">
                <a:moveTo>
                  <a:pt x="0" y="0"/>
                </a:moveTo>
                <a:lnTo>
                  <a:pt x="1024128" y="0"/>
                </a:lnTo>
              </a:path>
            </a:pathLst>
          </a:custGeom>
          <a:noFill/>
          <a:ln w="36576">
            <a:solidFill>
              <a:srgbClr val="45BEE3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1499616" y="1225296"/>
            <a:ext cx="512064" cy="0"/>
          </a:xfrm>
          <a:custGeom>
            <a:avLst/>
            <a:gdLst/>
            <a:ahLst/>
            <a:cxnLst/>
            <a:rect l="l" t="t" r="r" b="b"/>
            <a:pathLst>
              <a:path w="512064" h="0">
                <a:moveTo>
                  <a:pt x="0" y="0"/>
                </a:moveTo>
                <a:lnTo>
                  <a:pt x="512064" y="0"/>
                </a:lnTo>
              </a:path>
            </a:pathLst>
          </a:custGeom>
          <a:noFill/>
          <a:ln w="36576">
            <a:solidFill>
              <a:srgbClr val="D7E1E9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548640" y="1719072"/>
            <a:ext cx="1874520" cy="2286000"/>
          </a:xfrm>
          <a:custGeom>
            <a:avLst/>
            <a:gdLst/>
            <a:ahLst/>
            <a:cxnLst/>
            <a:rect l="l" t="t" r="r" b="b"/>
            <a:pathLst>
              <a:path w="1874520" h="2286000">
                <a:moveTo>
                  <a:pt x="0" y="0"/>
                </a:moveTo>
                <a:lnTo>
                  <a:pt x="1874520" y="0"/>
                </a:lnTo>
                <a:lnTo>
                  <a:pt x="187452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243447"/>
          </a:solidFill>
          <a:ln w="9144">
            <a:solidFill>
              <a:srgbClr val="24344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9808" y="1938528"/>
            <a:ext cx="109728" cy="475488"/>
          </a:xfrm>
          <a:custGeom>
            <a:avLst/>
            <a:gdLst/>
            <a:ahLst/>
            <a:cxnLst/>
            <a:rect l="l" t="t" r="r" b="b"/>
            <a:pathLst>
              <a:path w="109728" h="475488">
                <a:moveTo>
                  <a:pt x="0" y="0"/>
                </a:moveTo>
                <a:lnTo>
                  <a:pt x="109728" y="0"/>
                </a:lnTo>
                <a:lnTo>
                  <a:pt x="109728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45BEE3"/>
          </a:solidFill>
          <a:ln/>
        </p:spPr>
      </p:sp>
      <p:sp>
        <p:nvSpPr>
          <p:cNvPr id="10" name="Text 6"/>
          <p:cNvSpPr/>
          <p:nvPr/>
        </p:nvSpPr>
        <p:spPr>
          <a:xfrm>
            <a:off x="749808" y="2487168"/>
            <a:ext cx="14721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1" name="Text 7"/>
          <p:cNvSpPr/>
          <p:nvPr/>
        </p:nvSpPr>
        <p:spPr>
          <a:xfrm>
            <a:off x="749808" y="3127248"/>
            <a:ext cx="14721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DCEA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项能力连接事实、影响与下一步行动。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2606040" y="1719072"/>
            <a:ext cx="1874520" cy="2286000"/>
          </a:xfrm>
          <a:custGeom>
            <a:avLst/>
            <a:gdLst/>
            <a:ahLst/>
            <a:cxnLst/>
            <a:rect l="l" t="t" r="r" b="b"/>
            <a:pathLst>
              <a:path w="1874520" h="2286000">
                <a:moveTo>
                  <a:pt x="0" y="0"/>
                </a:moveTo>
                <a:lnTo>
                  <a:pt x="1874520" y="0"/>
                </a:lnTo>
                <a:lnTo>
                  <a:pt x="187452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07208" y="1938528"/>
            <a:ext cx="109728" cy="475488"/>
          </a:xfrm>
          <a:custGeom>
            <a:avLst/>
            <a:gdLst/>
            <a:ahLst/>
            <a:cxnLst/>
            <a:rect l="l" t="t" r="r" b="b"/>
            <a:pathLst>
              <a:path w="109728" h="475488">
                <a:moveTo>
                  <a:pt x="0" y="0"/>
                </a:moveTo>
                <a:lnTo>
                  <a:pt x="109728" y="0"/>
                </a:lnTo>
                <a:lnTo>
                  <a:pt x="109728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45BEE3"/>
          </a:solidFill>
          <a:ln/>
        </p:spPr>
      </p:sp>
      <p:sp>
        <p:nvSpPr>
          <p:cNvPr id="14" name="Text 10"/>
          <p:cNvSpPr/>
          <p:nvPr/>
        </p:nvSpPr>
        <p:spPr>
          <a:xfrm>
            <a:off x="2807208" y="2487168"/>
            <a:ext cx="14721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 2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2807208" y="3127248"/>
            <a:ext cx="14721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项能力连接事实、影响与下一步行动。</a:t>
            </a:r>
            <a:endParaRPr lang="en-US" sz="1152" dirty="0"/>
          </a:p>
        </p:txBody>
      </p:sp>
      <p:sp>
        <p:nvSpPr>
          <p:cNvPr id="16" name="Shape 12"/>
          <p:cNvSpPr/>
          <p:nvPr/>
        </p:nvSpPr>
        <p:spPr>
          <a:xfrm>
            <a:off x="4663440" y="1719072"/>
            <a:ext cx="1874520" cy="2286000"/>
          </a:xfrm>
          <a:custGeom>
            <a:avLst/>
            <a:gdLst/>
            <a:ahLst/>
            <a:cxnLst/>
            <a:rect l="l" t="t" r="r" b="b"/>
            <a:pathLst>
              <a:path w="1874520" h="2286000">
                <a:moveTo>
                  <a:pt x="0" y="0"/>
                </a:moveTo>
                <a:lnTo>
                  <a:pt x="1874520" y="0"/>
                </a:lnTo>
                <a:lnTo>
                  <a:pt x="187452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64608" y="1938528"/>
            <a:ext cx="109728" cy="475488"/>
          </a:xfrm>
          <a:custGeom>
            <a:avLst/>
            <a:gdLst/>
            <a:ahLst/>
            <a:cxnLst/>
            <a:rect l="l" t="t" r="r" b="b"/>
            <a:pathLst>
              <a:path w="109728" h="475488">
                <a:moveTo>
                  <a:pt x="0" y="0"/>
                </a:moveTo>
                <a:lnTo>
                  <a:pt x="109728" y="0"/>
                </a:lnTo>
                <a:lnTo>
                  <a:pt x="109728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45BEE3"/>
          </a:solidFill>
          <a:ln/>
        </p:spPr>
      </p:sp>
      <p:sp>
        <p:nvSpPr>
          <p:cNvPr id="18" name="Text 14"/>
          <p:cNvSpPr/>
          <p:nvPr/>
        </p:nvSpPr>
        <p:spPr>
          <a:xfrm>
            <a:off x="4864608" y="2487168"/>
            <a:ext cx="14721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 3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864608" y="3127248"/>
            <a:ext cx="14721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项能力连接事实、影响与下一步行动。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6720840" y="1719072"/>
            <a:ext cx="1874520" cy="2286000"/>
          </a:xfrm>
          <a:custGeom>
            <a:avLst/>
            <a:gdLst/>
            <a:ahLst/>
            <a:cxnLst/>
            <a:rect l="l" t="t" r="r" b="b"/>
            <a:pathLst>
              <a:path w="1874520" h="2286000">
                <a:moveTo>
                  <a:pt x="0" y="0"/>
                </a:moveTo>
                <a:lnTo>
                  <a:pt x="1874520" y="0"/>
                </a:lnTo>
                <a:lnTo>
                  <a:pt x="187452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D7E1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22008" y="1938528"/>
            <a:ext cx="109728" cy="475488"/>
          </a:xfrm>
          <a:custGeom>
            <a:avLst/>
            <a:gdLst/>
            <a:ahLst/>
            <a:cxnLst/>
            <a:rect l="l" t="t" r="r" b="b"/>
            <a:pathLst>
              <a:path w="109728" h="475488">
                <a:moveTo>
                  <a:pt x="0" y="0"/>
                </a:moveTo>
                <a:lnTo>
                  <a:pt x="109728" y="0"/>
                </a:lnTo>
                <a:lnTo>
                  <a:pt x="109728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45BEE3"/>
          </a:solidFill>
          <a:ln/>
        </p:spPr>
      </p:sp>
      <p:sp>
        <p:nvSpPr>
          <p:cNvPr id="22" name="Text 18"/>
          <p:cNvSpPr/>
          <p:nvPr/>
        </p:nvSpPr>
        <p:spPr>
          <a:xfrm>
            <a:off x="6922008" y="2487168"/>
            <a:ext cx="14721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 4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6922008" y="3127248"/>
            <a:ext cx="14721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6C7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项能力连接事实、影响与下一步行动。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7132320" y="4864608"/>
            <a:ext cx="1536192" cy="1645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6C7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INFOGRAPHIC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3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589"/>
            <a:ext cx="9144000" cy="587867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71600" y="1371600"/>
            <a:ext cx="6400800" cy="2377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5B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· COMMIT · DELIVER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097280" y="1792224"/>
            <a:ext cx="6949440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让清晰表达推动下一步</a:t>
            </a:r>
            <a:endParaRPr lang="en-US" sz="1152" dirty="0"/>
          </a:p>
        </p:txBody>
      </p:sp>
      <p:sp>
        <p:nvSpPr>
          <p:cNvPr id="7" name="Shape 2"/>
          <p:cNvSpPr/>
          <p:nvPr/>
        </p:nvSpPr>
        <p:spPr>
          <a:xfrm>
            <a:off x="3474720" y="3054096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45BEE3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4846320" y="3054096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 h="0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6576">
            <a:solidFill>
              <a:srgbClr val="FFFFFF">
                <a:alpha val="34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463040" y="3255264"/>
            <a:ext cx="6217920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DCEA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明确负责人、标准和复盘时间。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2026-08-29T16:23:29Z</dcterms:created>
  <dcterms:modified xsi:type="dcterms:W3CDTF">2026-08-29T16:23:29Z</dcterms:modified>
</cp:coreProperties>
</file>