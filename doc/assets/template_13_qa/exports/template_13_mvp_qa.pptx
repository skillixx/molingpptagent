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237744"/>
            <a:ext cx="2468880" cy="158713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3336907"/>
            <a:ext cx="2468880" cy="1587137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86791"/>
            <a:ext cx="4754880" cy="3056709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37744"/>
            <a:ext cx="2468880" cy="158713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713232" y="1371600"/>
            <a:ext cx="2743200" cy="40619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D5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CLARITY</a:t>
            </a:r>
            <a:endParaRPr lang="en-US" sz="1152" dirty="0"/>
          </a:p>
        </p:txBody>
      </p:sp>
      <p:sp>
        <p:nvSpPr>
          <p:cNvPr id="9" name="Text 2"/>
          <p:cNvSpPr/>
          <p:nvPr/>
        </p:nvSpPr>
        <p:spPr>
          <a:xfrm>
            <a:off x="694944" y="1645920"/>
            <a:ext cx="4937760" cy="8206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企业价值由清晰表达驱动</a:t>
            </a:r>
            <a:endParaRPr lang="en-US" sz="1152" dirty="0"/>
          </a:p>
        </p:txBody>
      </p:sp>
      <p:sp>
        <p:nvSpPr>
          <p:cNvPr id="10" name="Shape 3"/>
          <p:cNvSpPr/>
          <p:nvPr/>
        </p:nvSpPr>
        <p:spPr>
          <a:xfrm>
            <a:off x="713232" y="3090672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11" name="Shape 4"/>
          <p:cNvSpPr/>
          <p:nvPr/>
        </p:nvSpPr>
        <p:spPr>
          <a:xfrm>
            <a:off x="2084832" y="3090672"/>
            <a:ext cx="731520" cy="0"/>
          </a:xfrm>
          <a:custGeom>
            <a:avLst/>
            <a:gdLst/>
            <a:ahLst/>
            <a:cxnLst/>
            <a:rect l="l" t="t" r="r" b="b"/>
            <a:pathLst>
              <a:path w="731520" h="0">
                <a:moveTo>
                  <a:pt x="0" y="0"/>
                </a:moveTo>
                <a:lnTo>
                  <a:pt x="731520" y="0"/>
                </a:lnTo>
              </a:path>
            </a:pathLst>
          </a:custGeom>
          <a:noFill/>
          <a:ln w="36576">
            <a:solidFill>
              <a:srgbClr val="F0D3A9"/>
            </a:solidFill>
            <a:prstDash val="solid"/>
            <a:headEnd type="none"/>
            <a:tailEnd type="none"/>
          </a:ln>
        </p:spPr>
      </p:sp>
      <p:sp>
        <p:nvSpPr>
          <p:cNvPr id="12" name="Text 5"/>
          <p:cNvSpPr/>
          <p:nvPr/>
        </p:nvSpPr>
        <p:spPr>
          <a:xfrm>
            <a:off x="713232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灰蓝企业宣传模板端到端验收</a:t>
            </a:r>
            <a:endParaRPr lang="en-US" sz="1152" dirty="0"/>
          </a:p>
        </p:txBody>
      </p:sp>
      <p:sp>
        <p:nvSpPr>
          <p:cNvPr id="13" name="Shape 6"/>
          <p:cNvSpPr/>
          <p:nvPr/>
        </p:nvSpPr>
        <p:spPr>
          <a:xfrm>
            <a:off x="6272784" y="1024128"/>
            <a:ext cx="2304288" cy="3017520"/>
          </a:xfrm>
          <a:custGeom>
            <a:avLst/>
            <a:gdLst/>
            <a:ahLst/>
            <a:cxnLst/>
            <a:rect l="l" t="t" r="r" b="b"/>
            <a:pathLst>
              <a:path w="2304288" h="3017520">
                <a:moveTo>
                  <a:pt x="0" y="0"/>
                </a:moveTo>
                <a:lnTo>
                  <a:pt x="2304288" y="0"/>
                </a:lnTo>
                <a:lnTo>
                  <a:pt x="2304288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FFFFFF">
              <a:alpha val="72000"/>
            </a:srgbClr>
          </a:solidFill>
          <a:ln w="9144">
            <a:solidFill>
              <a:srgbClr val="D5DCE5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133856"/>
            <a:ext cx="2084832" cy="2798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7184" y="237744"/>
            <a:ext cx="1737360" cy="11168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5216" y="329184"/>
            <a:ext cx="2743200" cy="2011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NAVIGATION</a:t>
            </a:r>
            <a:endParaRPr lang="en-US" sz="1152" dirty="0"/>
          </a:p>
        </p:txBody>
      </p:sp>
      <p:sp>
        <p:nvSpPr>
          <p:cNvPr id="6" name="Text 2"/>
          <p:cNvSpPr/>
          <p:nvPr/>
        </p:nvSpPr>
        <p:spPr>
          <a:xfrm>
            <a:off x="585216" y="594360"/>
            <a:ext cx="3657600" cy="6583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585216" y="1252728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640080" y="1472184"/>
            <a:ext cx="438912" cy="384048"/>
          </a:xfrm>
          <a:custGeom>
            <a:avLst/>
            <a:gdLst/>
            <a:ahLst/>
            <a:cxnLst/>
            <a:rect l="l" t="t" r="r" b="b"/>
            <a:pathLst>
              <a:path w="438912" h="384048">
                <a:moveTo>
                  <a:pt x="0" y="0"/>
                </a:moveTo>
                <a:lnTo>
                  <a:pt x="438912" y="0"/>
                </a:lnTo>
                <a:lnTo>
                  <a:pt x="438912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1490472"/>
            <a:ext cx="438912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0" name="Text 6"/>
          <p:cNvSpPr/>
          <p:nvPr/>
        </p:nvSpPr>
        <p:spPr>
          <a:xfrm>
            <a:off x="1243584" y="1444752"/>
            <a:ext cx="300837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企业概览</a:t>
            </a:r>
            <a:endParaRPr lang="en-US" sz="1152" dirty="0"/>
          </a:p>
        </p:txBody>
      </p:sp>
      <p:sp>
        <p:nvSpPr>
          <p:cNvPr id="11" name="Shape 7"/>
          <p:cNvSpPr/>
          <p:nvPr/>
        </p:nvSpPr>
        <p:spPr>
          <a:xfrm>
            <a:off x="1243584" y="2139696"/>
            <a:ext cx="2990088" cy="0"/>
          </a:xfrm>
          <a:custGeom>
            <a:avLst/>
            <a:gdLst/>
            <a:ahLst/>
            <a:cxnLst/>
            <a:rect l="l" t="t" r="r" b="b"/>
            <a:pathLst>
              <a:path w="2990088" h="0">
                <a:moveTo>
                  <a:pt x="0" y="0"/>
                </a:moveTo>
                <a:lnTo>
                  <a:pt x="2990088" y="0"/>
                </a:lnTo>
              </a:path>
            </a:pathLst>
          </a:custGeom>
          <a:noFill/>
          <a:ln w="18288">
            <a:solidFill>
              <a:srgbClr val="F4F6F8"/>
            </a:solidFill>
            <a:prstDash val="solid"/>
            <a:headEnd type="none"/>
            <a:tailEnd type="none"/>
          </a:ln>
        </p:spPr>
      </p:sp>
      <p:sp>
        <p:nvSpPr>
          <p:cNvPr id="12" name="Shape 8"/>
          <p:cNvSpPr/>
          <p:nvPr/>
        </p:nvSpPr>
        <p:spPr>
          <a:xfrm>
            <a:off x="4892040" y="1472184"/>
            <a:ext cx="438912" cy="384048"/>
          </a:xfrm>
          <a:custGeom>
            <a:avLst/>
            <a:gdLst/>
            <a:ahLst/>
            <a:cxnLst/>
            <a:rect l="l" t="t" r="r" b="b"/>
            <a:pathLst>
              <a:path w="438912" h="384048">
                <a:moveTo>
                  <a:pt x="0" y="0"/>
                </a:moveTo>
                <a:lnTo>
                  <a:pt x="438912" y="0"/>
                </a:lnTo>
                <a:lnTo>
                  <a:pt x="438912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D5DCE5"/>
          </a:solidFill>
          <a:ln/>
        </p:spPr>
      </p:sp>
      <p:sp>
        <p:nvSpPr>
          <p:cNvPr id="13" name="Text 9"/>
          <p:cNvSpPr/>
          <p:nvPr/>
        </p:nvSpPr>
        <p:spPr>
          <a:xfrm>
            <a:off x="4892040" y="1490472"/>
            <a:ext cx="438912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5495544" y="1444752"/>
            <a:ext cx="300837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核心能力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5495544" y="2139696"/>
            <a:ext cx="2990088" cy="0"/>
          </a:xfrm>
          <a:custGeom>
            <a:avLst/>
            <a:gdLst/>
            <a:ahLst/>
            <a:cxnLst/>
            <a:rect l="l" t="t" r="r" b="b"/>
            <a:pathLst>
              <a:path w="2990088" h="0">
                <a:moveTo>
                  <a:pt x="0" y="0"/>
                </a:moveTo>
                <a:lnTo>
                  <a:pt x="2990088" y="0"/>
                </a:lnTo>
              </a:path>
            </a:pathLst>
          </a:custGeom>
          <a:noFill/>
          <a:ln w="18288">
            <a:solidFill>
              <a:srgbClr val="F4F6F8"/>
            </a:solidFill>
            <a:prstDash val="solid"/>
            <a:headEnd type="none"/>
            <a:tailEnd type="none"/>
          </a:ln>
        </p:spPr>
      </p:sp>
      <p:sp>
        <p:nvSpPr>
          <p:cNvPr id="16" name="Shape 12"/>
          <p:cNvSpPr/>
          <p:nvPr/>
        </p:nvSpPr>
        <p:spPr>
          <a:xfrm>
            <a:off x="640080" y="2496312"/>
            <a:ext cx="438912" cy="384048"/>
          </a:xfrm>
          <a:custGeom>
            <a:avLst/>
            <a:gdLst/>
            <a:ahLst/>
            <a:cxnLst/>
            <a:rect l="l" t="t" r="r" b="b"/>
            <a:pathLst>
              <a:path w="438912" h="384048">
                <a:moveTo>
                  <a:pt x="0" y="0"/>
                </a:moveTo>
                <a:lnTo>
                  <a:pt x="438912" y="0"/>
                </a:lnTo>
                <a:lnTo>
                  <a:pt x="438912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F0D3A9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2514600"/>
            <a:ext cx="438912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1243584" y="2468880"/>
            <a:ext cx="300837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产品方案</a:t>
            </a:r>
            <a:endParaRPr lang="en-US" sz="1152" dirty="0"/>
          </a:p>
        </p:txBody>
      </p:sp>
      <p:sp>
        <p:nvSpPr>
          <p:cNvPr id="19" name="Shape 15"/>
          <p:cNvSpPr/>
          <p:nvPr/>
        </p:nvSpPr>
        <p:spPr>
          <a:xfrm>
            <a:off x="1243584" y="3163824"/>
            <a:ext cx="2990088" cy="0"/>
          </a:xfrm>
          <a:custGeom>
            <a:avLst/>
            <a:gdLst/>
            <a:ahLst/>
            <a:cxnLst/>
            <a:rect l="l" t="t" r="r" b="b"/>
            <a:pathLst>
              <a:path w="2990088" h="0">
                <a:moveTo>
                  <a:pt x="0" y="0"/>
                </a:moveTo>
                <a:lnTo>
                  <a:pt x="2990088" y="0"/>
                </a:lnTo>
              </a:path>
            </a:pathLst>
          </a:custGeom>
          <a:noFill/>
          <a:ln w="18288">
            <a:solidFill>
              <a:srgbClr val="F4F6F8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4892040" y="2496312"/>
            <a:ext cx="438912" cy="384048"/>
          </a:xfrm>
          <a:custGeom>
            <a:avLst/>
            <a:gdLst/>
            <a:ahLst/>
            <a:cxnLst/>
            <a:rect l="l" t="t" r="r" b="b"/>
            <a:pathLst>
              <a:path w="438912" h="384048">
                <a:moveTo>
                  <a:pt x="0" y="0"/>
                </a:moveTo>
                <a:lnTo>
                  <a:pt x="438912" y="0"/>
                </a:lnTo>
                <a:lnTo>
                  <a:pt x="438912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21" name="Text 17"/>
          <p:cNvSpPr/>
          <p:nvPr/>
        </p:nvSpPr>
        <p:spPr>
          <a:xfrm>
            <a:off x="4892040" y="2514600"/>
            <a:ext cx="438912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2" name="Text 18"/>
          <p:cNvSpPr/>
          <p:nvPr/>
        </p:nvSpPr>
        <p:spPr>
          <a:xfrm>
            <a:off x="5495544" y="2468880"/>
            <a:ext cx="300837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客户价值</a:t>
            </a:r>
            <a:endParaRPr lang="en-US" sz="1152" dirty="0"/>
          </a:p>
        </p:txBody>
      </p:sp>
      <p:sp>
        <p:nvSpPr>
          <p:cNvPr id="23" name="Shape 19"/>
          <p:cNvSpPr/>
          <p:nvPr/>
        </p:nvSpPr>
        <p:spPr>
          <a:xfrm>
            <a:off x="5495544" y="3163824"/>
            <a:ext cx="2990088" cy="0"/>
          </a:xfrm>
          <a:custGeom>
            <a:avLst/>
            <a:gdLst/>
            <a:ahLst/>
            <a:cxnLst/>
            <a:rect l="l" t="t" r="r" b="b"/>
            <a:pathLst>
              <a:path w="2990088" h="0">
                <a:moveTo>
                  <a:pt x="0" y="0"/>
                </a:moveTo>
                <a:lnTo>
                  <a:pt x="2990088" y="0"/>
                </a:lnTo>
              </a:path>
            </a:pathLst>
          </a:custGeom>
          <a:noFill/>
          <a:ln w="18288">
            <a:solidFill>
              <a:srgbClr val="F4F6F8"/>
            </a:solidFill>
            <a:prstDash val="solid"/>
            <a:headEnd type="none"/>
            <a:tailEnd type="none"/>
          </a:ln>
        </p:spPr>
      </p:sp>
      <p:sp>
        <p:nvSpPr>
          <p:cNvPr id="24" name="Shape 20"/>
          <p:cNvSpPr/>
          <p:nvPr/>
        </p:nvSpPr>
        <p:spPr>
          <a:xfrm>
            <a:off x="640080" y="3520440"/>
            <a:ext cx="438912" cy="384048"/>
          </a:xfrm>
          <a:custGeom>
            <a:avLst/>
            <a:gdLst/>
            <a:ahLst/>
            <a:cxnLst/>
            <a:rect l="l" t="t" r="r" b="b"/>
            <a:pathLst>
              <a:path w="438912" h="384048">
                <a:moveTo>
                  <a:pt x="0" y="0"/>
                </a:moveTo>
                <a:lnTo>
                  <a:pt x="438912" y="0"/>
                </a:lnTo>
                <a:lnTo>
                  <a:pt x="438912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D5DCE5"/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" y="3538728"/>
            <a:ext cx="438912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6" name="Text 22"/>
          <p:cNvSpPr/>
          <p:nvPr/>
        </p:nvSpPr>
        <p:spPr>
          <a:xfrm>
            <a:off x="1243584" y="3493008"/>
            <a:ext cx="300837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27" name="Shape 23"/>
          <p:cNvSpPr/>
          <p:nvPr/>
        </p:nvSpPr>
        <p:spPr>
          <a:xfrm>
            <a:off x="1243584" y="4187952"/>
            <a:ext cx="2990088" cy="0"/>
          </a:xfrm>
          <a:custGeom>
            <a:avLst/>
            <a:gdLst/>
            <a:ahLst/>
            <a:cxnLst/>
            <a:rect l="l" t="t" r="r" b="b"/>
            <a:pathLst>
              <a:path w="2990088" h="0">
                <a:moveTo>
                  <a:pt x="0" y="0"/>
                </a:moveTo>
                <a:lnTo>
                  <a:pt x="2990088" y="0"/>
                </a:lnTo>
              </a:path>
            </a:pathLst>
          </a:custGeom>
          <a:noFill/>
          <a:ln w="18288">
            <a:solidFill>
              <a:srgbClr val="F4F6F8"/>
            </a:solidFill>
            <a:prstDash val="solid"/>
            <a:headEnd type="none"/>
            <a:tailEnd type="none"/>
          </a:ln>
        </p:spPr>
      </p:sp>
      <p:sp>
        <p:nvSpPr>
          <p:cNvPr id="28" name="Shape 24"/>
          <p:cNvSpPr/>
          <p:nvPr/>
        </p:nvSpPr>
        <p:spPr>
          <a:xfrm>
            <a:off x="4892040" y="3520440"/>
            <a:ext cx="438912" cy="384048"/>
          </a:xfrm>
          <a:custGeom>
            <a:avLst/>
            <a:gdLst/>
            <a:ahLst/>
            <a:cxnLst/>
            <a:rect l="l" t="t" r="r" b="b"/>
            <a:pathLst>
              <a:path w="438912" h="384048">
                <a:moveTo>
                  <a:pt x="0" y="0"/>
                </a:moveTo>
                <a:lnTo>
                  <a:pt x="438912" y="0"/>
                </a:lnTo>
                <a:lnTo>
                  <a:pt x="438912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F0D3A9"/>
          </a:solidFill>
          <a:ln/>
        </p:spPr>
      </p:sp>
      <p:sp>
        <p:nvSpPr>
          <p:cNvPr id="29" name="Text 25"/>
          <p:cNvSpPr/>
          <p:nvPr/>
        </p:nvSpPr>
        <p:spPr>
          <a:xfrm>
            <a:off x="4892040" y="3538728"/>
            <a:ext cx="438912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52" dirty="0"/>
          </a:p>
        </p:txBody>
      </p:sp>
      <p:sp>
        <p:nvSpPr>
          <p:cNvPr id="30" name="Text 26"/>
          <p:cNvSpPr/>
          <p:nvPr/>
        </p:nvSpPr>
        <p:spPr>
          <a:xfrm>
            <a:off x="5495544" y="3493008"/>
            <a:ext cx="300837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下一步行动</a:t>
            </a:r>
            <a:endParaRPr lang="en-US" sz="1152" dirty="0"/>
          </a:p>
        </p:txBody>
      </p:sp>
      <p:sp>
        <p:nvSpPr>
          <p:cNvPr id="31" name="Shape 27"/>
          <p:cNvSpPr/>
          <p:nvPr/>
        </p:nvSpPr>
        <p:spPr>
          <a:xfrm>
            <a:off x="5495544" y="4187952"/>
            <a:ext cx="2990088" cy="0"/>
          </a:xfrm>
          <a:custGeom>
            <a:avLst/>
            <a:gdLst/>
            <a:ahLst/>
            <a:cxnLst/>
            <a:rect l="l" t="t" r="r" b="b"/>
            <a:pathLst>
              <a:path w="2990088" h="0">
                <a:moveTo>
                  <a:pt x="0" y="0"/>
                </a:moveTo>
                <a:lnTo>
                  <a:pt x="2990088" y="0"/>
                </a:lnTo>
              </a:path>
            </a:pathLst>
          </a:custGeom>
          <a:noFill/>
          <a:ln w="18288">
            <a:solidFill>
              <a:srgbClr val="F4F6F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704" y="237744"/>
            <a:ext cx="2148840" cy="138139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3542647"/>
            <a:ext cx="2148840" cy="1381397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615837"/>
            <a:ext cx="3931920" cy="2527663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237744"/>
            <a:ext cx="2148840" cy="1381397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658368" y="1298448"/>
            <a:ext cx="2240280" cy="1234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5472" b="1" dirty="0">
                <a:solidFill>
                  <a:srgbClr val="313A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9" name="Text 2"/>
          <p:cNvSpPr/>
          <p:nvPr/>
        </p:nvSpPr>
        <p:spPr>
          <a:xfrm>
            <a:off x="3054096" y="1600200"/>
            <a:ext cx="5212080" cy="10789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核心能力</a:t>
            </a:r>
            <a:endParaRPr lang="en-US" sz="1152" dirty="0"/>
          </a:p>
        </p:txBody>
      </p:sp>
      <p:sp>
        <p:nvSpPr>
          <p:cNvPr id="10" name="Text 3"/>
          <p:cNvSpPr/>
          <p:nvPr/>
        </p:nvSpPr>
        <p:spPr>
          <a:xfrm>
            <a:off x="3108960" y="2834640"/>
            <a:ext cx="4846320" cy="13258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把复杂信息组织成能够被理解、被信任、被行动的表达。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7184" y="237744"/>
            <a:ext cx="1737360" cy="111687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一个结论形成共同认知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D5DCE5"/>
            </a:solidFill>
            <a:prstDash val="solid"/>
            <a:headEnd type="none"/>
            <a:tailEnd type="non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87552" y="20574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571500" y="0"/>
                </a:moveTo>
                <a:cubicBezTo>
                  <a:pt x="886919" y="0"/>
                  <a:pt x="1143000" y="256081"/>
                  <a:pt x="1143000" y="571500"/>
                </a:cubicBezTo>
                <a:cubicBezTo>
                  <a:pt x="1143000" y="886919"/>
                  <a:pt x="886919" y="1143000"/>
                  <a:pt x="571500" y="1143000"/>
                </a:cubicBezTo>
                <a:cubicBezTo>
                  <a:pt x="256081" y="1143000"/>
                  <a:pt x="0" y="886919"/>
                  <a:pt x="0" y="571500"/>
                </a:cubicBezTo>
                <a:cubicBezTo>
                  <a:pt x="0" y="256081"/>
                  <a:pt x="256081" y="0"/>
                  <a:pt x="571500" y="0"/>
                </a:cubicBezTo>
                <a:close/>
              </a:path>
            </a:pathLst>
          </a:custGeom>
          <a:solidFill>
            <a:srgbClr val="F4F6F8"/>
          </a:solidFill>
          <a:ln w="18288">
            <a:solidFill>
              <a:srgbClr val="5C6E9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987552" y="2340864"/>
            <a:ext cx="11430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13A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8"/>
          <p:cNvSpPr/>
          <p:nvPr/>
        </p:nvSpPr>
        <p:spPr>
          <a:xfrm>
            <a:off x="2606040" y="1874520"/>
            <a:ext cx="5577840" cy="7863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1</a:t>
            </a:r>
            <a:endParaRPr lang="en-US" sz="1152" dirty="0"/>
          </a:p>
        </p:txBody>
      </p:sp>
      <p:sp>
        <p:nvSpPr>
          <p:cNvPr id="14" name="Shape 9"/>
          <p:cNvSpPr/>
          <p:nvPr/>
        </p:nvSpPr>
        <p:spPr>
          <a:xfrm>
            <a:off x="2606040" y="2633472"/>
            <a:ext cx="1645920" cy="0"/>
          </a:xfrm>
          <a:custGeom>
            <a:avLst/>
            <a:gdLst/>
            <a:ahLst/>
            <a:cxnLst/>
            <a:rect l="l" t="t" r="r" b="b"/>
            <a:pathLst>
              <a:path w="1645920" h="0">
                <a:moveTo>
                  <a:pt x="0" y="0"/>
                </a:moveTo>
                <a:lnTo>
                  <a:pt x="1645920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15" name="Text 10"/>
          <p:cNvSpPr/>
          <p:nvPr/>
        </p:nvSpPr>
        <p:spPr>
          <a:xfrm>
            <a:off x="2606040" y="2880360"/>
            <a:ext cx="5577840" cy="1508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项能力连接企业目标、真实证据与下一步行动。</a:t>
            </a:r>
            <a:endParaRPr lang="en-US" sz="1152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807170"/>
            <a:ext cx="1737360" cy="11168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615837"/>
            <a:ext cx="3931920" cy="252766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两项能力构成业务基础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D5DCE5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91056"/>
            <a:ext cx="3840480" cy="2743200"/>
          </a:xfrm>
          <a:custGeom>
            <a:avLst/>
            <a:gdLst/>
            <a:ahLst/>
            <a:cxnLst/>
            <a:rect l="l" t="t" r="r" b="b"/>
            <a:pathLst>
              <a:path w="3840480" h="2743200">
                <a:moveTo>
                  <a:pt x="0" y="0"/>
                </a:moveTo>
                <a:lnTo>
                  <a:pt x="3840480" y="0"/>
                </a:lnTo>
                <a:lnTo>
                  <a:pt x="384048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73736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75564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728216"/>
            <a:ext cx="2926080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1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560320"/>
            <a:ext cx="3401568" cy="1664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项能力连接企业目标、真实证据与下一步行动。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91056"/>
            <a:ext cx="3840480" cy="2743200"/>
          </a:xfrm>
          <a:custGeom>
            <a:avLst/>
            <a:gdLst/>
            <a:ahLst/>
            <a:cxnLst/>
            <a:rect l="l" t="t" r="r" b="b"/>
            <a:pathLst>
              <a:path w="3840480" h="2743200">
                <a:moveTo>
                  <a:pt x="0" y="0"/>
                </a:moveTo>
                <a:lnTo>
                  <a:pt x="3840480" y="0"/>
                </a:lnTo>
                <a:lnTo>
                  <a:pt x="384048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73736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D5DCE5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75564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728216"/>
            <a:ext cx="2926080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2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560320"/>
            <a:ext cx="3401568" cy="1664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项能力连接企业目标、真实证据与下一步行动。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7184" y="237744"/>
            <a:ext cx="1737360" cy="111687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三步推进企业方案落地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D5DCE5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384048" y="1572768"/>
            <a:ext cx="2688336" cy="2971800"/>
          </a:xfrm>
          <a:custGeom>
            <a:avLst/>
            <a:gdLst/>
            <a:ahLst/>
            <a:cxnLst/>
            <a:rect l="l" t="t" r="r" b="b"/>
            <a:pathLst>
              <a:path w="2688336" h="2971800">
                <a:moveTo>
                  <a:pt x="0" y="0"/>
                </a:moveTo>
                <a:lnTo>
                  <a:pt x="2688336" y="0"/>
                </a:lnTo>
                <a:lnTo>
                  <a:pt x="2688336" y="2971800"/>
                </a:lnTo>
                <a:lnTo>
                  <a:pt x="0" y="29718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1719072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" y="1737360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133856" y="1709928"/>
            <a:ext cx="177393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1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603504" y="2542032"/>
            <a:ext cx="2249424" cy="1892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项能力连接企业目标、真实证据与下一步行动。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3227832" y="1572768"/>
            <a:ext cx="2688336" cy="2971800"/>
          </a:xfrm>
          <a:custGeom>
            <a:avLst/>
            <a:gdLst/>
            <a:ahLst/>
            <a:cxnLst/>
            <a:rect l="l" t="t" r="r" b="b"/>
            <a:pathLst>
              <a:path w="2688336" h="2971800">
                <a:moveTo>
                  <a:pt x="0" y="0"/>
                </a:moveTo>
                <a:lnTo>
                  <a:pt x="2688336" y="0"/>
                </a:lnTo>
                <a:lnTo>
                  <a:pt x="2688336" y="2971800"/>
                </a:lnTo>
                <a:lnTo>
                  <a:pt x="0" y="29718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92424" y="1719072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D5DCE5"/>
          </a:solidFill>
          <a:ln/>
        </p:spPr>
      </p:sp>
      <p:sp>
        <p:nvSpPr>
          <p:cNvPr id="17" name="Text 13"/>
          <p:cNvSpPr/>
          <p:nvPr/>
        </p:nvSpPr>
        <p:spPr>
          <a:xfrm>
            <a:off x="3392424" y="1737360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3977640" y="1709928"/>
            <a:ext cx="177393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2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3447288" y="2542032"/>
            <a:ext cx="2249424" cy="1892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项能力连接企业目标、真实证据与下一步行动。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6071616" y="1572768"/>
            <a:ext cx="2688336" cy="2971800"/>
          </a:xfrm>
          <a:custGeom>
            <a:avLst/>
            <a:gdLst/>
            <a:ahLst/>
            <a:cxnLst/>
            <a:rect l="l" t="t" r="r" b="b"/>
            <a:pathLst>
              <a:path w="2688336" h="2971800">
                <a:moveTo>
                  <a:pt x="0" y="0"/>
                </a:moveTo>
                <a:lnTo>
                  <a:pt x="2688336" y="0"/>
                </a:lnTo>
                <a:lnTo>
                  <a:pt x="2688336" y="2971800"/>
                </a:lnTo>
                <a:lnTo>
                  <a:pt x="0" y="29718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36208" y="1719072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F0D3A9"/>
          </a:solidFill>
          <a:ln/>
        </p:spPr>
      </p:sp>
      <p:sp>
        <p:nvSpPr>
          <p:cNvPr id="22" name="Text 18"/>
          <p:cNvSpPr/>
          <p:nvPr/>
        </p:nvSpPr>
        <p:spPr>
          <a:xfrm>
            <a:off x="6236208" y="1737360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6821424" y="1709928"/>
            <a:ext cx="1773936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3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6291072" y="2542032"/>
            <a:ext cx="2249424" cy="1892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项能力连接企业目标、真实证据与下一步行动。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615837"/>
            <a:ext cx="3931920" cy="252766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四个维度保证交付质量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D5DCE5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1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项能力连接企业目标、真实证据与下一步行动。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D5DCE5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2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项能力连接企业目标、真实证据与下一步行动。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585216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F0D3A9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1335024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3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804672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项能力连接企业目标、真实证据与下一步行动。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4718304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82896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27" name="Text 23"/>
          <p:cNvSpPr/>
          <p:nvPr/>
        </p:nvSpPr>
        <p:spPr>
          <a:xfrm>
            <a:off x="4882896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4"/>
          <p:cNvSpPr/>
          <p:nvPr/>
        </p:nvSpPr>
        <p:spPr>
          <a:xfrm>
            <a:off x="5468112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4</a:t>
            </a:r>
            <a:endParaRPr lang="en-US" sz="1152" dirty="0"/>
          </a:p>
        </p:txBody>
      </p:sp>
      <p:sp>
        <p:nvSpPr>
          <p:cNvPr id="29" name="Text 25"/>
          <p:cNvSpPr/>
          <p:nvPr/>
        </p:nvSpPr>
        <p:spPr>
          <a:xfrm>
            <a:off x="4937760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项能力连接企业目标、真实证据与下一步行动。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615837"/>
            <a:ext cx="3931920" cy="2527663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7" name="Text 2"/>
          <p:cNvSpPr/>
          <p:nvPr/>
        </p:nvSpPr>
        <p:spPr>
          <a:xfrm>
            <a:off x="585216" y="310896"/>
            <a:ext cx="256032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8" name="Text 3"/>
          <p:cNvSpPr/>
          <p:nvPr/>
        </p:nvSpPr>
        <p:spPr>
          <a:xfrm>
            <a:off x="585216" y="585216"/>
            <a:ext cx="7406640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一张图说明关键业务场景</a:t>
            </a:r>
            <a:endParaRPr lang="en-US" sz="1152" dirty="0"/>
          </a:p>
        </p:txBody>
      </p:sp>
      <p:sp>
        <p:nvSpPr>
          <p:cNvPr id="9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D5DCE5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>
            <a:off x="640080" y="1554480"/>
            <a:ext cx="3840480" cy="3017520"/>
          </a:xfrm>
          <a:custGeom>
            <a:avLst/>
            <a:gdLst/>
            <a:ahLst/>
            <a:cxnLst/>
            <a:rect l="l" t="t" r="r" b="b"/>
            <a:pathLst>
              <a:path w="3840480" h="3017520">
                <a:moveTo>
                  <a:pt x="0" y="0"/>
                </a:moveTo>
                <a:lnTo>
                  <a:pt x="3840480" y="0"/>
                </a:lnTo>
                <a:lnTo>
                  <a:pt x="3840480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FFFFFF"/>
          </a:solidFill>
          <a:ln w="18288">
            <a:solidFill>
              <a:srgbClr val="F4F6F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4" y="1682496"/>
            <a:ext cx="4909312" cy="27614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37760" y="1645920"/>
            <a:ext cx="640080" cy="40262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4" name="Text 8"/>
          <p:cNvSpPr/>
          <p:nvPr/>
        </p:nvSpPr>
        <p:spPr>
          <a:xfrm>
            <a:off x="4937760" y="2057400"/>
            <a:ext cx="35661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1</a:t>
            </a:r>
            <a:endParaRPr lang="en-US" sz="1152" dirty="0"/>
          </a:p>
        </p:txBody>
      </p:sp>
      <p:sp>
        <p:nvSpPr>
          <p:cNvPr id="15" name="Shape 9"/>
          <p:cNvSpPr/>
          <p:nvPr/>
        </p:nvSpPr>
        <p:spPr>
          <a:xfrm>
            <a:off x="4937760" y="283464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27432">
            <a:solidFill>
              <a:srgbClr val="D5DCE5"/>
            </a:solidFill>
            <a:prstDash val="solid"/>
            <a:headEnd type="none"/>
            <a:tailEnd type="none"/>
          </a:ln>
        </p:spPr>
      </p:sp>
      <p:sp>
        <p:nvSpPr>
          <p:cNvPr id="16" name="Text 10"/>
          <p:cNvSpPr/>
          <p:nvPr/>
        </p:nvSpPr>
        <p:spPr>
          <a:xfrm>
            <a:off x="4937760" y="3063240"/>
            <a:ext cx="3566160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项能力连接企业目标、真实证据与下一步行动。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615837"/>
            <a:ext cx="3931920" cy="2527663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7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8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两组画面呈现当前与目标状态</a:t>
            </a:r>
            <a:endParaRPr lang="en-US" sz="1152" dirty="0"/>
          </a:p>
        </p:txBody>
      </p:sp>
      <p:sp>
        <p:nvSpPr>
          <p:cNvPr id="9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D5DCE5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>
            <a:off x="603504" y="1572768"/>
            <a:ext cx="1810512" cy="1572768"/>
          </a:xfrm>
          <a:custGeom>
            <a:avLst/>
            <a:gdLst/>
            <a:ahLst/>
            <a:cxnLst/>
            <a:rect l="l" t="t" r="r" b="b"/>
            <a:pathLst>
              <a:path w="1810512" h="1572768">
                <a:moveTo>
                  <a:pt x="0" y="0"/>
                </a:moveTo>
                <a:lnTo>
                  <a:pt x="1810512" y="0"/>
                </a:lnTo>
                <a:lnTo>
                  <a:pt x="1810512" y="1572768"/>
                </a:lnTo>
                <a:lnTo>
                  <a:pt x="0" y="1572768"/>
                </a:lnTo>
                <a:close/>
              </a:path>
            </a:pathLst>
          </a:custGeom>
          <a:solidFill>
            <a:srgbClr val="FFFFFF"/>
          </a:solidFill>
          <a:ln w="18288">
            <a:solidFill>
              <a:srgbClr val="F4F6F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17064" r="17064" t="0" b="0"/>
          <a:stretch/>
        </p:blipFill>
        <p:spPr>
          <a:xfrm>
            <a:off x="694944" y="1664208"/>
            <a:ext cx="1627632" cy="13898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96896" y="1609344"/>
            <a:ext cx="493776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4" name="Text 8"/>
          <p:cNvSpPr/>
          <p:nvPr/>
        </p:nvSpPr>
        <p:spPr>
          <a:xfrm>
            <a:off x="2596896" y="1993392"/>
            <a:ext cx="1874520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1</a:t>
            </a:r>
            <a:endParaRPr lang="en-US" sz="1152" dirty="0"/>
          </a:p>
        </p:txBody>
      </p:sp>
      <p:sp>
        <p:nvSpPr>
          <p:cNvPr id="15" name="Text 9"/>
          <p:cNvSpPr/>
          <p:nvPr/>
        </p:nvSpPr>
        <p:spPr>
          <a:xfrm>
            <a:off x="2596896" y="2670048"/>
            <a:ext cx="187452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项能力连接企业目标、真实证据与下一步行动。</a:t>
            </a:r>
            <a:endParaRPr lang="en-US" sz="1152" dirty="0"/>
          </a:p>
        </p:txBody>
      </p:sp>
      <p:sp>
        <p:nvSpPr>
          <p:cNvPr id="16" name="Shape 10"/>
          <p:cNvSpPr/>
          <p:nvPr/>
        </p:nvSpPr>
        <p:spPr>
          <a:xfrm>
            <a:off x="4828032" y="1572768"/>
            <a:ext cx="1810512" cy="1572768"/>
          </a:xfrm>
          <a:custGeom>
            <a:avLst/>
            <a:gdLst/>
            <a:ahLst/>
            <a:cxnLst/>
            <a:rect l="l" t="t" r="r" b="b"/>
            <a:pathLst>
              <a:path w="1810512" h="1572768">
                <a:moveTo>
                  <a:pt x="0" y="0"/>
                </a:moveTo>
                <a:lnTo>
                  <a:pt x="1810512" y="0"/>
                </a:lnTo>
                <a:lnTo>
                  <a:pt x="1810512" y="1572768"/>
                </a:lnTo>
                <a:lnTo>
                  <a:pt x="0" y="1572768"/>
                </a:lnTo>
                <a:close/>
              </a:path>
            </a:pathLst>
          </a:custGeom>
          <a:solidFill>
            <a:srgbClr val="FFFFFF"/>
          </a:solidFill>
          <a:ln w="18288">
            <a:solidFill>
              <a:srgbClr val="F4F6F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17064" r="17064" t="0" b="0"/>
          <a:stretch/>
        </p:blipFill>
        <p:spPr>
          <a:xfrm>
            <a:off x="4919472" y="1664208"/>
            <a:ext cx="1627632" cy="13898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21424" y="1609344"/>
            <a:ext cx="493776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2"/>
          <p:cNvSpPr/>
          <p:nvPr/>
        </p:nvSpPr>
        <p:spPr>
          <a:xfrm>
            <a:off x="6821424" y="1993392"/>
            <a:ext cx="1874520" cy="6035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2</a:t>
            </a:r>
            <a:endParaRPr lang="en-US" sz="1152" dirty="0"/>
          </a:p>
        </p:txBody>
      </p:sp>
      <p:sp>
        <p:nvSpPr>
          <p:cNvPr id="20" name="Text 13"/>
          <p:cNvSpPr/>
          <p:nvPr/>
        </p:nvSpPr>
        <p:spPr>
          <a:xfrm>
            <a:off x="6821424" y="2670048"/>
            <a:ext cx="187452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项能力连接企业目标、真实证据与下一步行动。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615837"/>
            <a:ext cx="3931920" cy="252766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八项任务自动拆页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D5DCE5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1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项能力连接企业目标、真实证据与下一步行动。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D5DCE5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2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项能力连接企业目标、真实证据与下一步行动。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585216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F0D3A9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1335024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3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804672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项能力连接企业目标、真实证据与下一步行动。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4718304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82896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27" name="Text 23"/>
          <p:cNvSpPr/>
          <p:nvPr/>
        </p:nvSpPr>
        <p:spPr>
          <a:xfrm>
            <a:off x="4882896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4"/>
          <p:cNvSpPr/>
          <p:nvPr/>
        </p:nvSpPr>
        <p:spPr>
          <a:xfrm>
            <a:off x="5468112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4</a:t>
            </a:r>
            <a:endParaRPr lang="en-US" sz="1152" dirty="0"/>
          </a:p>
        </p:txBody>
      </p:sp>
      <p:sp>
        <p:nvSpPr>
          <p:cNvPr id="29" name="Text 25"/>
          <p:cNvSpPr/>
          <p:nvPr/>
        </p:nvSpPr>
        <p:spPr>
          <a:xfrm>
            <a:off x="4937760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项能力连接企业目标、真实证据与下一步行动。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6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615837"/>
            <a:ext cx="3931920" cy="252766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20624" y="219456"/>
            <a:ext cx="7772400" cy="1243584"/>
          </a:xfrm>
          <a:custGeom>
            <a:avLst/>
            <a:gdLst/>
            <a:ahLst/>
            <a:cxnLst/>
            <a:rect l="l" t="t" r="r" b="b"/>
            <a:pathLst>
              <a:path w="7772400" h="1243584">
                <a:moveTo>
                  <a:pt x="0" y="0"/>
                </a:moveTo>
                <a:lnTo>
                  <a:pt x="7772400" y="0"/>
                </a:lnTo>
                <a:lnTo>
                  <a:pt x="7772400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F9FCFA">
              <a:alpha val="9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85216" y="310896"/>
            <a:ext cx="25603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· EVIDENCE · ACTION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85216" y="585216"/>
            <a:ext cx="74066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八项任务自动拆页（续）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85216" y="1335024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 h="0">
                <a:moveTo>
                  <a:pt x="0" y="0"/>
                </a:moveTo>
                <a:lnTo>
                  <a:pt x="1152144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737360" y="1335024"/>
            <a:ext cx="585216" cy="0"/>
          </a:xfrm>
          <a:custGeom>
            <a:avLst/>
            <a:gdLst/>
            <a:ahLst/>
            <a:cxnLst/>
            <a:rect l="l" t="t" r="r" b="b"/>
            <a:pathLst>
              <a:path w="585216" h="0">
                <a:moveTo>
                  <a:pt x="0" y="0"/>
                </a:moveTo>
                <a:lnTo>
                  <a:pt x="585216" y="0"/>
                </a:lnTo>
              </a:path>
            </a:pathLst>
          </a:custGeom>
          <a:noFill/>
          <a:ln w="36576">
            <a:solidFill>
              <a:srgbClr val="D5DCE5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85216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335024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5</a:t>
            </a:r>
            <a:endParaRPr lang="en-US" sz="1152" dirty="0"/>
          </a:p>
        </p:txBody>
      </p:sp>
      <p:sp>
        <p:nvSpPr>
          <p:cNvPr id="14" name="Text 10"/>
          <p:cNvSpPr/>
          <p:nvPr/>
        </p:nvSpPr>
        <p:spPr>
          <a:xfrm>
            <a:off x="804672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项能力连接企业目标、真实证据与下一步行动。</a:t>
            </a:r>
            <a:endParaRPr lang="en-US" sz="1152" dirty="0"/>
          </a:p>
        </p:txBody>
      </p:sp>
      <p:sp>
        <p:nvSpPr>
          <p:cNvPr id="15" name="Shape 11"/>
          <p:cNvSpPr/>
          <p:nvPr/>
        </p:nvSpPr>
        <p:spPr>
          <a:xfrm>
            <a:off x="4718304" y="1517904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664208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D5DCE5"/>
          </a:solidFill>
          <a:ln/>
        </p:spPr>
      </p:sp>
      <p:sp>
        <p:nvSpPr>
          <p:cNvPr id="17" name="Text 13"/>
          <p:cNvSpPr/>
          <p:nvPr/>
        </p:nvSpPr>
        <p:spPr>
          <a:xfrm>
            <a:off x="4882896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8" name="Text 14"/>
          <p:cNvSpPr/>
          <p:nvPr/>
        </p:nvSpPr>
        <p:spPr>
          <a:xfrm>
            <a:off x="5468112" y="1655064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6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4937760" y="2267712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项能力连接企业目标、真实证据与下一步行动。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585216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F0D3A9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9"/>
          <p:cNvSpPr/>
          <p:nvPr/>
        </p:nvSpPr>
        <p:spPr>
          <a:xfrm>
            <a:off x="1335024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7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804672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 项能力连接企业目标、真实证据与下一步行动。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4718304" y="3236976"/>
            <a:ext cx="3840480" cy="1554480"/>
          </a:xfrm>
          <a:custGeom>
            <a:avLst/>
            <a:gdLst/>
            <a:ahLst/>
            <a:cxnLst/>
            <a:rect l="l" t="t" r="r" b="b"/>
            <a:pathLst>
              <a:path w="3840480" h="1554480">
                <a:moveTo>
                  <a:pt x="0" y="0"/>
                </a:moveTo>
                <a:lnTo>
                  <a:pt x="3840480" y="0"/>
                </a:lnTo>
                <a:lnTo>
                  <a:pt x="384048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F4F6F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82896" y="3383280"/>
            <a:ext cx="457200" cy="384048"/>
          </a:xfrm>
          <a:custGeom>
            <a:avLst/>
            <a:gdLst/>
            <a:ahLst/>
            <a:cxnLst/>
            <a:rect l="l" t="t" r="r" b="b"/>
            <a:pathLst>
              <a:path w="457200" h="384048">
                <a:moveTo>
                  <a:pt x="0" y="0"/>
                </a:moveTo>
                <a:lnTo>
                  <a:pt x="457200" y="0"/>
                </a:lnTo>
                <a:lnTo>
                  <a:pt x="457200" y="384048"/>
                </a:lnTo>
                <a:lnTo>
                  <a:pt x="0" y="384048"/>
                </a:lnTo>
                <a:close/>
              </a:path>
            </a:pathLst>
          </a:custGeom>
          <a:solidFill>
            <a:srgbClr val="5C6E9A"/>
          </a:solidFill>
          <a:ln/>
        </p:spPr>
      </p:sp>
      <p:sp>
        <p:nvSpPr>
          <p:cNvPr id="27" name="Text 23"/>
          <p:cNvSpPr/>
          <p:nvPr/>
        </p:nvSpPr>
        <p:spPr>
          <a:xfrm>
            <a:off x="4882896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8" name="Text 24"/>
          <p:cNvSpPr/>
          <p:nvPr/>
        </p:nvSpPr>
        <p:spPr>
          <a:xfrm>
            <a:off x="5468112" y="3374136"/>
            <a:ext cx="29260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 8</a:t>
            </a:r>
            <a:endParaRPr lang="en-US" sz="1152" dirty="0"/>
          </a:p>
        </p:txBody>
      </p:sp>
      <p:sp>
        <p:nvSpPr>
          <p:cNvPr id="29" name="Text 25"/>
          <p:cNvSpPr/>
          <p:nvPr/>
        </p:nvSpPr>
        <p:spPr>
          <a:xfrm>
            <a:off x="4937760" y="3986784"/>
            <a:ext cx="3401568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 项能力连接企业目标、真实证据与下一步行动。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184" y="237744"/>
            <a:ext cx="1737360" cy="111687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97280" y="1207008"/>
            <a:ext cx="694944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5C6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· TRUST · NEXT STEP</a:t>
            </a:r>
            <a:endParaRPr lang="en-US" sz="1152" dirty="0"/>
          </a:p>
        </p:txBody>
      </p:sp>
      <p:sp>
        <p:nvSpPr>
          <p:cNvPr id="6" name="Text 1"/>
          <p:cNvSpPr/>
          <p:nvPr/>
        </p:nvSpPr>
        <p:spPr>
          <a:xfrm>
            <a:off x="1097280" y="1572768"/>
            <a:ext cx="6949440" cy="13716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888" b="1" dirty="0">
                <a:solidFill>
                  <a:srgbClr val="313A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让清晰表达推动下一步行动</a:t>
            </a:r>
            <a:endParaRPr lang="en-US" sz="1152" dirty="0"/>
          </a:p>
        </p:txBody>
      </p:sp>
      <p:sp>
        <p:nvSpPr>
          <p:cNvPr id="7" name="Shape 2"/>
          <p:cNvSpPr/>
          <p:nvPr/>
        </p:nvSpPr>
        <p:spPr>
          <a:xfrm>
            <a:off x="3474720" y="292608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600" y="0"/>
                </a:lnTo>
              </a:path>
            </a:pathLst>
          </a:custGeom>
          <a:noFill/>
          <a:ln w="36576">
            <a:solidFill>
              <a:srgbClr val="5C6E9A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4846320" y="2926080"/>
            <a:ext cx="822960" cy="0"/>
          </a:xfrm>
          <a:custGeom>
            <a:avLst/>
            <a:gdLst/>
            <a:ahLst/>
            <a:cxnLst/>
            <a:rect l="l" t="t" r="r" b="b"/>
            <a:pathLst>
              <a:path w="822960" h="0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36576">
            <a:solidFill>
              <a:srgbClr val="D5DCE5"/>
            </a:solidFill>
            <a:prstDash val="solid"/>
            <a:headEnd type="none"/>
            <a:tailEnd type="none"/>
          </a:ln>
        </p:spPr>
      </p:sp>
      <p:sp>
        <p:nvSpPr>
          <p:cNvPr id="9" name="Text 4"/>
          <p:cNvSpPr/>
          <p:nvPr/>
        </p:nvSpPr>
        <p:spPr>
          <a:xfrm>
            <a:off x="1463040" y="3163824"/>
            <a:ext cx="621792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68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感谢聆听，期待与您继续交流。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2026-08-28T05:15:34Z</dcterms:created>
  <dcterms:modified xsi:type="dcterms:W3CDTF">2026-08-28T05:15:34Z</dcterms:modified>
</cp:coreProperties>
</file>