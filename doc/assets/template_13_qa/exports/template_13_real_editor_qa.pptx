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237744"/>
            <a:ext cx="2468880" cy="1587137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58368" y="1051560"/>
            <a:ext cx="3108960" cy="4069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80" b="1" dirty="0">
                <a:solidFill>
                  <a:srgbClr val="F0D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BLUE · CORPORATE CLARITY</a:t>
            </a:r>
            <a:endParaRPr lang="en-US" sz="1152" dirty="0"/>
          </a:p>
        </p:txBody>
      </p:sp>
      <p:sp>
        <p:nvSpPr>
          <p:cNvPr id="6" name="Text 1"/>
          <p:cNvSpPr/>
          <p:nvPr/>
        </p:nvSpPr>
        <p:spPr>
          <a:xfrm>
            <a:off x="640080" y="1444752"/>
            <a:ext cx="5715000" cy="75209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95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智能制造企业数字化升级方案</a:t>
            </a:r>
            <a:endParaRPr lang="en-US" sz="1152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3336907"/>
            <a:ext cx="2468880" cy="1587137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676656" y="3090672"/>
            <a:ext cx="4754880" cy="7589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以数据驱动生产全流程优化，助力企业实现降本增效与敏捷智造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4F6F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7184" y="237744"/>
            <a:ext cx="1737360" cy="1116874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2615837"/>
            <a:ext cx="3931920" cy="2527663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85216" y="329184"/>
            <a:ext cx="2743200" cy="2011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b="1" dirty="0">
                <a:solidFill>
                  <a:srgbClr val="5C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NAVIGATION</a:t>
            </a:r>
            <a:endParaRPr lang="en-US" sz="1152" dirty="0"/>
          </a:p>
        </p:txBody>
      </p:sp>
      <p:sp>
        <p:nvSpPr>
          <p:cNvPr id="7" name="Text 2"/>
          <p:cNvSpPr/>
          <p:nvPr/>
        </p:nvSpPr>
        <p:spPr>
          <a:xfrm>
            <a:off x="585216" y="594360"/>
            <a:ext cx="3657600" cy="6583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024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8" name="Shape 3"/>
          <p:cNvSpPr/>
          <p:nvPr/>
        </p:nvSpPr>
        <p:spPr>
          <a:xfrm>
            <a:off x="585216" y="1252728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 h="0">
                <a:moveTo>
                  <a:pt x="0" y="0"/>
                </a:moveTo>
                <a:lnTo>
                  <a:pt x="1371600" y="0"/>
                </a:lnTo>
              </a:path>
            </a:pathLst>
          </a:custGeom>
          <a:noFill/>
          <a:ln w="36576">
            <a:solidFill>
              <a:srgbClr val="5C6E9A"/>
            </a:solidFill>
            <a:prstDash val="solid"/>
            <a:headEnd type="none"/>
            <a:tailEnd type="none"/>
          </a:ln>
        </p:spPr>
      </p:sp>
      <p:sp>
        <p:nvSpPr>
          <p:cNvPr id="9" name="Shape 4"/>
          <p:cNvSpPr/>
          <p:nvPr/>
        </p:nvSpPr>
        <p:spPr>
          <a:xfrm>
            <a:off x="1078992" y="1874520"/>
            <a:ext cx="512064" cy="512064"/>
          </a:xfrm>
          <a:custGeom>
            <a:avLst/>
            <a:gdLst/>
            <a:ahLst/>
            <a:cxnLst/>
            <a:rect l="l" t="t" r="r" b="b"/>
            <a:pathLst>
              <a:path w="512064" h="512064">
                <a:moveTo>
                  <a:pt x="256032" y="0"/>
                </a:moveTo>
                <a:cubicBezTo>
                  <a:pt x="397340" y="0"/>
                  <a:pt x="512064" y="114724"/>
                  <a:pt x="512064" y="256032"/>
                </a:cubicBezTo>
                <a:cubicBezTo>
                  <a:pt x="512064" y="397340"/>
                  <a:pt x="397340" y="512064"/>
                  <a:pt x="256032" y="512064"/>
                </a:cubicBezTo>
                <a:cubicBezTo>
                  <a:pt x="114724" y="512064"/>
                  <a:pt x="0" y="397340"/>
                  <a:pt x="0" y="256032"/>
                </a:cubicBezTo>
                <a:cubicBezTo>
                  <a:pt x="0" y="114724"/>
                  <a:pt x="114724" y="0"/>
                  <a:pt x="256032" y="0"/>
                </a:cubicBezTo>
                <a:close/>
              </a:path>
            </a:pathLst>
          </a:custGeom>
          <a:solidFill>
            <a:srgbClr val="F4F6F8"/>
          </a:solidFill>
          <a:ln w="18288">
            <a:solidFill>
              <a:srgbClr val="5C6E9A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1078992" y="1947672"/>
            <a:ext cx="512064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5C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1" name="Text 6"/>
          <p:cNvSpPr/>
          <p:nvPr/>
        </p:nvSpPr>
        <p:spPr>
          <a:xfrm>
            <a:off x="1773936" y="1911096"/>
            <a:ext cx="2596896" cy="8778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一、现状诊断与转型目标</a:t>
            </a:r>
            <a:endParaRPr lang="en-US" sz="1152" dirty="0"/>
          </a:p>
        </p:txBody>
      </p:sp>
      <p:sp>
        <p:nvSpPr>
          <p:cNvPr id="12" name="Shape 7"/>
          <p:cNvSpPr/>
          <p:nvPr/>
        </p:nvSpPr>
        <p:spPr>
          <a:xfrm>
            <a:off x="4773168" y="1874520"/>
            <a:ext cx="512064" cy="512064"/>
          </a:xfrm>
          <a:custGeom>
            <a:avLst/>
            <a:gdLst/>
            <a:ahLst/>
            <a:cxnLst/>
            <a:rect l="l" t="t" r="r" b="b"/>
            <a:pathLst>
              <a:path w="512064" h="512064">
                <a:moveTo>
                  <a:pt x="256032" y="0"/>
                </a:moveTo>
                <a:cubicBezTo>
                  <a:pt x="397340" y="0"/>
                  <a:pt x="512064" y="114724"/>
                  <a:pt x="512064" y="256032"/>
                </a:cubicBezTo>
                <a:cubicBezTo>
                  <a:pt x="512064" y="397340"/>
                  <a:pt x="397340" y="512064"/>
                  <a:pt x="256032" y="512064"/>
                </a:cubicBezTo>
                <a:cubicBezTo>
                  <a:pt x="114724" y="512064"/>
                  <a:pt x="0" y="397340"/>
                  <a:pt x="0" y="256032"/>
                </a:cubicBezTo>
                <a:cubicBezTo>
                  <a:pt x="0" y="114724"/>
                  <a:pt x="114724" y="0"/>
                  <a:pt x="256032" y="0"/>
                </a:cubicBezTo>
                <a:close/>
              </a:path>
            </a:pathLst>
          </a:custGeom>
          <a:solidFill>
            <a:srgbClr val="F4F6F8"/>
          </a:solidFill>
          <a:ln w="18288">
            <a:solidFill>
              <a:srgbClr val="D5DCE5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773168" y="1947672"/>
            <a:ext cx="512064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D5D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4" name="Text 9"/>
          <p:cNvSpPr/>
          <p:nvPr/>
        </p:nvSpPr>
        <p:spPr>
          <a:xfrm>
            <a:off x="5468112" y="1911096"/>
            <a:ext cx="2596896" cy="8778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二、核心能力与推进路径</a:t>
            </a:r>
            <a:endParaRPr lang="en-US" sz="115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749040" y="1554480"/>
            <a:ext cx="5029200" cy="2926080"/>
          </a:xfrm>
          <a:custGeom>
            <a:avLst/>
            <a:gdLst/>
            <a:ahLst/>
            <a:cxnLst/>
            <a:rect l="l" t="t" r="r" b="b"/>
            <a:pathLst>
              <a:path w="5029200" h="2926080">
                <a:moveTo>
                  <a:pt x="0" y="0"/>
                </a:moveTo>
                <a:lnTo>
                  <a:pt x="5029200" y="0"/>
                </a:lnTo>
                <a:lnTo>
                  <a:pt x="5029200" y="2926080"/>
                </a:lnTo>
                <a:lnTo>
                  <a:pt x="0" y="2926080"/>
                </a:lnTo>
                <a:close/>
              </a:path>
            </a:pathLst>
          </a:custGeom>
          <a:solidFill>
            <a:srgbClr val="F4F1EA">
              <a:alpha val="88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640080" y="1042416"/>
            <a:ext cx="1828800" cy="2194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5C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152" dirty="0"/>
          </a:p>
        </p:txBody>
      </p:sp>
      <p:sp>
        <p:nvSpPr>
          <p:cNvPr id="6" name="Text 2"/>
          <p:cNvSpPr/>
          <p:nvPr/>
        </p:nvSpPr>
        <p:spPr>
          <a:xfrm>
            <a:off x="603504" y="1280160"/>
            <a:ext cx="1645920" cy="10972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4752" b="1" dirty="0">
                <a:solidFill>
                  <a:srgbClr val="5C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3840480" y="1737360"/>
            <a:ext cx="4572000" cy="10972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808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一、现状诊断与转型目标</a:t>
            </a:r>
            <a:endParaRPr lang="en-US" sz="1152" dirty="0"/>
          </a:p>
        </p:txBody>
      </p:sp>
      <p:sp>
        <p:nvSpPr>
          <p:cNvPr id="8" name="Text 4"/>
          <p:cNvSpPr/>
          <p:nvPr/>
        </p:nvSpPr>
        <p:spPr>
          <a:xfrm>
            <a:off x="3877056" y="3035808"/>
            <a:ext cx="4206240" cy="11704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368" dirty="0">
                <a:solidFill>
                  <a:srgbClr val="6873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本章将梳理当前业务发展的真实状态。通过数据找出关键瓶颈，明确转型方向。帮助您快速定位问题，制定可行路径。</a:t>
            </a:r>
            <a:endParaRPr lang="en-US" sz="115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4F6F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2615837"/>
            <a:ext cx="3931920" cy="2527663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20624" y="219456"/>
            <a:ext cx="7772400" cy="1243584"/>
          </a:xfrm>
          <a:custGeom>
            <a:avLst/>
            <a:gdLst/>
            <a:ahLst/>
            <a:cxnLst/>
            <a:rect l="l" t="t" r="r" b="b"/>
            <a:pathLst>
              <a:path w="7772400" h="1243584">
                <a:moveTo>
                  <a:pt x="0" y="0"/>
                </a:moveTo>
                <a:lnTo>
                  <a:pt x="7772400" y="0"/>
                </a:lnTo>
                <a:lnTo>
                  <a:pt x="7772400" y="1243584"/>
                </a:lnTo>
                <a:lnTo>
                  <a:pt x="0" y="1243584"/>
                </a:lnTo>
                <a:close/>
              </a:path>
            </a:pathLst>
          </a:custGeom>
          <a:solidFill>
            <a:srgbClr val="F9FCFA">
              <a:alpha val="90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585216" y="310896"/>
            <a:ext cx="2560320" cy="2194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b="1" dirty="0">
                <a:solidFill>
                  <a:srgbClr val="5C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· EVIDENCE · ACTION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85216" y="585216"/>
            <a:ext cx="7406640" cy="8595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多系统割裂导致数据不一致</a:t>
            </a:r>
            <a:endParaRPr lang="en-US" sz="1152" dirty="0"/>
          </a:p>
        </p:txBody>
      </p:sp>
      <p:sp>
        <p:nvSpPr>
          <p:cNvPr id="8" name="Shape 4"/>
          <p:cNvSpPr/>
          <p:nvPr/>
        </p:nvSpPr>
        <p:spPr>
          <a:xfrm>
            <a:off x="585216" y="1335024"/>
            <a:ext cx="1152144" cy="0"/>
          </a:xfrm>
          <a:custGeom>
            <a:avLst/>
            <a:gdLst/>
            <a:ahLst/>
            <a:cxnLst/>
            <a:rect l="l" t="t" r="r" b="b"/>
            <a:pathLst>
              <a:path w="1152144" h="0">
                <a:moveTo>
                  <a:pt x="0" y="0"/>
                </a:moveTo>
                <a:lnTo>
                  <a:pt x="1152144" y="0"/>
                </a:lnTo>
              </a:path>
            </a:pathLst>
          </a:custGeom>
          <a:noFill/>
          <a:ln w="36576">
            <a:solidFill>
              <a:srgbClr val="5C6E9A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>
            <a:off x="1737360" y="1335024"/>
            <a:ext cx="585216" cy="0"/>
          </a:xfrm>
          <a:custGeom>
            <a:avLst/>
            <a:gdLst/>
            <a:ahLst/>
            <a:cxnLst/>
            <a:rect l="l" t="t" r="r" b="b"/>
            <a:pathLst>
              <a:path w="585216" h="0">
                <a:moveTo>
                  <a:pt x="0" y="0"/>
                </a:moveTo>
                <a:lnTo>
                  <a:pt x="585216" y="0"/>
                </a:lnTo>
              </a:path>
            </a:pathLst>
          </a:custGeom>
          <a:noFill/>
          <a:ln w="36576">
            <a:solidFill>
              <a:srgbClr val="D5DCE5"/>
            </a:solidFill>
            <a:prstDash val="solid"/>
            <a:headEnd type="none"/>
            <a:tailEnd type="none"/>
          </a:ln>
        </p:spPr>
      </p:sp>
      <p:sp>
        <p:nvSpPr>
          <p:cNvPr id="10" name="Shape 6"/>
          <p:cNvSpPr/>
          <p:nvPr/>
        </p:nvSpPr>
        <p:spPr>
          <a:xfrm>
            <a:off x="585216" y="1517904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6F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664208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5C6E9A"/>
          </a:solidFill>
          <a:ln/>
        </p:spPr>
      </p:sp>
      <p:sp>
        <p:nvSpPr>
          <p:cNvPr id="12" name="Text 8"/>
          <p:cNvSpPr/>
          <p:nvPr/>
        </p:nvSpPr>
        <p:spPr>
          <a:xfrm>
            <a:off x="749808" y="1682496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3" name="Text 9"/>
          <p:cNvSpPr/>
          <p:nvPr/>
        </p:nvSpPr>
        <p:spPr>
          <a:xfrm>
            <a:off x="1335024" y="1655064"/>
            <a:ext cx="292608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什么是多系统割裂</a:t>
            </a:r>
            <a:endParaRPr lang="en-US" sz="1152" dirty="0"/>
          </a:p>
        </p:txBody>
      </p:sp>
      <p:sp>
        <p:nvSpPr>
          <p:cNvPr id="14" name="Text 10"/>
          <p:cNvSpPr/>
          <p:nvPr/>
        </p:nvSpPr>
        <p:spPr>
          <a:xfrm>
            <a:off x="804672" y="2267712"/>
            <a:ext cx="3401568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dirty="0">
                <a:solidFill>
                  <a:srgbClr val="6873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企业多个业务系统独立运行，各自维护一套数据，缺乏统一的数据标准与同步机制，形成数据孤岛与信息碎片化。</a:t>
            </a:r>
            <a:endParaRPr lang="en-US" sz="1152" dirty="0"/>
          </a:p>
        </p:txBody>
      </p:sp>
      <p:sp>
        <p:nvSpPr>
          <p:cNvPr id="15" name="Shape 11"/>
          <p:cNvSpPr/>
          <p:nvPr/>
        </p:nvSpPr>
        <p:spPr>
          <a:xfrm>
            <a:off x="4718304" y="1517904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6F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882896" y="1664208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D5DCE5"/>
          </a:solidFill>
          <a:ln/>
        </p:spPr>
      </p:sp>
      <p:sp>
        <p:nvSpPr>
          <p:cNvPr id="17" name="Text 13"/>
          <p:cNvSpPr/>
          <p:nvPr/>
        </p:nvSpPr>
        <p:spPr>
          <a:xfrm>
            <a:off x="4882896" y="1682496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8" name="Text 14"/>
          <p:cNvSpPr/>
          <p:nvPr/>
        </p:nvSpPr>
        <p:spPr>
          <a:xfrm>
            <a:off x="5468112" y="1655064"/>
            <a:ext cx="292608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为何重要</a:t>
            </a:r>
            <a:endParaRPr lang="en-US" sz="1152" dirty="0"/>
          </a:p>
        </p:txBody>
      </p:sp>
      <p:sp>
        <p:nvSpPr>
          <p:cNvPr id="19" name="Text 15"/>
          <p:cNvSpPr/>
          <p:nvPr/>
        </p:nvSpPr>
        <p:spPr>
          <a:xfrm>
            <a:off x="4937760" y="2267712"/>
            <a:ext cx="3401568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dirty="0">
                <a:solidFill>
                  <a:srgbClr val="6873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数据不一致导致决策依据失真、跨部门协作效率下降，长期将侵蚀企业对数据资产的信任与合规风控能力。</a:t>
            </a:r>
            <a:endParaRPr lang="en-US" sz="1152" dirty="0"/>
          </a:p>
        </p:txBody>
      </p:sp>
      <p:sp>
        <p:nvSpPr>
          <p:cNvPr id="20" name="Shape 16"/>
          <p:cNvSpPr/>
          <p:nvPr/>
        </p:nvSpPr>
        <p:spPr>
          <a:xfrm>
            <a:off x="585216" y="3236976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6F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49808" y="3383280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F0D3A9"/>
          </a:solidFill>
          <a:ln/>
        </p:spPr>
      </p:sp>
      <p:sp>
        <p:nvSpPr>
          <p:cNvPr id="22" name="Text 18"/>
          <p:cNvSpPr/>
          <p:nvPr/>
        </p:nvSpPr>
        <p:spPr>
          <a:xfrm>
            <a:off x="749808" y="3401568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23" name="Text 19"/>
          <p:cNvSpPr/>
          <p:nvPr/>
        </p:nvSpPr>
        <p:spPr>
          <a:xfrm>
            <a:off x="1335024" y="3374136"/>
            <a:ext cx="292608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如何落地</a:t>
            </a:r>
            <a:endParaRPr lang="en-US" sz="1152" dirty="0"/>
          </a:p>
        </p:txBody>
      </p:sp>
      <p:sp>
        <p:nvSpPr>
          <p:cNvPr id="24" name="Text 20"/>
          <p:cNvSpPr/>
          <p:nvPr/>
        </p:nvSpPr>
        <p:spPr>
          <a:xfrm>
            <a:off x="804672" y="3986784"/>
            <a:ext cx="3401568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dirty="0">
                <a:solidFill>
                  <a:srgbClr val="6873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通过统一数据治理平台、主数据管理与实时同步机制，消除系统间数据差异，建立全局一致的单源数据视图。</a:t>
            </a:r>
            <a:endParaRPr lang="en-US" sz="1152" dirty="0"/>
          </a:p>
        </p:txBody>
      </p:sp>
      <p:sp>
        <p:nvSpPr>
          <p:cNvPr id="25" name="Shape 21"/>
          <p:cNvSpPr/>
          <p:nvPr/>
        </p:nvSpPr>
        <p:spPr>
          <a:xfrm>
            <a:off x="4718304" y="3236976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6F8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882896" y="3383280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5C6E9A"/>
          </a:solidFill>
          <a:ln/>
        </p:spPr>
      </p:sp>
      <p:sp>
        <p:nvSpPr>
          <p:cNvPr id="27" name="Text 23"/>
          <p:cNvSpPr/>
          <p:nvPr/>
        </p:nvSpPr>
        <p:spPr>
          <a:xfrm>
            <a:off x="4882896" y="3401568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28" name="Text 24"/>
          <p:cNvSpPr/>
          <p:nvPr/>
        </p:nvSpPr>
        <p:spPr>
          <a:xfrm>
            <a:off x="5468112" y="3374136"/>
            <a:ext cx="292608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未检索到可引用的数据，故不新增图表。</a:t>
            </a:r>
            <a:endParaRPr lang="en-US" sz="1152" dirty="0"/>
          </a:p>
        </p:txBody>
      </p:sp>
      <p:sp>
        <p:nvSpPr>
          <p:cNvPr id="29" name="Text 25"/>
          <p:cNvSpPr/>
          <p:nvPr/>
        </p:nvSpPr>
        <p:spPr>
          <a:xfrm>
            <a:off x="4937760" y="3986784"/>
            <a:ext cx="3401568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873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未检索到可引用的数据，故不新增图表。</a:t>
            </a:r>
            <a:endParaRPr lang="en-US" sz="115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4F6F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2615837"/>
            <a:ext cx="3931920" cy="2527663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20624" y="219456"/>
            <a:ext cx="7772400" cy="1243584"/>
          </a:xfrm>
          <a:custGeom>
            <a:avLst/>
            <a:gdLst/>
            <a:ahLst/>
            <a:cxnLst/>
            <a:rect l="l" t="t" r="r" b="b"/>
            <a:pathLst>
              <a:path w="7772400" h="1243584">
                <a:moveTo>
                  <a:pt x="0" y="0"/>
                </a:moveTo>
                <a:lnTo>
                  <a:pt x="7772400" y="0"/>
                </a:lnTo>
                <a:lnTo>
                  <a:pt x="7772400" y="1243584"/>
                </a:lnTo>
                <a:lnTo>
                  <a:pt x="0" y="1243584"/>
                </a:lnTo>
                <a:close/>
              </a:path>
            </a:pathLst>
          </a:custGeom>
          <a:solidFill>
            <a:srgbClr val="F9FCFA">
              <a:alpha val="90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585216" y="310896"/>
            <a:ext cx="2560320" cy="2194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b="1" dirty="0">
                <a:solidFill>
                  <a:srgbClr val="5C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· EVIDENCE · ACTION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85216" y="585216"/>
            <a:ext cx="7406640" cy="8595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关键指标缺少实时反馈</a:t>
            </a:r>
            <a:endParaRPr lang="en-US" sz="1152" dirty="0"/>
          </a:p>
        </p:txBody>
      </p:sp>
      <p:sp>
        <p:nvSpPr>
          <p:cNvPr id="8" name="Shape 4"/>
          <p:cNvSpPr/>
          <p:nvPr/>
        </p:nvSpPr>
        <p:spPr>
          <a:xfrm>
            <a:off x="585216" y="1335024"/>
            <a:ext cx="1152144" cy="0"/>
          </a:xfrm>
          <a:custGeom>
            <a:avLst/>
            <a:gdLst/>
            <a:ahLst/>
            <a:cxnLst/>
            <a:rect l="l" t="t" r="r" b="b"/>
            <a:pathLst>
              <a:path w="1152144" h="0">
                <a:moveTo>
                  <a:pt x="0" y="0"/>
                </a:moveTo>
                <a:lnTo>
                  <a:pt x="1152144" y="0"/>
                </a:lnTo>
              </a:path>
            </a:pathLst>
          </a:custGeom>
          <a:noFill/>
          <a:ln w="36576">
            <a:solidFill>
              <a:srgbClr val="5C6E9A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>
            <a:off x="1737360" y="1335024"/>
            <a:ext cx="585216" cy="0"/>
          </a:xfrm>
          <a:custGeom>
            <a:avLst/>
            <a:gdLst/>
            <a:ahLst/>
            <a:cxnLst/>
            <a:rect l="l" t="t" r="r" b="b"/>
            <a:pathLst>
              <a:path w="585216" h="0">
                <a:moveTo>
                  <a:pt x="0" y="0"/>
                </a:moveTo>
                <a:lnTo>
                  <a:pt x="585216" y="0"/>
                </a:lnTo>
              </a:path>
            </a:pathLst>
          </a:custGeom>
          <a:noFill/>
          <a:ln w="36576">
            <a:solidFill>
              <a:srgbClr val="D5DCE5"/>
            </a:solidFill>
            <a:prstDash val="solid"/>
            <a:headEnd type="none"/>
            <a:tailEnd type="none"/>
          </a:ln>
        </p:spPr>
      </p:sp>
      <p:sp>
        <p:nvSpPr>
          <p:cNvPr id="10" name="Shape 6"/>
          <p:cNvSpPr/>
          <p:nvPr/>
        </p:nvSpPr>
        <p:spPr>
          <a:xfrm>
            <a:off x="585216" y="1517904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6F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664208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5C6E9A"/>
          </a:solidFill>
          <a:ln/>
        </p:spPr>
      </p:sp>
      <p:sp>
        <p:nvSpPr>
          <p:cNvPr id="12" name="Text 8"/>
          <p:cNvSpPr/>
          <p:nvPr/>
        </p:nvSpPr>
        <p:spPr>
          <a:xfrm>
            <a:off x="749808" y="1682496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3" name="Text 9"/>
          <p:cNvSpPr/>
          <p:nvPr/>
        </p:nvSpPr>
        <p:spPr>
          <a:xfrm>
            <a:off x="1335024" y="1655064"/>
            <a:ext cx="292608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现状痛点</a:t>
            </a:r>
            <a:endParaRPr lang="en-US" sz="1152" dirty="0"/>
          </a:p>
        </p:txBody>
      </p:sp>
      <p:sp>
        <p:nvSpPr>
          <p:cNvPr id="14" name="Text 10"/>
          <p:cNvSpPr/>
          <p:nvPr/>
        </p:nvSpPr>
        <p:spPr>
          <a:xfrm>
            <a:off x="804672" y="2267712"/>
            <a:ext cx="3401568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6873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核心经营指标依赖人工汇总与周期报表，数据滞后，管理层难以及时掌握业务动态，决策依据不充分。</a:t>
            </a:r>
            <a:endParaRPr lang="en-US" sz="1152" dirty="0"/>
          </a:p>
        </p:txBody>
      </p:sp>
      <p:sp>
        <p:nvSpPr>
          <p:cNvPr id="15" name="Shape 11"/>
          <p:cNvSpPr/>
          <p:nvPr/>
        </p:nvSpPr>
        <p:spPr>
          <a:xfrm>
            <a:off x="4718304" y="1517904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6F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882896" y="1664208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D5DCE5"/>
          </a:solidFill>
          <a:ln/>
        </p:spPr>
      </p:sp>
      <p:sp>
        <p:nvSpPr>
          <p:cNvPr id="17" name="Text 13"/>
          <p:cNvSpPr/>
          <p:nvPr/>
        </p:nvSpPr>
        <p:spPr>
          <a:xfrm>
            <a:off x="4882896" y="1682496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8" name="Text 14"/>
          <p:cNvSpPr/>
          <p:nvPr/>
        </p:nvSpPr>
        <p:spPr>
          <a:xfrm>
            <a:off x="5468112" y="1655064"/>
            <a:ext cx="292608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影响分析</a:t>
            </a:r>
            <a:endParaRPr lang="en-US" sz="1152" dirty="0"/>
          </a:p>
        </p:txBody>
      </p:sp>
      <p:sp>
        <p:nvSpPr>
          <p:cNvPr id="19" name="Text 15"/>
          <p:cNvSpPr/>
          <p:nvPr/>
        </p:nvSpPr>
        <p:spPr>
          <a:xfrm>
            <a:off x="4937760" y="2267712"/>
            <a:ext cx="3401568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80" dirty="0">
                <a:solidFill>
                  <a:srgbClr val="6873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反馈延迟拉长风险暴露窗口，错失市场响应先机，降低跨部门协作敏捷性与目标对齐精度。</a:t>
            </a:r>
            <a:endParaRPr lang="en-US" sz="1152" dirty="0"/>
          </a:p>
        </p:txBody>
      </p:sp>
      <p:sp>
        <p:nvSpPr>
          <p:cNvPr id="20" name="Shape 16"/>
          <p:cNvSpPr/>
          <p:nvPr/>
        </p:nvSpPr>
        <p:spPr>
          <a:xfrm>
            <a:off x="585216" y="3236976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6F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49808" y="3383280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F0D3A9"/>
          </a:solidFill>
          <a:ln/>
        </p:spPr>
      </p:sp>
      <p:sp>
        <p:nvSpPr>
          <p:cNvPr id="22" name="Text 18"/>
          <p:cNvSpPr/>
          <p:nvPr/>
        </p:nvSpPr>
        <p:spPr>
          <a:xfrm>
            <a:off x="749808" y="3401568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23" name="Text 19"/>
          <p:cNvSpPr/>
          <p:nvPr/>
        </p:nvSpPr>
        <p:spPr>
          <a:xfrm>
            <a:off x="1335024" y="3374136"/>
            <a:ext cx="292608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改进方向</a:t>
            </a:r>
            <a:endParaRPr lang="en-US" sz="1152" dirty="0"/>
          </a:p>
        </p:txBody>
      </p:sp>
      <p:sp>
        <p:nvSpPr>
          <p:cNvPr id="24" name="Text 20"/>
          <p:cNvSpPr/>
          <p:nvPr/>
        </p:nvSpPr>
        <p:spPr>
          <a:xfrm>
            <a:off x="804672" y="3986784"/>
            <a:ext cx="3401568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6873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搭建实时数据管道与可视化看板，建立指标预警机制，使关键数据触手可及，支撑快速迭代决策。</a:t>
            </a:r>
            <a:endParaRPr lang="en-US" sz="1152" dirty="0"/>
          </a:p>
        </p:txBody>
      </p:sp>
      <p:sp>
        <p:nvSpPr>
          <p:cNvPr id="25" name="Shape 21"/>
          <p:cNvSpPr/>
          <p:nvPr/>
        </p:nvSpPr>
        <p:spPr>
          <a:xfrm>
            <a:off x="4718304" y="3236976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6F8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882896" y="3383280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5C6E9A"/>
          </a:solidFill>
          <a:ln/>
        </p:spPr>
      </p:sp>
      <p:sp>
        <p:nvSpPr>
          <p:cNvPr id="27" name="Text 23"/>
          <p:cNvSpPr/>
          <p:nvPr/>
        </p:nvSpPr>
        <p:spPr>
          <a:xfrm>
            <a:off x="4882896" y="3401568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28" name="Text 24"/>
          <p:cNvSpPr/>
          <p:nvPr/>
        </p:nvSpPr>
        <p:spPr>
          <a:xfrm>
            <a:off x="5468112" y="3374136"/>
            <a:ext cx="292608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数据说明</a:t>
            </a:r>
            <a:endParaRPr lang="en-US" sz="1152" dirty="0"/>
          </a:p>
        </p:txBody>
      </p:sp>
      <p:sp>
        <p:nvSpPr>
          <p:cNvPr id="29" name="Text 25"/>
          <p:cNvSpPr/>
          <p:nvPr/>
        </p:nvSpPr>
        <p:spPr>
          <a:xfrm>
            <a:off x="4937760" y="3986784"/>
            <a:ext cx="3401568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873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未检索到可引用的数据，故不新增图表。</a:t>
            </a:r>
            <a:endParaRPr lang="en-US" sz="115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4F6F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5704" y="237744"/>
            <a:ext cx="2148840" cy="1381397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3542647"/>
            <a:ext cx="2148840" cy="1381397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2615837"/>
            <a:ext cx="3931920" cy="2527663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5704" y="237744"/>
            <a:ext cx="2148840" cy="1381397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658368" y="1298448"/>
            <a:ext cx="2240280" cy="12344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5472" b="1" dirty="0">
                <a:solidFill>
                  <a:srgbClr val="313A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9" name="Text 2"/>
          <p:cNvSpPr/>
          <p:nvPr/>
        </p:nvSpPr>
        <p:spPr>
          <a:xfrm>
            <a:off x="3054096" y="1600200"/>
            <a:ext cx="5212080" cy="10789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024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二、核心能力与推进路径</a:t>
            </a:r>
            <a:endParaRPr lang="en-US" sz="1152" dirty="0"/>
          </a:p>
        </p:txBody>
      </p:sp>
      <p:sp>
        <p:nvSpPr>
          <p:cNvPr id="10" name="Text 3"/>
          <p:cNvSpPr/>
          <p:nvPr/>
        </p:nvSpPr>
        <p:spPr>
          <a:xfrm>
            <a:off x="3108960" y="2834640"/>
            <a:ext cx="4846320" cy="13258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6873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本章聚焦核心能力构建，明确关键推进路径。回答能力如何落地、路径如何选择等实际问题。助读者系统掌握从规划到执行的方法要点。</a:t>
            </a:r>
            <a:endParaRPr lang="en-US" sz="115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4F6F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2615837"/>
            <a:ext cx="3931920" cy="2527663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20624" y="219456"/>
            <a:ext cx="7772400" cy="1243584"/>
          </a:xfrm>
          <a:custGeom>
            <a:avLst/>
            <a:gdLst/>
            <a:ahLst/>
            <a:cxnLst/>
            <a:rect l="l" t="t" r="r" b="b"/>
            <a:pathLst>
              <a:path w="7772400" h="1243584">
                <a:moveTo>
                  <a:pt x="0" y="0"/>
                </a:moveTo>
                <a:lnTo>
                  <a:pt x="7772400" y="0"/>
                </a:lnTo>
                <a:lnTo>
                  <a:pt x="7772400" y="1243584"/>
                </a:lnTo>
                <a:lnTo>
                  <a:pt x="0" y="1243584"/>
                </a:lnTo>
                <a:close/>
              </a:path>
            </a:pathLst>
          </a:custGeom>
          <a:solidFill>
            <a:srgbClr val="F9FCFA">
              <a:alpha val="90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585216" y="310896"/>
            <a:ext cx="2560320" cy="2194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b="1" dirty="0">
                <a:solidFill>
                  <a:srgbClr val="5C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· EVIDENCE · ACTION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85216" y="585216"/>
            <a:ext cx="7406640" cy="8595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建设工业互联网平台底座</a:t>
            </a:r>
            <a:endParaRPr lang="en-US" sz="1152" dirty="0"/>
          </a:p>
        </p:txBody>
      </p:sp>
      <p:sp>
        <p:nvSpPr>
          <p:cNvPr id="8" name="Shape 4"/>
          <p:cNvSpPr/>
          <p:nvPr/>
        </p:nvSpPr>
        <p:spPr>
          <a:xfrm>
            <a:off x="585216" y="1335024"/>
            <a:ext cx="1152144" cy="0"/>
          </a:xfrm>
          <a:custGeom>
            <a:avLst/>
            <a:gdLst/>
            <a:ahLst/>
            <a:cxnLst/>
            <a:rect l="l" t="t" r="r" b="b"/>
            <a:pathLst>
              <a:path w="1152144" h="0">
                <a:moveTo>
                  <a:pt x="0" y="0"/>
                </a:moveTo>
                <a:lnTo>
                  <a:pt x="1152144" y="0"/>
                </a:lnTo>
              </a:path>
            </a:pathLst>
          </a:custGeom>
          <a:noFill/>
          <a:ln w="36576">
            <a:solidFill>
              <a:srgbClr val="5C6E9A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>
            <a:off x="1737360" y="1335024"/>
            <a:ext cx="585216" cy="0"/>
          </a:xfrm>
          <a:custGeom>
            <a:avLst/>
            <a:gdLst/>
            <a:ahLst/>
            <a:cxnLst/>
            <a:rect l="l" t="t" r="r" b="b"/>
            <a:pathLst>
              <a:path w="585216" h="0">
                <a:moveTo>
                  <a:pt x="0" y="0"/>
                </a:moveTo>
                <a:lnTo>
                  <a:pt x="585216" y="0"/>
                </a:lnTo>
              </a:path>
            </a:pathLst>
          </a:custGeom>
          <a:noFill/>
          <a:ln w="36576">
            <a:solidFill>
              <a:srgbClr val="D5DCE5"/>
            </a:solidFill>
            <a:prstDash val="solid"/>
            <a:headEnd type="none"/>
            <a:tailEnd type="none"/>
          </a:ln>
        </p:spPr>
      </p:sp>
      <p:sp>
        <p:nvSpPr>
          <p:cNvPr id="10" name="Shape 6"/>
          <p:cNvSpPr/>
          <p:nvPr/>
        </p:nvSpPr>
        <p:spPr>
          <a:xfrm>
            <a:off x="585216" y="1517904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6F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664208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5C6E9A"/>
          </a:solidFill>
          <a:ln/>
        </p:spPr>
      </p:sp>
      <p:sp>
        <p:nvSpPr>
          <p:cNvPr id="12" name="Text 8"/>
          <p:cNvSpPr/>
          <p:nvPr/>
        </p:nvSpPr>
        <p:spPr>
          <a:xfrm>
            <a:off x="749808" y="1682496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3" name="Text 9"/>
          <p:cNvSpPr/>
          <p:nvPr/>
        </p:nvSpPr>
        <p:spPr>
          <a:xfrm>
            <a:off x="1335024" y="1655064"/>
            <a:ext cx="292608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平台定义</a:t>
            </a:r>
            <a:endParaRPr lang="en-US" sz="1152" dirty="0"/>
          </a:p>
        </p:txBody>
      </p:sp>
      <p:sp>
        <p:nvSpPr>
          <p:cNvPr id="14" name="Text 10"/>
          <p:cNvSpPr/>
          <p:nvPr/>
        </p:nvSpPr>
        <p:spPr>
          <a:xfrm>
            <a:off x="804672" y="2267712"/>
            <a:ext cx="3401568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873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云边协同的制造业基础平台，汇聚设备与数据，打通研发到服务的全链路连接。</a:t>
            </a:r>
            <a:endParaRPr lang="en-US" sz="1152" dirty="0"/>
          </a:p>
        </p:txBody>
      </p:sp>
      <p:sp>
        <p:nvSpPr>
          <p:cNvPr id="15" name="Shape 11"/>
          <p:cNvSpPr/>
          <p:nvPr/>
        </p:nvSpPr>
        <p:spPr>
          <a:xfrm>
            <a:off x="4718304" y="1517904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6F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882896" y="1664208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D5DCE5"/>
          </a:solidFill>
          <a:ln/>
        </p:spPr>
      </p:sp>
      <p:sp>
        <p:nvSpPr>
          <p:cNvPr id="17" name="Text 13"/>
          <p:cNvSpPr/>
          <p:nvPr/>
        </p:nvSpPr>
        <p:spPr>
          <a:xfrm>
            <a:off x="4882896" y="1682496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8" name="Text 14"/>
          <p:cNvSpPr/>
          <p:nvPr/>
        </p:nvSpPr>
        <p:spPr>
          <a:xfrm>
            <a:off x="5468112" y="1655064"/>
            <a:ext cx="292608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核心价值</a:t>
            </a:r>
            <a:endParaRPr lang="en-US" sz="1152" dirty="0"/>
          </a:p>
        </p:txBody>
      </p:sp>
      <p:sp>
        <p:nvSpPr>
          <p:cNvPr id="19" name="Text 15"/>
          <p:cNvSpPr/>
          <p:nvPr/>
        </p:nvSpPr>
        <p:spPr>
          <a:xfrm>
            <a:off x="4937760" y="2267712"/>
            <a:ext cx="3401568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873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降低企业数字化门槛，沉淀行业模型与知识，赋能业务创新与规模化复制。</a:t>
            </a:r>
            <a:endParaRPr lang="en-US" sz="1152" dirty="0"/>
          </a:p>
        </p:txBody>
      </p:sp>
      <p:sp>
        <p:nvSpPr>
          <p:cNvPr id="20" name="Shape 16"/>
          <p:cNvSpPr/>
          <p:nvPr/>
        </p:nvSpPr>
        <p:spPr>
          <a:xfrm>
            <a:off x="585216" y="3236976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6F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49808" y="3383280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F0D3A9"/>
          </a:solidFill>
          <a:ln/>
        </p:spPr>
      </p:sp>
      <p:sp>
        <p:nvSpPr>
          <p:cNvPr id="22" name="Text 18"/>
          <p:cNvSpPr/>
          <p:nvPr/>
        </p:nvSpPr>
        <p:spPr>
          <a:xfrm>
            <a:off x="749808" y="3401568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23" name="Text 19"/>
          <p:cNvSpPr/>
          <p:nvPr/>
        </p:nvSpPr>
        <p:spPr>
          <a:xfrm>
            <a:off x="1335024" y="3374136"/>
            <a:ext cx="292608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落地路径</a:t>
            </a:r>
            <a:endParaRPr lang="en-US" sz="1152" dirty="0"/>
          </a:p>
        </p:txBody>
      </p:sp>
      <p:sp>
        <p:nvSpPr>
          <p:cNvPr id="24" name="Text 20"/>
          <p:cNvSpPr/>
          <p:nvPr/>
        </p:nvSpPr>
        <p:spPr>
          <a:xfrm>
            <a:off x="804672" y="3986784"/>
            <a:ext cx="3401568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873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从设备接入与数据治理递进，构建微服务能力，支撑典型场景快速上线。</a:t>
            </a:r>
            <a:endParaRPr lang="en-US" sz="1152" dirty="0"/>
          </a:p>
        </p:txBody>
      </p:sp>
      <p:sp>
        <p:nvSpPr>
          <p:cNvPr id="25" name="Shape 21"/>
          <p:cNvSpPr/>
          <p:nvPr/>
        </p:nvSpPr>
        <p:spPr>
          <a:xfrm>
            <a:off x="4718304" y="3236976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6F8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882896" y="3383280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5C6E9A"/>
          </a:solidFill>
          <a:ln/>
        </p:spPr>
      </p:sp>
      <p:sp>
        <p:nvSpPr>
          <p:cNvPr id="27" name="Text 23"/>
          <p:cNvSpPr/>
          <p:nvPr/>
        </p:nvSpPr>
        <p:spPr>
          <a:xfrm>
            <a:off x="4882896" y="3401568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28" name="Text 24"/>
          <p:cNvSpPr/>
          <p:nvPr/>
        </p:nvSpPr>
        <p:spPr>
          <a:xfrm>
            <a:off x="5468112" y="3374136"/>
            <a:ext cx="292608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未检索到可引用的数据，故不新增图表。</a:t>
            </a:r>
            <a:endParaRPr lang="en-US" sz="1152" dirty="0"/>
          </a:p>
        </p:txBody>
      </p:sp>
      <p:sp>
        <p:nvSpPr>
          <p:cNvPr id="29" name="Text 25"/>
          <p:cNvSpPr/>
          <p:nvPr/>
        </p:nvSpPr>
        <p:spPr>
          <a:xfrm>
            <a:off x="4937760" y="3986784"/>
            <a:ext cx="3401568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873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未检索到可引用的数据，故不新增图表。</a:t>
            </a:r>
            <a:endParaRPr lang="en-US" sz="115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4F6F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2615837"/>
            <a:ext cx="3931920" cy="2527663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20624" y="219456"/>
            <a:ext cx="7772400" cy="1243584"/>
          </a:xfrm>
          <a:custGeom>
            <a:avLst/>
            <a:gdLst/>
            <a:ahLst/>
            <a:cxnLst/>
            <a:rect l="l" t="t" r="r" b="b"/>
            <a:pathLst>
              <a:path w="7772400" h="1243584">
                <a:moveTo>
                  <a:pt x="0" y="0"/>
                </a:moveTo>
                <a:lnTo>
                  <a:pt x="7772400" y="0"/>
                </a:lnTo>
                <a:lnTo>
                  <a:pt x="7772400" y="1243584"/>
                </a:lnTo>
                <a:lnTo>
                  <a:pt x="0" y="1243584"/>
                </a:lnTo>
                <a:close/>
              </a:path>
            </a:pathLst>
          </a:custGeom>
          <a:solidFill>
            <a:srgbClr val="F9FCFA">
              <a:alpha val="90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585216" y="310896"/>
            <a:ext cx="2560320" cy="2194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b="1" dirty="0">
                <a:solidFill>
                  <a:srgbClr val="5C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· EVIDENCE · ACTION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85216" y="585216"/>
            <a:ext cx="7406640" cy="8595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启动核心场景试点与复盘</a:t>
            </a:r>
            <a:endParaRPr lang="en-US" sz="1152" dirty="0"/>
          </a:p>
        </p:txBody>
      </p:sp>
      <p:sp>
        <p:nvSpPr>
          <p:cNvPr id="8" name="Shape 4"/>
          <p:cNvSpPr/>
          <p:nvPr/>
        </p:nvSpPr>
        <p:spPr>
          <a:xfrm>
            <a:off x="585216" y="1335024"/>
            <a:ext cx="1152144" cy="0"/>
          </a:xfrm>
          <a:custGeom>
            <a:avLst/>
            <a:gdLst/>
            <a:ahLst/>
            <a:cxnLst/>
            <a:rect l="l" t="t" r="r" b="b"/>
            <a:pathLst>
              <a:path w="1152144" h="0">
                <a:moveTo>
                  <a:pt x="0" y="0"/>
                </a:moveTo>
                <a:lnTo>
                  <a:pt x="1152144" y="0"/>
                </a:lnTo>
              </a:path>
            </a:pathLst>
          </a:custGeom>
          <a:noFill/>
          <a:ln w="36576">
            <a:solidFill>
              <a:srgbClr val="5C6E9A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>
            <a:off x="1737360" y="1335024"/>
            <a:ext cx="585216" cy="0"/>
          </a:xfrm>
          <a:custGeom>
            <a:avLst/>
            <a:gdLst/>
            <a:ahLst/>
            <a:cxnLst/>
            <a:rect l="l" t="t" r="r" b="b"/>
            <a:pathLst>
              <a:path w="585216" h="0">
                <a:moveTo>
                  <a:pt x="0" y="0"/>
                </a:moveTo>
                <a:lnTo>
                  <a:pt x="585216" y="0"/>
                </a:lnTo>
              </a:path>
            </a:pathLst>
          </a:custGeom>
          <a:noFill/>
          <a:ln w="36576">
            <a:solidFill>
              <a:srgbClr val="D5DCE5"/>
            </a:solidFill>
            <a:prstDash val="solid"/>
            <a:headEnd type="none"/>
            <a:tailEnd type="none"/>
          </a:ln>
        </p:spPr>
      </p:sp>
      <p:sp>
        <p:nvSpPr>
          <p:cNvPr id="10" name="Shape 6"/>
          <p:cNvSpPr/>
          <p:nvPr/>
        </p:nvSpPr>
        <p:spPr>
          <a:xfrm>
            <a:off x="585216" y="1517904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6F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664208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5C6E9A"/>
          </a:solidFill>
          <a:ln/>
        </p:spPr>
      </p:sp>
      <p:sp>
        <p:nvSpPr>
          <p:cNvPr id="12" name="Text 8"/>
          <p:cNvSpPr/>
          <p:nvPr/>
        </p:nvSpPr>
        <p:spPr>
          <a:xfrm>
            <a:off x="749808" y="1682496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3" name="Text 9"/>
          <p:cNvSpPr/>
          <p:nvPr/>
        </p:nvSpPr>
        <p:spPr>
          <a:xfrm>
            <a:off x="1335024" y="1655064"/>
            <a:ext cx="292608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明确试点范围与选择逻辑</a:t>
            </a:r>
            <a:endParaRPr lang="en-US" sz="1152" dirty="0"/>
          </a:p>
        </p:txBody>
      </p:sp>
      <p:sp>
        <p:nvSpPr>
          <p:cNvPr id="14" name="Text 10"/>
          <p:cNvSpPr/>
          <p:nvPr/>
        </p:nvSpPr>
        <p:spPr>
          <a:xfrm>
            <a:off x="804672" y="2267712"/>
            <a:ext cx="3401568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dirty="0">
                <a:solidFill>
                  <a:srgbClr val="6873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从业务价值与可行性双维度筛选核心场景，聚焦高影响力、可快速验证的切入点，避免范围过大资源分散。</a:t>
            </a:r>
            <a:endParaRPr lang="en-US" sz="1152" dirty="0"/>
          </a:p>
        </p:txBody>
      </p:sp>
      <p:sp>
        <p:nvSpPr>
          <p:cNvPr id="15" name="Shape 11"/>
          <p:cNvSpPr/>
          <p:nvPr/>
        </p:nvSpPr>
        <p:spPr>
          <a:xfrm>
            <a:off x="4718304" y="1517904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6F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882896" y="1664208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D5DCE5"/>
          </a:solidFill>
          <a:ln/>
        </p:spPr>
      </p:sp>
      <p:sp>
        <p:nvSpPr>
          <p:cNvPr id="17" name="Text 13"/>
          <p:cNvSpPr/>
          <p:nvPr/>
        </p:nvSpPr>
        <p:spPr>
          <a:xfrm>
            <a:off x="4882896" y="1682496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8" name="Text 14"/>
          <p:cNvSpPr/>
          <p:nvPr/>
        </p:nvSpPr>
        <p:spPr>
          <a:xfrm>
            <a:off x="5468112" y="1655064"/>
            <a:ext cx="292608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建立复盘机制与节奏</a:t>
            </a:r>
            <a:endParaRPr lang="en-US" sz="1152" dirty="0"/>
          </a:p>
        </p:txBody>
      </p:sp>
      <p:sp>
        <p:nvSpPr>
          <p:cNvPr id="19" name="Text 15"/>
          <p:cNvSpPr/>
          <p:nvPr/>
        </p:nvSpPr>
        <p:spPr>
          <a:xfrm>
            <a:off x="4937760" y="2267712"/>
            <a:ext cx="3401568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873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设定定期复盘节点，对照目标分析差距，沉淀经验教训，形成迭代优化的闭环管理机制。</a:t>
            </a:r>
            <a:endParaRPr lang="en-US" sz="1152" dirty="0"/>
          </a:p>
        </p:txBody>
      </p:sp>
      <p:sp>
        <p:nvSpPr>
          <p:cNvPr id="20" name="Shape 16"/>
          <p:cNvSpPr/>
          <p:nvPr/>
        </p:nvSpPr>
        <p:spPr>
          <a:xfrm>
            <a:off x="585216" y="3236976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6F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49808" y="3383280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F0D3A9"/>
          </a:solidFill>
          <a:ln/>
        </p:spPr>
      </p:sp>
      <p:sp>
        <p:nvSpPr>
          <p:cNvPr id="22" name="Text 18"/>
          <p:cNvSpPr/>
          <p:nvPr/>
        </p:nvSpPr>
        <p:spPr>
          <a:xfrm>
            <a:off x="749808" y="3401568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23" name="Text 19"/>
          <p:cNvSpPr/>
          <p:nvPr/>
        </p:nvSpPr>
        <p:spPr>
          <a:xfrm>
            <a:off x="1335024" y="3374136"/>
            <a:ext cx="292608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关键指标跟踪与迭代</a:t>
            </a:r>
            <a:endParaRPr lang="en-US" sz="1152" dirty="0"/>
          </a:p>
        </p:txBody>
      </p:sp>
      <p:sp>
        <p:nvSpPr>
          <p:cNvPr id="24" name="Text 20"/>
          <p:cNvSpPr/>
          <p:nvPr/>
        </p:nvSpPr>
        <p:spPr>
          <a:xfrm>
            <a:off x="804672" y="3986784"/>
            <a:ext cx="3401568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873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围绕试点场景建立关键指标体系，持续跟踪效果反馈，快速调整方案并复制成功范式。</a:t>
            </a:r>
            <a:endParaRPr lang="en-US" sz="1152" dirty="0"/>
          </a:p>
        </p:txBody>
      </p:sp>
      <p:sp>
        <p:nvSpPr>
          <p:cNvPr id="25" name="Shape 21"/>
          <p:cNvSpPr/>
          <p:nvPr/>
        </p:nvSpPr>
        <p:spPr>
          <a:xfrm>
            <a:off x="4718304" y="3236976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6F8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882896" y="3383280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5C6E9A"/>
          </a:solidFill>
          <a:ln/>
        </p:spPr>
      </p:sp>
      <p:sp>
        <p:nvSpPr>
          <p:cNvPr id="27" name="Text 23"/>
          <p:cNvSpPr/>
          <p:nvPr/>
        </p:nvSpPr>
        <p:spPr>
          <a:xfrm>
            <a:off x="4882896" y="3401568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28" name="Text 24"/>
          <p:cNvSpPr/>
          <p:nvPr/>
        </p:nvSpPr>
        <p:spPr>
          <a:xfrm>
            <a:off x="5468112" y="3374136"/>
            <a:ext cx="292608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数据说明</a:t>
            </a:r>
            <a:endParaRPr lang="en-US" sz="1152" dirty="0"/>
          </a:p>
        </p:txBody>
      </p:sp>
      <p:sp>
        <p:nvSpPr>
          <p:cNvPr id="29" name="Text 25"/>
          <p:cNvSpPr/>
          <p:nvPr/>
        </p:nvSpPr>
        <p:spPr>
          <a:xfrm>
            <a:off x="4937760" y="3986784"/>
            <a:ext cx="3401568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873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未检索到可引用的数据，故不新增图表。</a:t>
            </a:r>
            <a:endParaRPr lang="en-US" sz="115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005840" y="987552"/>
            <a:ext cx="7132320" cy="3200400"/>
          </a:xfrm>
          <a:custGeom>
            <a:avLst/>
            <a:gdLst/>
            <a:ahLst/>
            <a:cxnLst/>
            <a:rect l="l" t="t" r="r" b="b"/>
            <a:pathLst>
              <a:path w="7132320" h="3200400">
                <a:moveTo>
                  <a:pt x="0" y="0"/>
                </a:moveTo>
                <a:lnTo>
                  <a:pt x="7132320" y="0"/>
                </a:lnTo>
                <a:lnTo>
                  <a:pt x="7132320" y="3200400"/>
                </a:lnTo>
                <a:lnTo>
                  <a:pt x="0" y="3200400"/>
                </a:lnTo>
                <a:close/>
              </a:path>
            </a:pathLst>
          </a:custGeom>
          <a:solidFill>
            <a:srgbClr val="F4F6F8">
              <a:alpha val="78000"/>
            </a:srgbClr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7184" y="237744"/>
            <a:ext cx="1737360" cy="111687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097280" y="1207008"/>
            <a:ext cx="6949440" cy="2194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5C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 · TRUST · NEXT STEP</a:t>
            </a:r>
            <a:endParaRPr lang="en-US" sz="1152" dirty="0"/>
          </a:p>
        </p:txBody>
      </p:sp>
      <p:sp>
        <p:nvSpPr>
          <p:cNvPr id="7" name="Text 2"/>
          <p:cNvSpPr/>
          <p:nvPr/>
        </p:nvSpPr>
        <p:spPr>
          <a:xfrm>
            <a:off x="1097280" y="1682496"/>
            <a:ext cx="6949440" cy="10241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888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让清晰表达推动下一步行动</a:t>
            </a:r>
            <a:endParaRPr lang="en-US" sz="1152" dirty="0"/>
          </a:p>
        </p:txBody>
      </p:sp>
      <p:sp>
        <p:nvSpPr>
          <p:cNvPr id="8" name="Shape 3"/>
          <p:cNvSpPr/>
          <p:nvPr/>
        </p:nvSpPr>
        <p:spPr>
          <a:xfrm>
            <a:off x="3474720" y="2926080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 h="0">
                <a:moveTo>
                  <a:pt x="0" y="0"/>
                </a:moveTo>
                <a:lnTo>
                  <a:pt x="1371600" y="0"/>
                </a:lnTo>
              </a:path>
            </a:pathLst>
          </a:custGeom>
          <a:noFill/>
          <a:ln w="36576">
            <a:solidFill>
              <a:srgbClr val="5C6E9A"/>
            </a:solidFill>
            <a:prstDash val="solid"/>
            <a:headEnd type="none"/>
            <a:tailEnd type="none"/>
          </a:ln>
        </p:spPr>
      </p:sp>
      <p:sp>
        <p:nvSpPr>
          <p:cNvPr id="9" name="Shape 4"/>
          <p:cNvSpPr/>
          <p:nvPr/>
        </p:nvSpPr>
        <p:spPr>
          <a:xfrm>
            <a:off x="4846320" y="2926080"/>
            <a:ext cx="822960" cy="0"/>
          </a:xfrm>
          <a:custGeom>
            <a:avLst/>
            <a:gdLst/>
            <a:ahLst/>
            <a:cxnLst/>
            <a:rect l="l" t="t" r="r" b="b"/>
            <a:pathLst>
              <a:path w="822960" h="0">
                <a:moveTo>
                  <a:pt x="0" y="0"/>
                </a:moveTo>
                <a:lnTo>
                  <a:pt x="822960" y="0"/>
                </a:lnTo>
              </a:path>
            </a:pathLst>
          </a:custGeom>
          <a:noFill/>
          <a:ln w="36576">
            <a:solidFill>
              <a:srgbClr val="D5DCE5"/>
            </a:solidFill>
            <a:prstDash val="solid"/>
            <a:headEnd type="none"/>
            <a:tailEnd type="none"/>
          </a:ln>
        </p:spPr>
      </p:sp>
      <p:sp>
        <p:nvSpPr>
          <p:cNvPr id="10" name="Text 5"/>
          <p:cNvSpPr/>
          <p:nvPr/>
        </p:nvSpPr>
        <p:spPr>
          <a:xfrm>
            <a:off x="1463040" y="2980944"/>
            <a:ext cx="6217920" cy="95097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368" dirty="0">
                <a:solidFill>
                  <a:srgbClr val="6873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感谢聆听，期待一起把下一步变得更清晰。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2026-08-28T10:21:02Z</dcterms:created>
  <dcterms:modified xsi:type="dcterms:W3CDTF">2026-08-28T10:21:02Z</dcterms:modified>
</cp:coreProperties>
</file>