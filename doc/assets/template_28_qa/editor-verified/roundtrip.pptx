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jpeg"/><Relationship Id="rId3" Type="http://schemas.openxmlformats.org/officeDocument/2006/relationships/image" Target="../media/image-15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image" Target="../media/image-16-2.jpeg"/><Relationship Id="rId3" Type="http://schemas.openxmlformats.org/officeDocument/2006/relationships/image" Target="../media/image-16-3.jpeg"/><Relationship Id="rId4" Type="http://schemas.openxmlformats.org/officeDocument/2006/relationships/image" Target="../media/image-16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image" Target="../media/image-17-2.jpeg"/><Relationship Id="rId3" Type="http://schemas.openxmlformats.org/officeDocument/2006/relationships/image" Target="../media/image-17-3.jpeg"/><Relationship Id="rId4" Type="http://schemas.openxmlformats.org/officeDocument/2006/relationships/image" Target="../media/image-17-4.jpeg"/><Relationship Id="rId5" Type="http://schemas.openxmlformats.org/officeDocument/2006/relationships/image" Target="../media/image-17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4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0352" y="868680"/>
            <a:ext cx="384048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4" name="Shape 1"/>
          <p:cNvSpPr/>
          <p:nvPr/>
        </p:nvSpPr>
        <p:spPr>
          <a:xfrm>
            <a:off x="530352" y="868680"/>
            <a:ext cx="0" cy="384048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 flipH="1">
            <a:off x="8229600" y="868680"/>
            <a:ext cx="384048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8613648" y="868680"/>
            <a:ext cx="0" cy="384048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530352" y="4480560"/>
            <a:ext cx="384048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 flipV="1">
            <a:off x="530352" y="4096512"/>
            <a:ext cx="0" cy="384048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 flipH="1">
            <a:off x="8229600" y="4480560"/>
            <a:ext cx="384048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10" name="Shape 7"/>
          <p:cNvSpPr/>
          <p:nvPr/>
        </p:nvSpPr>
        <p:spPr>
          <a:xfrm flipV="1">
            <a:off x="8613648" y="4096512"/>
            <a:ext cx="0" cy="384048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11" name="Text 8"/>
          <p:cNvSpPr/>
          <p:nvPr/>
        </p:nvSpPr>
        <p:spPr>
          <a:xfrm>
            <a:off x="822960" y="1847088"/>
            <a:ext cx="7498080" cy="8138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312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青绿几何编辑验收</a:t>
            </a:r>
            <a:endParaRPr lang="en-US" sz="1152" dirty="0"/>
          </a:p>
        </p:txBody>
      </p:sp>
      <p:sp>
        <p:nvSpPr>
          <p:cNvPr id="12" name="Text 9"/>
          <p:cNvSpPr/>
          <p:nvPr/>
        </p:nvSpPr>
        <p:spPr>
          <a:xfrm>
            <a:off x="1554480" y="3246120"/>
            <a:ext cx="6035040" cy="4846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84" dirty="0">
                <a:solidFill>
                  <a:srgbClr val="E8FF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项目介绍与阶段成果汇报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84" dirty="0">
                <a:solidFill>
                  <a:srgbClr val="E8FF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汇报人：项目组　日期：2026年9月</a:t>
            </a:r>
            <a:endParaRPr lang="en-US" sz="115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4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0352" y="868680"/>
            <a:ext cx="384048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4" name="Shape 1"/>
          <p:cNvSpPr/>
          <p:nvPr/>
        </p:nvSpPr>
        <p:spPr>
          <a:xfrm>
            <a:off x="530352" y="868680"/>
            <a:ext cx="0" cy="384048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 flipH="1">
            <a:off x="8229600" y="868680"/>
            <a:ext cx="384048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8613648" y="868680"/>
            <a:ext cx="0" cy="384048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530352" y="4480560"/>
            <a:ext cx="384048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 flipV="1">
            <a:off x="530352" y="4096512"/>
            <a:ext cx="0" cy="384048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 flipH="1">
            <a:off x="8229600" y="4480560"/>
            <a:ext cx="384048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10" name="Shape 7"/>
          <p:cNvSpPr/>
          <p:nvPr/>
        </p:nvSpPr>
        <p:spPr>
          <a:xfrm flipV="1">
            <a:off x="8613648" y="4096512"/>
            <a:ext cx="0" cy="384048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11" name="Text 8"/>
          <p:cNvSpPr/>
          <p:nvPr/>
        </p:nvSpPr>
        <p:spPr>
          <a:xfrm>
            <a:off x="822960" y="1591056"/>
            <a:ext cx="7498080" cy="12801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88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面向未来业务持续发展与团队协作的项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88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目建设目标实施路径及阶段成果汇报</a:t>
            </a:r>
            <a:endParaRPr lang="en-US" sz="1152" dirty="0"/>
          </a:p>
        </p:txBody>
      </p:sp>
      <p:sp>
        <p:nvSpPr>
          <p:cNvPr id="12" name="Text 9"/>
          <p:cNvSpPr/>
          <p:nvPr/>
        </p:nvSpPr>
        <p:spPr>
          <a:xfrm>
            <a:off x="1554480" y="3310128"/>
            <a:ext cx="6035040" cy="4846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84" dirty="0">
                <a:solidFill>
                  <a:srgbClr val="E8FF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项目介绍与阶段成果汇报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84" dirty="0">
                <a:solidFill>
                  <a:srgbClr val="E8FF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汇报人：项目组　日期：2026年9月</a:t>
            </a:r>
            <a:endParaRPr lang="en-US" sz="115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4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12064" y="2029968"/>
            <a:ext cx="1645920" cy="8138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312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1152" dirty="0"/>
          </a:p>
        </p:txBody>
      </p:sp>
      <p:sp>
        <p:nvSpPr>
          <p:cNvPr id="5" name="Text 1"/>
          <p:cNvSpPr/>
          <p:nvPr/>
        </p:nvSpPr>
        <p:spPr>
          <a:xfrm>
            <a:off x="548640" y="2852928"/>
            <a:ext cx="146304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B3E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52" dirty="0"/>
          </a:p>
        </p:txBody>
      </p:sp>
      <p:sp>
        <p:nvSpPr>
          <p:cNvPr id="6" name="Shape 2"/>
          <p:cNvSpPr/>
          <p:nvPr/>
        </p:nvSpPr>
        <p:spPr>
          <a:xfrm>
            <a:off x="2779776" y="1666494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779776" y="1730502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C3F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8" name="Text 4"/>
          <p:cNvSpPr/>
          <p:nvPr/>
        </p:nvSpPr>
        <p:spPr>
          <a:xfrm>
            <a:off x="3401568" y="1611630"/>
            <a:ext cx="51663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项目背景</a:t>
            </a:r>
            <a:endParaRPr lang="en-US" sz="1152" dirty="0"/>
          </a:p>
        </p:txBody>
      </p:sp>
      <p:sp>
        <p:nvSpPr>
          <p:cNvPr id="9" name="Shape 5"/>
          <p:cNvSpPr/>
          <p:nvPr/>
        </p:nvSpPr>
        <p:spPr>
          <a:xfrm>
            <a:off x="3401568" y="2471166"/>
            <a:ext cx="5166360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10" name="Shape 6"/>
          <p:cNvSpPr/>
          <p:nvPr/>
        </p:nvSpPr>
        <p:spPr>
          <a:xfrm>
            <a:off x="2779776" y="2654046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779776" y="2718054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C3F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2" name="Text 8"/>
          <p:cNvSpPr/>
          <p:nvPr/>
        </p:nvSpPr>
        <p:spPr>
          <a:xfrm>
            <a:off x="3401568" y="2599182"/>
            <a:ext cx="51663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建设目标</a:t>
            </a:r>
            <a:endParaRPr lang="en-US" sz="1152" dirty="0"/>
          </a:p>
        </p:txBody>
      </p:sp>
      <p:sp>
        <p:nvSpPr>
          <p:cNvPr id="13" name="Shape 9"/>
          <p:cNvSpPr/>
          <p:nvPr/>
        </p:nvSpPr>
        <p:spPr>
          <a:xfrm>
            <a:off x="3401568" y="3458718"/>
            <a:ext cx="5166360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4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12064" y="2029968"/>
            <a:ext cx="1645920" cy="8138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312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1152" dirty="0"/>
          </a:p>
        </p:txBody>
      </p:sp>
      <p:sp>
        <p:nvSpPr>
          <p:cNvPr id="5" name="Text 1"/>
          <p:cNvSpPr/>
          <p:nvPr/>
        </p:nvSpPr>
        <p:spPr>
          <a:xfrm>
            <a:off x="548640" y="2852928"/>
            <a:ext cx="146304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B3E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52" dirty="0"/>
          </a:p>
        </p:txBody>
      </p:sp>
      <p:sp>
        <p:nvSpPr>
          <p:cNvPr id="6" name="Shape 2"/>
          <p:cNvSpPr/>
          <p:nvPr/>
        </p:nvSpPr>
        <p:spPr>
          <a:xfrm>
            <a:off x="2779776" y="117271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779776" y="1236726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C3F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8" name="Text 4"/>
          <p:cNvSpPr/>
          <p:nvPr/>
        </p:nvSpPr>
        <p:spPr>
          <a:xfrm>
            <a:off x="3401568" y="1117854"/>
            <a:ext cx="51663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项目背景</a:t>
            </a:r>
            <a:endParaRPr lang="en-US" sz="1152" dirty="0"/>
          </a:p>
        </p:txBody>
      </p:sp>
      <p:sp>
        <p:nvSpPr>
          <p:cNvPr id="9" name="Shape 5"/>
          <p:cNvSpPr/>
          <p:nvPr/>
        </p:nvSpPr>
        <p:spPr>
          <a:xfrm>
            <a:off x="3401568" y="1977390"/>
            <a:ext cx="5166360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10" name="Shape 6"/>
          <p:cNvSpPr/>
          <p:nvPr/>
        </p:nvSpPr>
        <p:spPr>
          <a:xfrm>
            <a:off x="2779776" y="2160270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779776" y="2224278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C3F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2" name="Text 8"/>
          <p:cNvSpPr/>
          <p:nvPr/>
        </p:nvSpPr>
        <p:spPr>
          <a:xfrm>
            <a:off x="3401568" y="2105406"/>
            <a:ext cx="51663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建设目标</a:t>
            </a:r>
            <a:endParaRPr lang="en-US" sz="1152" dirty="0"/>
          </a:p>
        </p:txBody>
      </p:sp>
      <p:sp>
        <p:nvSpPr>
          <p:cNvPr id="13" name="Shape 9"/>
          <p:cNvSpPr/>
          <p:nvPr/>
        </p:nvSpPr>
        <p:spPr>
          <a:xfrm>
            <a:off x="3401568" y="2964942"/>
            <a:ext cx="5166360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14" name="Shape 10"/>
          <p:cNvSpPr/>
          <p:nvPr/>
        </p:nvSpPr>
        <p:spPr>
          <a:xfrm>
            <a:off x="2779776" y="3147822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779776" y="3211830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C3F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16" name="Text 12"/>
          <p:cNvSpPr/>
          <p:nvPr/>
        </p:nvSpPr>
        <p:spPr>
          <a:xfrm>
            <a:off x="3401568" y="3092958"/>
            <a:ext cx="51663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实施路径</a:t>
            </a:r>
            <a:endParaRPr lang="en-US" sz="1152" dirty="0"/>
          </a:p>
        </p:txBody>
      </p:sp>
      <p:sp>
        <p:nvSpPr>
          <p:cNvPr id="17" name="Shape 13"/>
          <p:cNvSpPr/>
          <p:nvPr/>
        </p:nvSpPr>
        <p:spPr>
          <a:xfrm>
            <a:off x="3401568" y="3952494"/>
            <a:ext cx="5166360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4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12064" y="2029968"/>
            <a:ext cx="1645920" cy="8138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312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1152" dirty="0"/>
          </a:p>
        </p:txBody>
      </p:sp>
      <p:sp>
        <p:nvSpPr>
          <p:cNvPr id="5" name="Text 1"/>
          <p:cNvSpPr/>
          <p:nvPr/>
        </p:nvSpPr>
        <p:spPr>
          <a:xfrm>
            <a:off x="548640" y="2852928"/>
            <a:ext cx="146304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B3E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52" dirty="0"/>
          </a:p>
        </p:txBody>
      </p:sp>
      <p:sp>
        <p:nvSpPr>
          <p:cNvPr id="6" name="Shape 2"/>
          <p:cNvSpPr/>
          <p:nvPr/>
        </p:nvSpPr>
        <p:spPr>
          <a:xfrm>
            <a:off x="2779776" y="678942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779776" y="742950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C3F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8" name="Text 4"/>
          <p:cNvSpPr/>
          <p:nvPr/>
        </p:nvSpPr>
        <p:spPr>
          <a:xfrm>
            <a:off x="3401568" y="624078"/>
            <a:ext cx="51663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项目背景</a:t>
            </a:r>
            <a:endParaRPr lang="en-US" sz="1152" dirty="0"/>
          </a:p>
        </p:txBody>
      </p:sp>
      <p:sp>
        <p:nvSpPr>
          <p:cNvPr id="9" name="Shape 5"/>
          <p:cNvSpPr/>
          <p:nvPr/>
        </p:nvSpPr>
        <p:spPr>
          <a:xfrm>
            <a:off x="3401568" y="1483614"/>
            <a:ext cx="5166360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10" name="Shape 6"/>
          <p:cNvSpPr/>
          <p:nvPr/>
        </p:nvSpPr>
        <p:spPr>
          <a:xfrm>
            <a:off x="2779776" y="1666494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779776" y="1730502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C3F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2" name="Text 8"/>
          <p:cNvSpPr/>
          <p:nvPr/>
        </p:nvSpPr>
        <p:spPr>
          <a:xfrm>
            <a:off x="3401568" y="1611630"/>
            <a:ext cx="51663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建设目标</a:t>
            </a:r>
            <a:endParaRPr lang="en-US" sz="1152" dirty="0"/>
          </a:p>
        </p:txBody>
      </p:sp>
      <p:sp>
        <p:nvSpPr>
          <p:cNvPr id="13" name="Shape 9"/>
          <p:cNvSpPr/>
          <p:nvPr/>
        </p:nvSpPr>
        <p:spPr>
          <a:xfrm>
            <a:off x="3401568" y="2471166"/>
            <a:ext cx="5166360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14" name="Shape 10"/>
          <p:cNvSpPr/>
          <p:nvPr/>
        </p:nvSpPr>
        <p:spPr>
          <a:xfrm>
            <a:off x="2779776" y="2654046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779776" y="2718054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C3F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16" name="Text 12"/>
          <p:cNvSpPr/>
          <p:nvPr/>
        </p:nvSpPr>
        <p:spPr>
          <a:xfrm>
            <a:off x="3401568" y="2599182"/>
            <a:ext cx="51663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实施路径</a:t>
            </a:r>
            <a:endParaRPr lang="en-US" sz="1152" dirty="0"/>
          </a:p>
        </p:txBody>
      </p:sp>
      <p:sp>
        <p:nvSpPr>
          <p:cNvPr id="17" name="Shape 13"/>
          <p:cNvSpPr/>
          <p:nvPr/>
        </p:nvSpPr>
        <p:spPr>
          <a:xfrm>
            <a:off x="3401568" y="3458718"/>
            <a:ext cx="5166360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18" name="Shape 14"/>
          <p:cNvSpPr/>
          <p:nvPr/>
        </p:nvSpPr>
        <p:spPr>
          <a:xfrm>
            <a:off x="2779776" y="364159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779776" y="3705606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C3F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52" dirty="0"/>
          </a:p>
        </p:txBody>
      </p:sp>
      <p:sp>
        <p:nvSpPr>
          <p:cNvPr id="20" name="Text 16"/>
          <p:cNvSpPr/>
          <p:nvPr/>
        </p:nvSpPr>
        <p:spPr>
          <a:xfrm>
            <a:off x="3401568" y="3586734"/>
            <a:ext cx="51663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协作安排</a:t>
            </a:r>
            <a:endParaRPr lang="en-US" sz="1152" dirty="0"/>
          </a:p>
        </p:txBody>
      </p:sp>
      <p:sp>
        <p:nvSpPr>
          <p:cNvPr id="21" name="Shape 17"/>
          <p:cNvSpPr/>
          <p:nvPr/>
        </p:nvSpPr>
        <p:spPr>
          <a:xfrm>
            <a:off x="3401568" y="4446270"/>
            <a:ext cx="5166360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4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12064" y="2029968"/>
            <a:ext cx="1645920" cy="8138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312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1152" dirty="0"/>
          </a:p>
        </p:txBody>
      </p:sp>
      <p:sp>
        <p:nvSpPr>
          <p:cNvPr id="5" name="Text 1"/>
          <p:cNvSpPr/>
          <p:nvPr/>
        </p:nvSpPr>
        <p:spPr>
          <a:xfrm>
            <a:off x="548640" y="2852928"/>
            <a:ext cx="146304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B3E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52" dirty="0"/>
          </a:p>
        </p:txBody>
      </p:sp>
      <p:sp>
        <p:nvSpPr>
          <p:cNvPr id="6" name="Shape 2"/>
          <p:cNvSpPr/>
          <p:nvPr/>
        </p:nvSpPr>
        <p:spPr>
          <a:xfrm>
            <a:off x="2569464" y="884682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569464" y="948690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C3F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8" name="Text 4"/>
          <p:cNvSpPr/>
          <p:nvPr/>
        </p:nvSpPr>
        <p:spPr>
          <a:xfrm>
            <a:off x="3191256" y="829818"/>
            <a:ext cx="2185416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项目背景</a:t>
            </a:r>
            <a:endParaRPr lang="en-US" sz="1152" dirty="0"/>
          </a:p>
        </p:txBody>
      </p:sp>
      <p:sp>
        <p:nvSpPr>
          <p:cNvPr id="9" name="Shape 5"/>
          <p:cNvSpPr/>
          <p:nvPr/>
        </p:nvSpPr>
        <p:spPr>
          <a:xfrm>
            <a:off x="3191256" y="1689354"/>
            <a:ext cx="2185416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10" name="Shape 6"/>
          <p:cNvSpPr/>
          <p:nvPr/>
        </p:nvSpPr>
        <p:spPr>
          <a:xfrm>
            <a:off x="5614416" y="884682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614416" y="948690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C3F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2" name="Text 8"/>
          <p:cNvSpPr/>
          <p:nvPr/>
        </p:nvSpPr>
        <p:spPr>
          <a:xfrm>
            <a:off x="6236208" y="829818"/>
            <a:ext cx="2185416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建设目标</a:t>
            </a:r>
            <a:endParaRPr lang="en-US" sz="1152" dirty="0"/>
          </a:p>
        </p:txBody>
      </p:sp>
      <p:sp>
        <p:nvSpPr>
          <p:cNvPr id="13" name="Shape 9"/>
          <p:cNvSpPr/>
          <p:nvPr/>
        </p:nvSpPr>
        <p:spPr>
          <a:xfrm>
            <a:off x="6236208" y="1689354"/>
            <a:ext cx="2185416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14" name="Shape 10"/>
          <p:cNvSpPr/>
          <p:nvPr/>
        </p:nvSpPr>
        <p:spPr>
          <a:xfrm>
            <a:off x="2569464" y="206425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569464" y="2128266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C3F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16" name="Text 12"/>
          <p:cNvSpPr/>
          <p:nvPr/>
        </p:nvSpPr>
        <p:spPr>
          <a:xfrm>
            <a:off x="3191256" y="2009394"/>
            <a:ext cx="2185416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实施路径</a:t>
            </a:r>
            <a:endParaRPr lang="en-US" sz="1152" dirty="0"/>
          </a:p>
        </p:txBody>
      </p:sp>
      <p:sp>
        <p:nvSpPr>
          <p:cNvPr id="17" name="Shape 13"/>
          <p:cNvSpPr/>
          <p:nvPr/>
        </p:nvSpPr>
        <p:spPr>
          <a:xfrm>
            <a:off x="3191256" y="2868930"/>
            <a:ext cx="2185416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18" name="Shape 14"/>
          <p:cNvSpPr/>
          <p:nvPr/>
        </p:nvSpPr>
        <p:spPr>
          <a:xfrm>
            <a:off x="5614416" y="206425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614416" y="2128266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C3F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52" dirty="0"/>
          </a:p>
        </p:txBody>
      </p:sp>
      <p:sp>
        <p:nvSpPr>
          <p:cNvPr id="20" name="Text 16"/>
          <p:cNvSpPr/>
          <p:nvPr/>
        </p:nvSpPr>
        <p:spPr>
          <a:xfrm>
            <a:off x="6236208" y="2009394"/>
            <a:ext cx="2185416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协作安排</a:t>
            </a:r>
            <a:endParaRPr lang="en-US" sz="1152" dirty="0"/>
          </a:p>
        </p:txBody>
      </p:sp>
      <p:sp>
        <p:nvSpPr>
          <p:cNvPr id="21" name="Shape 17"/>
          <p:cNvSpPr/>
          <p:nvPr/>
        </p:nvSpPr>
        <p:spPr>
          <a:xfrm>
            <a:off x="6236208" y="2868930"/>
            <a:ext cx="2185416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22" name="Shape 18"/>
          <p:cNvSpPr/>
          <p:nvPr/>
        </p:nvSpPr>
        <p:spPr>
          <a:xfrm>
            <a:off x="2569464" y="3243834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569464" y="3307842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C3F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52" dirty="0"/>
          </a:p>
        </p:txBody>
      </p:sp>
      <p:sp>
        <p:nvSpPr>
          <p:cNvPr id="24" name="Text 20"/>
          <p:cNvSpPr/>
          <p:nvPr/>
        </p:nvSpPr>
        <p:spPr>
          <a:xfrm>
            <a:off x="3191256" y="3188970"/>
            <a:ext cx="2185416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阶段成果</a:t>
            </a:r>
            <a:endParaRPr lang="en-US" sz="1152" dirty="0"/>
          </a:p>
        </p:txBody>
      </p:sp>
      <p:sp>
        <p:nvSpPr>
          <p:cNvPr id="25" name="Shape 21"/>
          <p:cNvSpPr/>
          <p:nvPr/>
        </p:nvSpPr>
        <p:spPr>
          <a:xfrm>
            <a:off x="3191256" y="4048506"/>
            <a:ext cx="2185416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4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12064" y="2029968"/>
            <a:ext cx="1645920" cy="8138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312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1152" dirty="0"/>
          </a:p>
        </p:txBody>
      </p:sp>
      <p:sp>
        <p:nvSpPr>
          <p:cNvPr id="5" name="Text 1"/>
          <p:cNvSpPr/>
          <p:nvPr/>
        </p:nvSpPr>
        <p:spPr>
          <a:xfrm>
            <a:off x="548640" y="2852928"/>
            <a:ext cx="146304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B3E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52" dirty="0"/>
          </a:p>
        </p:txBody>
      </p:sp>
      <p:sp>
        <p:nvSpPr>
          <p:cNvPr id="6" name="Shape 2"/>
          <p:cNvSpPr/>
          <p:nvPr/>
        </p:nvSpPr>
        <p:spPr>
          <a:xfrm>
            <a:off x="2569464" y="884682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569464" y="948690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C3F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8" name="Text 4"/>
          <p:cNvSpPr/>
          <p:nvPr/>
        </p:nvSpPr>
        <p:spPr>
          <a:xfrm>
            <a:off x="3191256" y="829818"/>
            <a:ext cx="2185416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项目背景</a:t>
            </a:r>
            <a:endParaRPr lang="en-US" sz="1152" dirty="0"/>
          </a:p>
        </p:txBody>
      </p:sp>
      <p:sp>
        <p:nvSpPr>
          <p:cNvPr id="9" name="Shape 5"/>
          <p:cNvSpPr/>
          <p:nvPr/>
        </p:nvSpPr>
        <p:spPr>
          <a:xfrm>
            <a:off x="3191256" y="1689354"/>
            <a:ext cx="2185416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10" name="Shape 6"/>
          <p:cNvSpPr/>
          <p:nvPr/>
        </p:nvSpPr>
        <p:spPr>
          <a:xfrm>
            <a:off x="5614416" y="884682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614416" y="948690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C3F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2" name="Text 8"/>
          <p:cNvSpPr/>
          <p:nvPr/>
        </p:nvSpPr>
        <p:spPr>
          <a:xfrm>
            <a:off x="6236208" y="829818"/>
            <a:ext cx="2185416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建设目标</a:t>
            </a:r>
            <a:endParaRPr lang="en-US" sz="1152" dirty="0"/>
          </a:p>
        </p:txBody>
      </p:sp>
      <p:sp>
        <p:nvSpPr>
          <p:cNvPr id="13" name="Shape 9"/>
          <p:cNvSpPr/>
          <p:nvPr/>
        </p:nvSpPr>
        <p:spPr>
          <a:xfrm>
            <a:off x="6236208" y="1689354"/>
            <a:ext cx="2185416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14" name="Shape 10"/>
          <p:cNvSpPr/>
          <p:nvPr/>
        </p:nvSpPr>
        <p:spPr>
          <a:xfrm>
            <a:off x="2569464" y="206425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569464" y="2128266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C3F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16" name="Text 12"/>
          <p:cNvSpPr/>
          <p:nvPr/>
        </p:nvSpPr>
        <p:spPr>
          <a:xfrm>
            <a:off x="3191256" y="2009394"/>
            <a:ext cx="2185416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实施路径</a:t>
            </a:r>
            <a:endParaRPr lang="en-US" sz="1152" dirty="0"/>
          </a:p>
        </p:txBody>
      </p:sp>
      <p:sp>
        <p:nvSpPr>
          <p:cNvPr id="17" name="Shape 13"/>
          <p:cNvSpPr/>
          <p:nvPr/>
        </p:nvSpPr>
        <p:spPr>
          <a:xfrm>
            <a:off x="3191256" y="2868930"/>
            <a:ext cx="2185416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18" name="Shape 14"/>
          <p:cNvSpPr/>
          <p:nvPr/>
        </p:nvSpPr>
        <p:spPr>
          <a:xfrm>
            <a:off x="5614416" y="206425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614416" y="2128266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C3F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52" dirty="0"/>
          </a:p>
        </p:txBody>
      </p:sp>
      <p:sp>
        <p:nvSpPr>
          <p:cNvPr id="20" name="Text 16"/>
          <p:cNvSpPr/>
          <p:nvPr/>
        </p:nvSpPr>
        <p:spPr>
          <a:xfrm>
            <a:off x="6236208" y="2009394"/>
            <a:ext cx="2185416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协作安排</a:t>
            </a:r>
            <a:endParaRPr lang="en-US" sz="1152" dirty="0"/>
          </a:p>
        </p:txBody>
      </p:sp>
      <p:sp>
        <p:nvSpPr>
          <p:cNvPr id="21" name="Shape 17"/>
          <p:cNvSpPr/>
          <p:nvPr/>
        </p:nvSpPr>
        <p:spPr>
          <a:xfrm>
            <a:off x="6236208" y="2868930"/>
            <a:ext cx="2185416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22" name="Shape 18"/>
          <p:cNvSpPr/>
          <p:nvPr/>
        </p:nvSpPr>
        <p:spPr>
          <a:xfrm>
            <a:off x="2569464" y="3243834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569464" y="3307842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C3F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52" dirty="0"/>
          </a:p>
        </p:txBody>
      </p:sp>
      <p:sp>
        <p:nvSpPr>
          <p:cNvPr id="24" name="Text 20"/>
          <p:cNvSpPr/>
          <p:nvPr/>
        </p:nvSpPr>
        <p:spPr>
          <a:xfrm>
            <a:off x="3191256" y="3188970"/>
            <a:ext cx="2185416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阶段成果</a:t>
            </a:r>
            <a:endParaRPr lang="en-US" sz="1152" dirty="0"/>
          </a:p>
        </p:txBody>
      </p:sp>
      <p:sp>
        <p:nvSpPr>
          <p:cNvPr id="25" name="Shape 21"/>
          <p:cNvSpPr/>
          <p:nvPr/>
        </p:nvSpPr>
        <p:spPr>
          <a:xfrm>
            <a:off x="3191256" y="4048506"/>
            <a:ext cx="2185416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26" name="Shape 22"/>
          <p:cNvSpPr/>
          <p:nvPr/>
        </p:nvSpPr>
        <p:spPr>
          <a:xfrm>
            <a:off x="5614416" y="3243834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614416" y="3307842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C3F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52" dirty="0"/>
          </a:p>
        </p:txBody>
      </p:sp>
      <p:sp>
        <p:nvSpPr>
          <p:cNvPr id="28" name="Text 24"/>
          <p:cNvSpPr/>
          <p:nvPr/>
        </p:nvSpPr>
        <p:spPr>
          <a:xfrm>
            <a:off x="6236208" y="3188970"/>
            <a:ext cx="2185416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下一步计划</a:t>
            </a:r>
            <a:endParaRPr lang="en-US" sz="1152" dirty="0"/>
          </a:p>
        </p:txBody>
      </p:sp>
      <p:sp>
        <p:nvSpPr>
          <p:cNvPr id="29" name="Shape 25"/>
          <p:cNvSpPr/>
          <p:nvPr/>
        </p:nvSpPr>
        <p:spPr>
          <a:xfrm>
            <a:off x="6236208" y="4048506"/>
            <a:ext cx="2185416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4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1208" y="1453896"/>
            <a:ext cx="384048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4" name="Shape 1"/>
          <p:cNvSpPr/>
          <p:nvPr/>
        </p:nvSpPr>
        <p:spPr>
          <a:xfrm>
            <a:off x="521208" y="1453896"/>
            <a:ext cx="0" cy="384048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 flipH="1">
            <a:off x="2798064" y="1453896"/>
            <a:ext cx="384048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3182112" y="1453896"/>
            <a:ext cx="0" cy="384048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521208" y="3840480"/>
            <a:ext cx="384048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 flipV="1">
            <a:off x="521208" y="3456432"/>
            <a:ext cx="0" cy="384048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 flipH="1">
            <a:off x="2798064" y="3840480"/>
            <a:ext cx="384048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10" name="Shape 7"/>
          <p:cNvSpPr/>
          <p:nvPr/>
        </p:nvSpPr>
        <p:spPr>
          <a:xfrm flipV="1">
            <a:off x="3182112" y="3456432"/>
            <a:ext cx="0" cy="384048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11" name="Text 8"/>
          <p:cNvSpPr/>
          <p:nvPr/>
        </p:nvSpPr>
        <p:spPr>
          <a:xfrm>
            <a:off x="768096" y="1901952"/>
            <a:ext cx="2240280" cy="18562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784" b="1" dirty="0">
                <a:solidFill>
                  <a:srgbClr val="C3F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2" name="Text 9"/>
          <p:cNvSpPr/>
          <p:nvPr/>
        </p:nvSpPr>
        <p:spPr>
          <a:xfrm>
            <a:off x="3712464" y="1508760"/>
            <a:ext cx="4809744" cy="7040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736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从共同目标出发</a:t>
            </a:r>
            <a:endParaRPr lang="en-US" sz="1152" dirty="0"/>
          </a:p>
        </p:txBody>
      </p:sp>
      <p:sp>
        <p:nvSpPr>
          <p:cNvPr id="13" name="Text 10"/>
          <p:cNvSpPr/>
          <p:nvPr/>
        </p:nvSpPr>
        <p:spPr>
          <a:xfrm>
            <a:off x="3712464" y="2990088"/>
            <a:ext cx="4809744" cy="4709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dirty="0">
                <a:solidFill>
                  <a:srgbClr val="E8FF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将每一步行动落到具体任务，让项目进展清晰可见。</a:t>
            </a:r>
            <a:endParaRPr lang="en-US" sz="115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4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8119872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让想法清晰呈现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8119872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731520" y="1463040"/>
            <a:ext cx="7680960" cy="3108960"/>
          </a:xfrm>
          <a:custGeom>
            <a:avLst/>
            <a:gdLst/>
            <a:ahLst/>
            <a:cxnLst/>
            <a:rect l="l" t="t" r="r" b="b"/>
            <a:pathLst>
              <a:path w="7680960" h="3108960">
                <a:moveTo>
                  <a:pt x="0" y="0"/>
                </a:moveTo>
                <a:lnTo>
                  <a:pt x="7680960" y="0"/>
                </a:lnTo>
                <a:lnTo>
                  <a:pt x="7680960" y="3108960"/>
                </a:lnTo>
                <a:lnTo>
                  <a:pt x="0" y="3108960"/>
                </a:ln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32688" y="1664208"/>
            <a:ext cx="7278624" cy="5394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72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明确项目目标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932688" y="2322576"/>
            <a:ext cx="7278624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E8FF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围绕实际需求定义预期结果，明确本阶段需要解决的问题。</a:t>
            </a:r>
            <a:endParaRPr lang="en-US" sz="115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4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8119872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让想法清晰呈现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8119872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512064" y="1426464"/>
            <a:ext cx="3877056" cy="3108960"/>
          </a:xfrm>
          <a:custGeom>
            <a:avLst/>
            <a:gdLst/>
            <a:ahLst/>
            <a:cxnLst/>
            <a:rect l="l" t="t" r="r" b="b"/>
            <a:pathLst>
              <a:path w="3877056" h="3108960">
                <a:moveTo>
                  <a:pt x="0" y="0"/>
                </a:moveTo>
                <a:lnTo>
                  <a:pt x="3877056" y="0"/>
                </a:lnTo>
                <a:lnTo>
                  <a:pt x="3877056" y="3108960"/>
                </a:lnTo>
                <a:lnTo>
                  <a:pt x="0" y="3108960"/>
                </a:ln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" y="1627632"/>
            <a:ext cx="3474720" cy="4983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656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明确项目目标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713232" y="2286000"/>
            <a:ext cx="3474720" cy="7315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E8FF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围绕实际需求定义预期结果，明确本阶段需要解决的问题。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4754880" y="1426464"/>
            <a:ext cx="3877056" cy="3108960"/>
          </a:xfrm>
          <a:custGeom>
            <a:avLst/>
            <a:gdLst/>
            <a:ahLst/>
            <a:cxnLst/>
            <a:rect l="l" t="t" r="r" b="b"/>
            <a:pathLst>
              <a:path w="3877056" h="3108960">
                <a:moveTo>
                  <a:pt x="0" y="0"/>
                </a:moveTo>
                <a:lnTo>
                  <a:pt x="3877056" y="0"/>
                </a:lnTo>
                <a:lnTo>
                  <a:pt x="3877056" y="3108960"/>
                </a:lnTo>
                <a:lnTo>
                  <a:pt x="0" y="3108960"/>
                </a:ln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56048" y="1627632"/>
            <a:ext cx="3474720" cy="4983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656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梳理实施路径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4956048" y="2286000"/>
            <a:ext cx="3474720" cy="7315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E8FF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把目标拆解为可执行步骤，记录负责人、时间安排与交付物。</a:t>
            </a:r>
            <a:endParaRPr lang="en-US" sz="1152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4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8119872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让想法清晰呈现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8119872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512064" y="1444752"/>
            <a:ext cx="2560320" cy="3108960"/>
          </a:xfrm>
          <a:custGeom>
            <a:avLst/>
            <a:gdLst/>
            <a:ahLst/>
            <a:cxnLst/>
            <a:rect l="l" t="t" r="r" b="b"/>
            <a:pathLst>
              <a:path w="2560320" h="3108960">
                <a:moveTo>
                  <a:pt x="0" y="0"/>
                </a:moveTo>
                <a:lnTo>
                  <a:pt x="2560320" y="0"/>
                </a:lnTo>
                <a:lnTo>
                  <a:pt x="2560320" y="3108960"/>
                </a:lnTo>
                <a:lnTo>
                  <a:pt x="0" y="3108960"/>
                </a:ln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" y="1645920"/>
            <a:ext cx="2157984" cy="4983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656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明确项目目标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713232" y="2304288"/>
            <a:ext cx="2157984" cy="9235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E8FF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围绕实际需求定义预期结果，明确本阶段需要解决的问题。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3291840" y="1444752"/>
            <a:ext cx="2560320" cy="3108960"/>
          </a:xfrm>
          <a:custGeom>
            <a:avLst/>
            <a:gdLst/>
            <a:ahLst/>
            <a:cxnLst/>
            <a:rect l="l" t="t" r="r" b="b"/>
            <a:pathLst>
              <a:path w="2560320" h="3108960">
                <a:moveTo>
                  <a:pt x="0" y="0"/>
                </a:moveTo>
                <a:lnTo>
                  <a:pt x="2560320" y="0"/>
                </a:lnTo>
                <a:lnTo>
                  <a:pt x="2560320" y="3108960"/>
                </a:lnTo>
                <a:lnTo>
                  <a:pt x="0" y="3108960"/>
                </a:ln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93008" y="1645920"/>
            <a:ext cx="2157984" cy="4983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656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梳理实施路径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3493008" y="2304288"/>
            <a:ext cx="2157984" cy="9235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E8FF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把目标拆解为可执行步骤，记录负责人、时间安排与交付物。</a:t>
            </a:r>
            <a:endParaRPr lang="en-US" sz="1152" dirty="0"/>
          </a:p>
        </p:txBody>
      </p:sp>
      <p:sp>
        <p:nvSpPr>
          <p:cNvPr id="11" name="Shape 8"/>
          <p:cNvSpPr/>
          <p:nvPr/>
        </p:nvSpPr>
        <p:spPr>
          <a:xfrm>
            <a:off x="6071616" y="1444752"/>
            <a:ext cx="2560320" cy="3108960"/>
          </a:xfrm>
          <a:custGeom>
            <a:avLst/>
            <a:gdLst/>
            <a:ahLst/>
            <a:cxnLst/>
            <a:rect l="l" t="t" r="r" b="b"/>
            <a:pathLst>
              <a:path w="2560320" h="3108960">
                <a:moveTo>
                  <a:pt x="0" y="0"/>
                </a:moveTo>
                <a:lnTo>
                  <a:pt x="2560320" y="0"/>
                </a:lnTo>
                <a:lnTo>
                  <a:pt x="2560320" y="3108960"/>
                </a:lnTo>
                <a:lnTo>
                  <a:pt x="0" y="3108960"/>
                </a:ln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72784" y="1645920"/>
            <a:ext cx="2157984" cy="4983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656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建立协作机制</a:t>
            </a:r>
            <a:endParaRPr lang="en-US" sz="1152" dirty="0"/>
          </a:p>
        </p:txBody>
      </p:sp>
      <p:sp>
        <p:nvSpPr>
          <p:cNvPr id="13" name="Text 10"/>
          <p:cNvSpPr/>
          <p:nvPr/>
        </p:nvSpPr>
        <p:spPr>
          <a:xfrm>
            <a:off x="6272784" y="2304288"/>
            <a:ext cx="2157984" cy="9235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E8FF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同步信息与进展，及时处理依赖，让各方保持一致理解。</a:t>
            </a:r>
            <a:endParaRPr lang="en-US" sz="1152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4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8119872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让想法清晰呈现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8119872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512064" y="1316736"/>
            <a:ext cx="3877056" cy="1581912"/>
          </a:xfrm>
          <a:custGeom>
            <a:avLst/>
            <a:gdLst/>
            <a:ahLst/>
            <a:cxnLst/>
            <a:rect l="l" t="t" r="r" b="b"/>
            <a:pathLst>
              <a:path w="3877056" h="1581912">
                <a:moveTo>
                  <a:pt x="0" y="0"/>
                </a:moveTo>
                <a:lnTo>
                  <a:pt x="3877056" y="0"/>
                </a:lnTo>
                <a:lnTo>
                  <a:pt x="3877056" y="1581912"/>
                </a:lnTo>
                <a:lnTo>
                  <a:pt x="0" y="1581912"/>
                </a:ln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94944" y="1426464"/>
            <a:ext cx="3511296" cy="4709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明确项目目标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694944" y="1975104"/>
            <a:ext cx="3511296" cy="4297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E8FF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正文编辑验收：保留项目内容。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4754880" y="1316736"/>
            <a:ext cx="3877056" cy="1581912"/>
          </a:xfrm>
          <a:custGeom>
            <a:avLst/>
            <a:gdLst/>
            <a:ahLst/>
            <a:cxnLst/>
            <a:rect l="l" t="t" r="r" b="b"/>
            <a:pathLst>
              <a:path w="3877056" h="1581912">
                <a:moveTo>
                  <a:pt x="0" y="0"/>
                </a:moveTo>
                <a:lnTo>
                  <a:pt x="3877056" y="0"/>
                </a:lnTo>
                <a:lnTo>
                  <a:pt x="3877056" y="1581912"/>
                </a:lnTo>
                <a:lnTo>
                  <a:pt x="0" y="1581912"/>
                </a:ln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37760" y="1426464"/>
            <a:ext cx="3511296" cy="4709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梳理实施路径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4937760" y="1975104"/>
            <a:ext cx="3511296" cy="6766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E8FF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把目标拆解为可执行步骤，记录负责人、时间安排与交付物。</a:t>
            </a:r>
            <a:endParaRPr lang="en-US" sz="1152" dirty="0"/>
          </a:p>
        </p:txBody>
      </p:sp>
      <p:sp>
        <p:nvSpPr>
          <p:cNvPr id="11" name="Shape 8"/>
          <p:cNvSpPr/>
          <p:nvPr/>
        </p:nvSpPr>
        <p:spPr>
          <a:xfrm>
            <a:off x="512064" y="3044952"/>
            <a:ext cx="3877056" cy="1581912"/>
          </a:xfrm>
          <a:custGeom>
            <a:avLst/>
            <a:gdLst/>
            <a:ahLst/>
            <a:cxnLst/>
            <a:rect l="l" t="t" r="r" b="b"/>
            <a:pathLst>
              <a:path w="3877056" h="1581912">
                <a:moveTo>
                  <a:pt x="0" y="0"/>
                </a:moveTo>
                <a:lnTo>
                  <a:pt x="3877056" y="0"/>
                </a:lnTo>
                <a:lnTo>
                  <a:pt x="3877056" y="1581912"/>
                </a:lnTo>
                <a:lnTo>
                  <a:pt x="0" y="1581912"/>
                </a:ln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4944" y="3154680"/>
            <a:ext cx="3511296" cy="4709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建立协作机制</a:t>
            </a:r>
            <a:endParaRPr lang="en-US" sz="1152" dirty="0"/>
          </a:p>
        </p:txBody>
      </p:sp>
      <p:sp>
        <p:nvSpPr>
          <p:cNvPr id="13" name="Text 10"/>
          <p:cNvSpPr/>
          <p:nvPr/>
        </p:nvSpPr>
        <p:spPr>
          <a:xfrm>
            <a:off x="694944" y="3703320"/>
            <a:ext cx="3511296" cy="6766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E8FF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同步信息与进展，及时处理依赖，让各方保持一致理解。</a:t>
            </a:r>
            <a:endParaRPr lang="en-US" sz="1152" dirty="0"/>
          </a:p>
        </p:txBody>
      </p:sp>
      <p:sp>
        <p:nvSpPr>
          <p:cNvPr id="14" name="Shape 11"/>
          <p:cNvSpPr/>
          <p:nvPr/>
        </p:nvSpPr>
        <p:spPr>
          <a:xfrm>
            <a:off x="4754880" y="3044952"/>
            <a:ext cx="3877056" cy="1581912"/>
          </a:xfrm>
          <a:custGeom>
            <a:avLst/>
            <a:gdLst/>
            <a:ahLst/>
            <a:cxnLst/>
            <a:rect l="l" t="t" r="r" b="b"/>
            <a:pathLst>
              <a:path w="3877056" h="1581912">
                <a:moveTo>
                  <a:pt x="0" y="0"/>
                </a:moveTo>
                <a:lnTo>
                  <a:pt x="3877056" y="0"/>
                </a:lnTo>
                <a:lnTo>
                  <a:pt x="3877056" y="1581912"/>
                </a:lnTo>
                <a:lnTo>
                  <a:pt x="0" y="1581912"/>
                </a:ln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37760" y="3154680"/>
            <a:ext cx="3511296" cy="4709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验证实际成果</a:t>
            </a:r>
            <a:endParaRPr lang="en-US" sz="1152" dirty="0"/>
          </a:p>
        </p:txBody>
      </p:sp>
      <p:sp>
        <p:nvSpPr>
          <p:cNvPr id="16" name="Text 13"/>
          <p:cNvSpPr/>
          <p:nvPr/>
        </p:nvSpPr>
        <p:spPr>
          <a:xfrm>
            <a:off x="4937760" y="3703320"/>
            <a:ext cx="3511296" cy="6766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E8FF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结合实际使用场景检查成果，保留有效证据并修正问题。</a:t>
            </a:r>
            <a:endParaRPr lang="en-US" sz="1152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4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8119872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协作空间的设计与体验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8119872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19851" b="19851"/>
          <a:stretch/>
        </p:blipFill>
        <p:spPr>
          <a:xfrm>
            <a:off x="512064" y="1362456"/>
            <a:ext cx="3694176" cy="318211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645152" y="1591056"/>
            <a:ext cx="3986784" cy="5394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72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自然采光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4645152" y="2423160"/>
            <a:ext cx="3986784" cy="7315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E8FF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让自然光进入工作区域，营造明亮舒适的协作环境。</a:t>
            </a:r>
            <a:endParaRPr lang="en-US" sz="1152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4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8119872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协作空间的设计与体验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8119872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9368" r="9368" t="0" b="0"/>
          <a:stretch/>
        </p:blipFill>
        <p:spPr>
          <a:xfrm>
            <a:off x="4937760" y="1362456"/>
            <a:ext cx="3694176" cy="318211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12064" y="1591056"/>
            <a:ext cx="3986784" cy="5394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72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自然采光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512064" y="2423160"/>
            <a:ext cx="3986784" cy="7315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E8FF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让自然光进入工作区域，营造明亮舒适的协作环境。</a:t>
            </a:r>
            <a:endParaRPr lang="en-US" sz="1152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4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8119872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协作空间的设计与体验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8119872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16105" b="16105"/>
          <a:stretch/>
        </p:blipFill>
        <p:spPr>
          <a:xfrm>
            <a:off x="512064" y="1353312"/>
            <a:ext cx="3950208" cy="18745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12064" y="3364992"/>
            <a:ext cx="395020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自然采光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512064" y="3931920"/>
            <a:ext cx="3950208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8FF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让自然光进入工作区域，营造明亮舒适的协作环境。</a:t>
            </a:r>
            <a:endParaRPr lang="en-US" sz="1152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33391" b="33391"/>
          <a:stretch/>
        </p:blipFill>
        <p:spPr>
          <a:xfrm>
            <a:off x="4681728" y="1353312"/>
            <a:ext cx="3950208" cy="18745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681728" y="3364992"/>
            <a:ext cx="395020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共享空间</a:t>
            </a:r>
            <a:endParaRPr lang="en-US" sz="1152" dirty="0"/>
          </a:p>
        </p:txBody>
      </p:sp>
      <p:sp>
        <p:nvSpPr>
          <p:cNvPr id="10" name="Text 5"/>
          <p:cNvSpPr/>
          <p:nvPr/>
        </p:nvSpPr>
        <p:spPr>
          <a:xfrm>
            <a:off x="4681728" y="3931920"/>
            <a:ext cx="3950208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8FF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开放而有秩序的空间，让讨论与专注都能找到合适的位置。</a:t>
            </a:r>
            <a:endParaRPr lang="en-US" sz="1152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4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8119872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协作空间的设计与体验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8119872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3827" b="3827"/>
          <a:stretch/>
        </p:blipFill>
        <p:spPr>
          <a:xfrm>
            <a:off x="512064" y="1353312"/>
            <a:ext cx="2560320" cy="165506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12064" y="3145536"/>
            <a:ext cx="256032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自然采光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512064" y="3712464"/>
            <a:ext cx="256032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8FF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让自然光进入工作区域，营造明亮舒适的协作环境。</a:t>
            </a:r>
            <a:endParaRPr lang="en-US" sz="1152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27375" b="27375"/>
          <a:stretch/>
        </p:blipFill>
        <p:spPr>
          <a:xfrm>
            <a:off x="3291840" y="1353312"/>
            <a:ext cx="2560320" cy="165506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291840" y="3145536"/>
            <a:ext cx="256032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共享空间</a:t>
            </a:r>
            <a:endParaRPr lang="en-US" sz="1152" dirty="0"/>
          </a:p>
        </p:txBody>
      </p:sp>
      <p:sp>
        <p:nvSpPr>
          <p:cNvPr id="10" name="Text 5"/>
          <p:cNvSpPr/>
          <p:nvPr/>
        </p:nvSpPr>
        <p:spPr>
          <a:xfrm>
            <a:off x="3291840" y="3712464"/>
            <a:ext cx="256032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8FF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开放而有秩序的空间，让讨论与专注都能找到合适的位置。</a:t>
            </a:r>
            <a:endParaRPr lang="en-US" sz="1152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17679" b="17679"/>
          <a:stretch/>
        </p:blipFill>
        <p:spPr>
          <a:xfrm>
            <a:off x="6071616" y="1353312"/>
            <a:ext cx="2560320" cy="165506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071616" y="3145536"/>
            <a:ext cx="256032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舒适材料</a:t>
            </a:r>
            <a:endParaRPr lang="en-US" sz="1152" dirty="0"/>
          </a:p>
        </p:txBody>
      </p:sp>
      <p:sp>
        <p:nvSpPr>
          <p:cNvPr id="13" name="Text 7"/>
          <p:cNvSpPr/>
          <p:nvPr/>
        </p:nvSpPr>
        <p:spPr>
          <a:xfrm>
            <a:off x="6071616" y="3712464"/>
            <a:ext cx="256032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8FF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木质材料与柔和织物，形成温暖而平静的日常体验。</a:t>
            </a:r>
            <a:endParaRPr lang="en-US" sz="1152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4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8119872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协作空间的设计与体验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8119872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3026" r="3026" t="0" b="0"/>
          <a:stretch/>
        </p:blipFill>
        <p:spPr>
          <a:xfrm>
            <a:off x="512064" y="1353312"/>
            <a:ext cx="1865376" cy="13898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12064" y="2880360"/>
            <a:ext cx="1865376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自然采光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512064" y="3447288"/>
            <a:ext cx="1865376" cy="8412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8FF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让自然光进入工作区域，营造明亮舒适的协作环境。</a:t>
            </a:r>
            <a:endParaRPr lang="en-US" sz="1152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23922" b="23922"/>
          <a:stretch/>
        </p:blipFill>
        <p:spPr>
          <a:xfrm>
            <a:off x="2596896" y="1353312"/>
            <a:ext cx="1865376" cy="13898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596896" y="2880360"/>
            <a:ext cx="1865376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共享空间</a:t>
            </a:r>
            <a:endParaRPr lang="en-US" sz="1152" dirty="0"/>
          </a:p>
        </p:txBody>
      </p:sp>
      <p:sp>
        <p:nvSpPr>
          <p:cNvPr id="10" name="Text 5"/>
          <p:cNvSpPr/>
          <p:nvPr/>
        </p:nvSpPr>
        <p:spPr>
          <a:xfrm>
            <a:off x="2596896" y="3447288"/>
            <a:ext cx="1865376" cy="8412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8FF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开放而有秩序的空间，让讨论与专注都能找到合适的位置。</a:t>
            </a:r>
            <a:endParaRPr lang="en-US" sz="1152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12745" b="12745"/>
          <a:stretch/>
        </p:blipFill>
        <p:spPr>
          <a:xfrm>
            <a:off x="4681728" y="1353312"/>
            <a:ext cx="1865376" cy="138988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681728" y="2880360"/>
            <a:ext cx="1865376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舒适材料</a:t>
            </a:r>
            <a:endParaRPr lang="en-US" sz="1152" dirty="0"/>
          </a:p>
        </p:txBody>
      </p:sp>
      <p:sp>
        <p:nvSpPr>
          <p:cNvPr id="13" name="Text 7"/>
          <p:cNvSpPr/>
          <p:nvPr/>
        </p:nvSpPr>
        <p:spPr>
          <a:xfrm>
            <a:off x="4681728" y="3447288"/>
            <a:ext cx="1865376" cy="8412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8FF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木质材料与柔和织物，形成温暖而平静的日常体验。</a:t>
            </a:r>
            <a:endParaRPr lang="en-US" sz="1152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16447" r="16447" t="0" b="0"/>
          <a:stretch/>
        </p:blipFill>
        <p:spPr>
          <a:xfrm>
            <a:off x="6766560" y="1353312"/>
            <a:ext cx="1865376" cy="138988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766560" y="2880360"/>
            <a:ext cx="1865376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细节体验</a:t>
            </a:r>
            <a:endParaRPr lang="en-US" sz="1152" dirty="0"/>
          </a:p>
        </p:txBody>
      </p:sp>
      <p:sp>
        <p:nvSpPr>
          <p:cNvPr id="16" name="Text 9"/>
          <p:cNvSpPr/>
          <p:nvPr/>
        </p:nvSpPr>
        <p:spPr>
          <a:xfrm>
            <a:off x="6766560" y="3447288"/>
            <a:ext cx="1865376" cy="8412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8FF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从座位、动线和交流距离入手，让空间真正服务于人。</a:t>
            </a:r>
            <a:endParaRPr lang="en-US" sz="1152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4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31520" y="1271016"/>
            <a:ext cx="384048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5" name="Shape 1"/>
          <p:cNvSpPr/>
          <p:nvPr/>
        </p:nvSpPr>
        <p:spPr>
          <a:xfrm>
            <a:off x="731520" y="1271016"/>
            <a:ext cx="0" cy="384048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6" name="Shape 2"/>
          <p:cNvSpPr/>
          <p:nvPr/>
        </p:nvSpPr>
        <p:spPr>
          <a:xfrm flipH="1">
            <a:off x="8028432" y="1271016"/>
            <a:ext cx="384048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8412480" y="1271016"/>
            <a:ext cx="0" cy="384048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731520" y="3941064"/>
            <a:ext cx="384048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 flipV="1">
            <a:off x="731520" y="3557016"/>
            <a:ext cx="0" cy="384048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10" name="Shape 6"/>
          <p:cNvSpPr/>
          <p:nvPr/>
        </p:nvSpPr>
        <p:spPr>
          <a:xfrm flipH="1">
            <a:off x="8028432" y="3941064"/>
            <a:ext cx="384048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11" name="Shape 7"/>
          <p:cNvSpPr/>
          <p:nvPr/>
        </p:nvSpPr>
        <p:spPr>
          <a:xfrm flipV="1">
            <a:off x="8412480" y="3557016"/>
            <a:ext cx="0" cy="384048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12" name="Text 8"/>
          <p:cNvSpPr/>
          <p:nvPr/>
        </p:nvSpPr>
        <p:spPr>
          <a:xfrm>
            <a:off x="1280160" y="1810512"/>
            <a:ext cx="6583680" cy="8138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312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感谢您的关注</a:t>
            </a:r>
            <a:endParaRPr lang="en-US" sz="1152" dirty="0"/>
          </a:p>
        </p:txBody>
      </p:sp>
      <p:sp>
        <p:nvSpPr>
          <p:cNvPr id="13" name="Text 9"/>
          <p:cNvSpPr/>
          <p:nvPr/>
        </p:nvSpPr>
        <p:spPr>
          <a:xfrm>
            <a:off x="1645920" y="3163824"/>
            <a:ext cx="5852160" cy="4983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656" dirty="0">
                <a:solidFill>
                  <a:srgbClr val="E8FF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项目组期待与您共同推进下一阶段工作</a:t>
            </a:r>
            <a:endParaRPr lang="en-US" sz="115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2026-09-23T06:44:05Z</dcterms:created>
  <dcterms:modified xsi:type="dcterms:W3CDTF">2026-09-23T06:44:05Z</dcterms:modified>
</cp:coreProperties>
</file>