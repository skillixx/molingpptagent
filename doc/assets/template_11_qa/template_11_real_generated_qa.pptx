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8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8F8F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0"/>
            <a:ext cx="2926080" cy="29260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0"/>
            <a:ext cx="3840480" cy="1069848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125980"/>
            <a:ext cx="3017520" cy="301752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574036"/>
            <a:ext cx="2240280" cy="224028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713232" y="1371600"/>
            <a:ext cx="2743200" cy="40619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86B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 CREATIVE</a:t>
            </a:r>
            <a:endParaRPr lang="en-US" sz="1152" dirty="0"/>
          </a:p>
        </p:txBody>
      </p:sp>
      <p:sp>
        <p:nvSpPr>
          <p:cNvPr id="9" name="Text 2"/>
          <p:cNvSpPr/>
          <p:nvPr/>
        </p:nvSpPr>
        <p:spPr>
          <a:xfrm>
            <a:off x="694944" y="1737360"/>
            <a:ext cx="5943600" cy="8686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600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蓝金流体创意年度策略</a:t>
            </a:r>
            <a:endParaRPr lang="en-US" sz="1152" dirty="0"/>
          </a:p>
        </p:txBody>
      </p:sp>
      <p:sp>
        <p:nvSpPr>
          <p:cNvPr id="10" name="Shape 3"/>
          <p:cNvSpPr/>
          <p:nvPr/>
        </p:nvSpPr>
        <p:spPr>
          <a:xfrm>
            <a:off x="713232" y="3090672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 h="0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/>
          <a:ln w="36576">
            <a:solidFill>
              <a:srgbClr val="28688A"/>
            </a:solidFill>
            <a:prstDash val="solid"/>
            <a:headEnd type="none"/>
            <a:tailEnd type="none"/>
          </a:ln>
        </p:spPr>
      </p:sp>
      <p:sp>
        <p:nvSpPr>
          <p:cNvPr id="11" name="Shape 4"/>
          <p:cNvSpPr/>
          <p:nvPr/>
        </p:nvSpPr>
        <p:spPr>
          <a:xfrm>
            <a:off x="2084832" y="3090672"/>
            <a:ext cx="731520" cy="0"/>
          </a:xfrm>
          <a:custGeom>
            <a:avLst/>
            <a:gdLst/>
            <a:ahLst/>
            <a:cxnLst/>
            <a:rect l="l" t="t" r="r" b="b"/>
            <a:pathLst>
              <a:path w="731520" h="0">
                <a:moveTo>
                  <a:pt x="0" y="0"/>
                </a:moveTo>
                <a:lnTo>
                  <a:pt x="731520" y="0"/>
                </a:lnTo>
              </a:path>
            </a:pathLst>
          </a:custGeom>
          <a:noFill/>
          <a:ln w="36576">
            <a:solidFill>
              <a:srgbClr val="C8C2A4"/>
            </a:solidFill>
            <a:prstDash val="solid"/>
            <a:headEnd type="none"/>
            <a:tailEnd type="none"/>
          </a:ln>
        </p:spPr>
      </p:sp>
      <p:sp>
        <p:nvSpPr>
          <p:cNvPr id="12" name="Text 5"/>
          <p:cNvSpPr/>
          <p:nvPr/>
        </p:nvSpPr>
        <p:spPr>
          <a:xfrm>
            <a:off x="713232" y="3291840"/>
            <a:ext cx="512064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6274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以动态视觉驱动品牌增长，赋能企业年度创意传播全案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8F8F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0"/>
            <a:ext cx="2240280" cy="22402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537460"/>
            <a:ext cx="2606040" cy="260604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85216" y="329184"/>
            <a:ext cx="274320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286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NAVIGATION</a:t>
            </a:r>
            <a:endParaRPr lang="en-US" sz="1152" dirty="0"/>
          </a:p>
        </p:txBody>
      </p:sp>
      <p:sp>
        <p:nvSpPr>
          <p:cNvPr id="7" name="Text 2"/>
          <p:cNvSpPr/>
          <p:nvPr/>
        </p:nvSpPr>
        <p:spPr>
          <a:xfrm>
            <a:off x="585216" y="594360"/>
            <a:ext cx="3657600" cy="7589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8" name="Shape 3"/>
          <p:cNvSpPr/>
          <p:nvPr/>
        </p:nvSpPr>
        <p:spPr>
          <a:xfrm>
            <a:off x="585216" y="1252728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 h="0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/>
          <a:ln w="36576">
            <a:solidFill>
              <a:srgbClr val="28688A"/>
            </a:solidFill>
            <a:prstDash val="solid"/>
            <a:headEnd type="none"/>
            <a:tailEnd type="none"/>
          </a:ln>
        </p:spPr>
      </p:sp>
      <p:sp>
        <p:nvSpPr>
          <p:cNvPr id="9" name="Shape 4"/>
          <p:cNvSpPr/>
          <p:nvPr/>
        </p:nvSpPr>
        <p:spPr>
          <a:xfrm>
            <a:off x="475488" y="1828800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512064" h="512064">
                <a:moveTo>
                  <a:pt x="256032" y="0"/>
                </a:moveTo>
                <a:cubicBezTo>
                  <a:pt x="397340" y="0"/>
                  <a:pt x="512064" y="114724"/>
                  <a:pt x="512064" y="256032"/>
                </a:cubicBezTo>
                <a:cubicBezTo>
                  <a:pt x="512064" y="397340"/>
                  <a:pt x="397340" y="512064"/>
                  <a:pt x="256032" y="512064"/>
                </a:cubicBezTo>
                <a:cubicBezTo>
                  <a:pt x="114724" y="512064"/>
                  <a:pt x="0" y="397340"/>
                  <a:pt x="0" y="256032"/>
                </a:cubicBezTo>
                <a:cubicBezTo>
                  <a:pt x="0" y="114724"/>
                  <a:pt x="114724" y="0"/>
                  <a:pt x="256032" y="0"/>
                </a:cubicBezTo>
                <a:close/>
              </a:path>
            </a:pathLst>
          </a:custGeom>
          <a:solidFill>
            <a:srgbClr val="F5F2DF"/>
          </a:solidFill>
          <a:ln w="18288">
            <a:solidFill>
              <a:srgbClr val="28688A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475488" y="1901952"/>
            <a:ext cx="512064" cy="44019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86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1" name="Text 6"/>
          <p:cNvSpPr/>
          <p:nvPr/>
        </p:nvSpPr>
        <p:spPr>
          <a:xfrm>
            <a:off x="1170432" y="1865376"/>
            <a:ext cx="1865376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市场洞察</a:t>
            </a:r>
            <a:endParaRPr lang="en-US" sz="1152" dirty="0"/>
          </a:p>
        </p:txBody>
      </p:sp>
      <p:sp>
        <p:nvSpPr>
          <p:cNvPr id="12" name="Shape 7"/>
          <p:cNvSpPr/>
          <p:nvPr/>
        </p:nvSpPr>
        <p:spPr>
          <a:xfrm>
            <a:off x="3291840" y="1828800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512064" h="512064">
                <a:moveTo>
                  <a:pt x="256032" y="0"/>
                </a:moveTo>
                <a:cubicBezTo>
                  <a:pt x="397340" y="0"/>
                  <a:pt x="512064" y="114724"/>
                  <a:pt x="512064" y="256032"/>
                </a:cubicBezTo>
                <a:cubicBezTo>
                  <a:pt x="512064" y="397340"/>
                  <a:pt x="397340" y="512064"/>
                  <a:pt x="256032" y="512064"/>
                </a:cubicBezTo>
                <a:cubicBezTo>
                  <a:pt x="114724" y="512064"/>
                  <a:pt x="0" y="397340"/>
                  <a:pt x="0" y="256032"/>
                </a:cubicBezTo>
                <a:cubicBezTo>
                  <a:pt x="0" y="114724"/>
                  <a:pt x="114724" y="0"/>
                  <a:pt x="256032" y="0"/>
                </a:cubicBezTo>
                <a:close/>
              </a:path>
            </a:pathLst>
          </a:custGeom>
          <a:solidFill>
            <a:srgbClr val="F5F2DF"/>
          </a:solidFill>
          <a:ln w="18288">
            <a:solidFill>
              <a:srgbClr val="86B5C4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291840" y="1901952"/>
            <a:ext cx="512064" cy="44019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86B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4" name="Text 9"/>
          <p:cNvSpPr/>
          <p:nvPr/>
        </p:nvSpPr>
        <p:spPr>
          <a:xfrm>
            <a:off x="3986784" y="1865376"/>
            <a:ext cx="1865376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产品策略</a:t>
            </a:r>
            <a:endParaRPr lang="en-US" sz="1152" dirty="0"/>
          </a:p>
        </p:txBody>
      </p:sp>
      <p:sp>
        <p:nvSpPr>
          <p:cNvPr id="15" name="Shape 10"/>
          <p:cNvSpPr/>
          <p:nvPr/>
        </p:nvSpPr>
        <p:spPr>
          <a:xfrm>
            <a:off x="6108192" y="1828800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512064" h="512064">
                <a:moveTo>
                  <a:pt x="256032" y="0"/>
                </a:moveTo>
                <a:cubicBezTo>
                  <a:pt x="397340" y="0"/>
                  <a:pt x="512064" y="114724"/>
                  <a:pt x="512064" y="256032"/>
                </a:cubicBezTo>
                <a:cubicBezTo>
                  <a:pt x="512064" y="397340"/>
                  <a:pt x="397340" y="512064"/>
                  <a:pt x="256032" y="512064"/>
                </a:cubicBezTo>
                <a:cubicBezTo>
                  <a:pt x="114724" y="512064"/>
                  <a:pt x="0" y="397340"/>
                  <a:pt x="0" y="256032"/>
                </a:cubicBezTo>
                <a:cubicBezTo>
                  <a:pt x="0" y="114724"/>
                  <a:pt x="114724" y="0"/>
                  <a:pt x="256032" y="0"/>
                </a:cubicBezTo>
                <a:close/>
              </a:path>
            </a:pathLst>
          </a:custGeom>
          <a:solidFill>
            <a:srgbClr val="F5F2DF"/>
          </a:solidFill>
          <a:ln w="18288">
            <a:solidFill>
              <a:srgbClr val="C8C2A4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108192" y="1901952"/>
            <a:ext cx="512064" cy="44019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C8C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7" name="Text 12"/>
          <p:cNvSpPr/>
          <p:nvPr/>
        </p:nvSpPr>
        <p:spPr>
          <a:xfrm>
            <a:off x="6803136" y="1865376"/>
            <a:ext cx="1865376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落地路径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042416"/>
            <a:ext cx="1828800" cy="40619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286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603504" y="1280160"/>
            <a:ext cx="1645920" cy="15139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6768" b="1" dirty="0">
                <a:solidFill>
                  <a:srgbClr val="286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6" name="Text 2"/>
          <p:cNvSpPr/>
          <p:nvPr/>
        </p:nvSpPr>
        <p:spPr>
          <a:xfrm>
            <a:off x="640080" y="2468880"/>
            <a:ext cx="4846320" cy="7589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市场洞察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676656" y="3657600"/>
            <a:ext cx="4572000" cy="9646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dirty="0">
                <a:solidFill>
                  <a:srgbClr val="6274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洞察市场趋势，看清行业方向。本章剖析关键数据与用户需求，助您把握先机、制定有效策略，获得可落地的洞察启示。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8F8F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2537460"/>
            <a:ext cx="2606040" cy="26060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85216" y="310896"/>
            <a:ext cx="256032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286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· FLOW · INSIGHT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85216" y="585216"/>
            <a:ext cx="7406640" cy="7040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需求变化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28688A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86B5C4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585216" y="1517904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5F2D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664208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28688A"/>
          </a:solidFill>
          <a:ln/>
        </p:spPr>
      </p:sp>
      <p:sp>
        <p:nvSpPr>
          <p:cNvPr id="12" name="Text 8"/>
          <p:cNvSpPr/>
          <p:nvPr/>
        </p:nvSpPr>
        <p:spPr>
          <a:xfrm>
            <a:off x="749808" y="1682496"/>
            <a:ext cx="457200" cy="36247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3" name="Text 9"/>
          <p:cNvSpPr/>
          <p:nvPr/>
        </p:nvSpPr>
        <p:spPr>
          <a:xfrm>
            <a:off x="1335024" y="1655064"/>
            <a:ext cx="292608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需求变化驱动因素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804672" y="2267712"/>
            <a:ext cx="3401568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274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技术迭代、政策导向与消费升级共同推动需求持续演进，企业需动态捕捉变化信号。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4718304" y="1517904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5F2D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82896" y="1664208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86B5C4"/>
          </a:solidFill>
          <a:ln/>
        </p:spPr>
      </p:sp>
      <p:sp>
        <p:nvSpPr>
          <p:cNvPr id="17" name="Text 13"/>
          <p:cNvSpPr/>
          <p:nvPr/>
        </p:nvSpPr>
        <p:spPr>
          <a:xfrm>
            <a:off x="4882896" y="1682496"/>
            <a:ext cx="457200" cy="36247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8" name="Text 14"/>
          <p:cNvSpPr/>
          <p:nvPr/>
        </p:nvSpPr>
        <p:spPr>
          <a:xfrm>
            <a:off x="5468112" y="1655064"/>
            <a:ext cx="292608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应对方向</a:t>
            </a:r>
            <a:endParaRPr lang="en-US" sz="1152" dirty="0"/>
          </a:p>
        </p:txBody>
      </p:sp>
      <p:sp>
        <p:nvSpPr>
          <p:cNvPr id="19" name="Text 15"/>
          <p:cNvSpPr/>
          <p:nvPr/>
        </p:nvSpPr>
        <p:spPr>
          <a:xfrm>
            <a:off x="4937760" y="2267712"/>
            <a:ext cx="3401568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274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建立常态化市场监测与客户反馈闭环，将变化趋势转化为迭代计划与资源配置指引。</a:t>
            </a:r>
            <a:endParaRPr lang="en-US" sz="1152" dirty="0"/>
          </a:p>
        </p:txBody>
      </p:sp>
      <p:sp>
        <p:nvSpPr>
          <p:cNvPr id="20" name="Shape 16"/>
          <p:cNvSpPr/>
          <p:nvPr/>
        </p:nvSpPr>
        <p:spPr>
          <a:xfrm>
            <a:off x="585216" y="3236976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5F2D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49808" y="338328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C8C2A4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3401568"/>
            <a:ext cx="457200" cy="36247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23" name="Text 19"/>
          <p:cNvSpPr/>
          <p:nvPr/>
        </p:nvSpPr>
        <p:spPr>
          <a:xfrm>
            <a:off x="1335024" y="3374136"/>
            <a:ext cx="292608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战略影响</a:t>
            </a:r>
            <a:endParaRPr lang="en-US" sz="1152" dirty="0"/>
          </a:p>
        </p:txBody>
      </p:sp>
      <p:sp>
        <p:nvSpPr>
          <p:cNvPr id="24" name="Text 20"/>
          <p:cNvSpPr/>
          <p:nvPr/>
        </p:nvSpPr>
        <p:spPr>
          <a:xfrm>
            <a:off x="804672" y="3986784"/>
            <a:ext cx="3401568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274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需求变化重塑产品定位与竞争格局，及时响应可帮助企业构建差异化优势。</a:t>
            </a:r>
            <a:endParaRPr lang="en-US" sz="1152" dirty="0"/>
          </a:p>
        </p:txBody>
      </p:sp>
      <p:sp>
        <p:nvSpPr>
          <p:cNvPr id="25" name="Shape 21"/>
          <p:cNvSpPr/>
          <p:nvPr/>
        </p:nvSpPr>
        <p:spPr>
          <a:xfrm>
            <a:off x="4718304" y="3236976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5F2D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882896" y="338328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28688A"/>
          </a:solidFill>
          <a:ln/>
        </p:spPr>
      </p:sp>
      <p:sp>
        <p:nvSpPr>
          <p:cNvPr id="27" name="Text 23"/>
          <p:cNvSpPr/>
          <p:nvPr/>
        </p:nvSpPr>
        <p:spPr>
          <a:xfrm>
            <a:off x="4882896" y="3401568"/>
            <a:ext cx="457200" cy="36247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8" name="Text 24"/>
          <p:cNvSpPr/>
          <p:nvPr/>
        </p:nvSpPr>
        <p:spPr>
          <a:xfrm>
            <a:off x="5468112" y="3374136"/>
            <a:ext cx="292608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数据说明</a:t>
            </a:r>
            <a:endParaRPr lang="en-US" sz="1152" dirty="0"/>
          </a:p>
        </p:txBody>
      </p:sp>
      <p:sp>
        <p:nvSpPr>
          <p:cNvPr id="29" name="Text 25"/>
          <p:cNvSpPr/>
          <p:nvPr/>
        </p:nvSpPr>
        <p:spPr>
          <a:xfrm>
            <a:off x="4937760" y="3986784"/>
            <a:ext cx="3401568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274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未检索到可引用的数据，故不新增图表。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8F8F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0"/>
            <a:ext cx="3840480" cy="106984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537460"/>
            <a:ext cx="2606040" cy="260604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7" name="Text 2"/>
          <p:cNvSpPr/>
          <p:nvPr/>
        </p:nvSpPr>
        <p:spPr>
          <a:xfrm>
            <a:off x="585216" y="310896"/>
            <a:ext cx="256032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286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· FLOW · INSIGHT</a:t>
            </a:r>
            <a:endParaRPr lang="en-US" sz="1152" dirty="0"/>
          </a:p>
        </p:txBody>
      </p:sp>
      <p:sp>
        <p:nvSpPr>
          <p:cNvPr id="8" name="Text 3"/>
          <p:cNvSpPr/>
          <p:nvPr/>
        </p:nvSpPr>
        <p:spPr>
          <a:xfrm>
            <a:off x="585216" y="585216"/>
            <a:ext cx="7406640" cy="7040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机会识别</a:t>
            </a:r>
            <a:endParaRPr lang="en-US" sz="1152" dirty="0"/>
          </a:p>
        </p:txBody>
      </p:sp>
      <p:sp>
        <p:nvSpPr>
          <p:cNvPr id="9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28688A"/>
            </a:solidFill>
            <a:prstDash val="solid"/>
            <a:headEnd type="none"/>
            <a:tailEnd type="none"/>
          </a:ln>
        </p:spPr>
      </p:sp>
      <p:sp>
        <p:nvSpPr>
          <p:cNvPr id="10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86B5C4"/>
            </a:solidFill>
            <a:prstDash val="solid"/>
            <a:headEnd type="none"/>
            <a:tailEnd type="none"/>
          </a:ln>
        </p:spPr>
      </p:sp>
      <p:sp>
        <p:nvSpPr>
          <p:cNvPr id="11" name="Shape 6"/>
          <p:cNvSpPr/>
          <p:nvPr/>
        </p:nvSpPr>
        <p:spPr>
          <a:xfrm>
            <a:off x="2075688" y="2368296"/>
            <a:ext cx="713232" cy="0"/>
          </a:xfrm>
          <a:custGeom>
            <a:avLst/>
            <a:gdLst/>
            <a:ahLst/>
            <a:cxnLst/>
            <a:rect l="l" t="t" r="r" b="b"/>
            <a:pathLst>
              <a:path w="713232" h="0">
                <a:moveTo>
                  <a:pt x="0" y="0"/>
                </a:moveTo>
                <a:lnTo>
                  <a:pt x="713232" y="0"/>
                </a:lnTo>
              </a:path>
            </a:pathLst>
          </a:custGeom>
          <a:noFill/>
          <a:ln w="45720">
            <a:solidFill>
              <a:srgbClr val="F5F2DF"/>
            </a:solidFill>
            <a:prstDash val="solid"/>
            <a:headEnd type="none"/>
            <a:tailEnd type="none"/>
          </a:ln>
        </p:spPr>
      </p:sp>
      <p:sp>
        <p:nvSpPr>
          <p:cNvPr id="12" name="Shape 7"/>
          <p:cNvSpPr/>
          <p:nvPr/>
        </p:nvSpPr>
        <p:spPr>
          <a:xfrm>
            <a:off x="987552" y="1874520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0"/>
                </a:moveTo>
                <a:cubicBezTo>
                  <a:pt x="766298" y="0"/>
                  <a:pt x="987552" y="221254"/>
                  <a:pt x="987552" y="493776"/>
                </a:cubicBezTo>
                <a:cubicBezTo>
                  <a:pt x="987552" y="766298"/>
                  <a:pt x="766298" y="987552"/>
                  <a:pt x="493776" y="987552"/>
                </a:cubicBezTo>
                <a:cubicBezTo>
                  <a:pt x="221254" y="987552"/>
                  <a:pt x="0" y="766298"/>
                  <a:pt x="0" y="493776"/>
                </a:cubicBezTo>
                <a:cubicBezTo>
                  <a:pt x="0" y="221254"/>
                  <a:pt x="221254" y="0"/>
                  <a:pt x="493776" y="0"/>
                </a:cubicBezTo>
                <a:close/>
              </a:path>
            </a:pathLst>
          </a:custGeom>
          <a:solidFill>
            <a:srgbClr val="FFFFFF"/>
          </a:solidFill>
          <a:ln w="36576">
            <a:solidFill>
              <a:srgbClr val="28688A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987552" y="2157984"/>
            <a:ext cx="987552" cy="55506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72" b="1" dirty="0">
                <a:solidFill>
                  <a:srgbClr val="286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4" name="Text 9"/>
          <p:cNvSpPr/>
          <p:nvPr/>
        </p:nvSpPr>
        <p:spPr>
          <a:xfrm>
            <a:off x="502920" y="3017520"/>
            <a:ext cx="19568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市场趋势洞察</a:t>
            </a:r>
            <a:endParaRPr lang="en-US" sz="1152" dirty="0"/>
          </a:p>
        </p:txBody>
      </p:sp>
      <p:sp>
        <p:nvSpPr>
          <p:cNvPr id="15" name="Text 10"/>
          <p:cNvSpPr/>
          <p:nvPr/>
        </p:nvSpPr>
        <p:spPr>
          <a:xfrm>
            <a:off x="548640" y="3630168"/>
            <a:ext cx="1865376" cy="10607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274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聚焦产业政策与消费升级趋势，识别高增长赛道，通过多维交叉验证锁定规模化市场方向。</a:t>
            </a:r>
            <a:endParaRPr lang="en-US" sz="1152" dirty="0"/>
          </a:p>
        </p:txBody>
      </p:sp>
      <p:sp>
        <p:nvSpPr>
          <p:cNvPr id="16" name="Shape 11"/>
          <p:cNvSpPr/>
          <p:nvPr/>
        </p:nvSpPr>
        <p:spPr>
          <a:xfrm>
            <a:off x="4206240" y="2368296"/>
            <a:ext cx="713232" cy="0"/>
          </a:xfrm>
          <a:custGeom>
            <a:avLst/>
            <a:gdLst/>
            <a:ahLst/>
            <a:cxnLst/>
            <a:rect l="l" t="t" r="r" b="b"/>
            <a:pathLst>
              <a:path w="713232" h="0">
                <a:moveTo>
                  <a:pt x="0" y="0"/>
                </a:moveTo>
                <a:lnTo>
                  <a:pt x="713232" y="0"/>
                </a:lnTo>
              </a:path>
            </a:pathLst>
          </a:custGeom>
          <a:noFill/>
          <a:ln w="45720">
            <a:solidFill>
              <a:srgbClr val="F5F2DF"/>
            </a:solidFill>
            <a:prstDash val="solid"/>
            <a:headEnd type="none"/>
            <a:tailEnd type="none"/>
          </a:ln>
        </p:spPr>
      </p:sp>
      <p:sp>
        <p:nvSpPr>
          <p:cNvPr id="17" name="Shape 12"/>
          <p:cNvSpPr/>
          <p:nvPr/>
        </p:nvSpPr>
        <p:spPr>
          <a:xfrm>
            <a:off x="3118104" y="1874520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0"/>
                </a:moveTo>
                <a:cubicBezTo>
                  <a:pt x="766298" y="0"/>
                  <a:pt x="987552" y="221254"/>
                  <a:pt x="987552" y="493776"/>
                </a:cubicBezTo>
                <a:cubicBezTo>
                  <a:pt x="987552" y="766298"/>
                  <a:pt x="766298" y="987552"/>
                  <a:pt x="493776" y="987552"/>
                </a:cubicBezTo>
                <a:cubicBezTo>
                  <a:pt x="221254" y="987552"/>
                  <a:pt x="0" y="766298"/>
                  <a:pt x="0" y="493776"/>
                </a:cubicBezTo>
                <a:cubicBezTo>
                  <a:pt x="0" y="221254"/>
                  <a:pt x="221254" y="0"/>
                  <a:pt x="493776" y="0"/>
                </a:cubicBezTo>
                <a:close/>
              </a:path>
            </a:pathLst>
          </a:custGeom>
          <a:solidFill>
            <a:srgbClr val="FFFFFF"/>
          </a:solidFill>
          <a:ln w="36576">
            <a:solidFill>
              <a:srgbClr val="86B5C4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118104" y="2157984"/>
            <a:ext cx="987552" cy="55506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72" b="1" dirty="0">
                <a:solidFill>
                  <a:srgbClr val="86B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9" name="Text 14"/>
          <p:cNvSpPr/>
          <p:nvPr/>
        </p:nvSpPr>
        <p:spPr>
          <a:xfrm>
            <a:off x="2633472" y="3017520"/>
            <a:ext cx="19568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竞争空白识别</a:t>
            </a:r>
            <a:endParaRPr lang="en-US" sz="1152" dirty="0"/>
          </a:p>
        </p:txBody>
      </p:sp>
      <p:sp>
        <p:nvSpPr>
          <p:cNvPr id="20" name="Text 15"/>
          <p:cNvSpPr/>
          <p:nvPr/>
        </p:nvSpPr>
        <p:spPr>
          <a:xfrm>
            <a:off x="2679192" y="3630168"/>
            <a:ext cx="1865376" cy="10607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274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分析竞争者能力边界与资源瓶颈，寻找未充分满足的细分需求，切入差异化空间明确的领域。</a:t>
            </a:r>
            <a:endParaRPr lang="en-US" sz="1152" dirty="0"/>
          </a:p>
        </p:txBody>
      </p:sp>
      <p:sp>
        <p:nvSpPr>
          <p:cNvPr id="21" name="Shape 16"/>
          <p:cNvSpPr/>
          <p:nvPr/>
        </p:nvSpPr>
        <p:spPr>
          <a:xfrm>
            <a:off x="6336792" y="2368296"/>
            <a:ext cx="713232" cy="0"/>
          </a:xfrm>
          <a:custGeom>
            <a:avLst/>
            <a:gdLst/>
            <a:ahLst/>
            <a:cxnLst/>
            <a:rect l="l" t="t" r="r" b="b"/>
            <a:pathLst>
              <a:path w="713232" h="0">
                <a:moveTo>
                  <a:pt x="0" y="0"/>
                </a:moveTo>
                <a:lnTo>
                  <a:pt x="713232" y="0"/>
                </a:lnTo>
              </a:path>
            </a:pathLst>
          </a:custGeom>
          <a:noFill/>
          <a:ln w="45720">
            <a:solidFill>
              <a:srgbClr val="F5F2DF"/>
            </a:solidFill>
            <a:prstDash val="solid"/>
            <a:headEnd type="none"/>
            <a:tailEnd type="none"/>
          </a:ln>
        </p:spPr>
      </p:sp>
      <p:sp>
        <p:nvSpPr>
          <p:cNvPr id="22" name="Shape 17"/>
          <p:cNvSpPr/>
          <p:nvPr/>
        </p:nvSpPr>
        <p:spPr>
          <a:xfrm>
            <a:off x="5248656" y="1874520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0"/>
                </a:moveTo>
                <a:cubicBezTo>
                  <a:pt x="766298" y="0"/>
                  <a:pt x="987552" y="221254"/>
                  <a:pt x="987552" y="493776"/>
                </a:cubicBezTo>
                <a:cubicBezTo>
                  <a:pt x="987552" y="766298"/>
                  <a:pt x="766298" y="987552"/>
                  <a:pt x="493776" y="987552"/>
                </a:cubicBezTo>
                <a:cubicBezTo>
                  <a:pt x="221254" y="987552"/>
                  <a:pt x="0" y="766298"/>
                  <a:pt x="0" y="493776"/>
                </a:cubicBezTo>
                <a:cubicBezTo>
                  <a:pt x="0" y="221254"/>
                  <a:pt x="221254" y="0"/>
                  <a:pt x="493776" y="0"/>
                </a:cubicBezTo>
                <a:close/>
              </a:path>
            </a:pathLst>
          </a:custGeom>
          <a:solidFill>
            <a:srgbClr val="FFFFFF"/>
          </a:solidFill>
          <a:ln w="36576">
            <a:solidFill>
              <a:srgbClr val="28688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248656" y="2157984"/>
            <a:ext cx="987552" cy="55506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72" b="1" dirty="0">
                <a:solidFill>
                  <a:srgbClr val="286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4" name="Text 19"/>
          <p:cNvSpPr/>
          <p:nvPr/>
        </p:nvSpPr>
        <p:spPr>
          <a:xfrm>
            <a:off x="4764024" y="3017520"/>
            <a:ext cx="19568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商业模式验证</a:t>
            </a:r>
            <a:endParaRPr lang="en-US" sz="1152" dirty="0"/>
          </a:p>
        </p:txBody>
      </p:sp>
      <p:sp>
        <p:nvSpPr>
          <p:cNvPr id="25" name="Text 20"/>
          <p:cNvSpPr/>
          <p:nvPr/>
        </p:nvSpPr>
        <p:spPr>
          <a:xfrm>
            <a:off x="4809744" y="3630168"/>
            <a:ext cx="1865376" cy="10607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274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围绕客户痛点设计最小可行方案快速验证，通过试点反馈与模型测算评估可行性后再规模化。</a:t>
            </a:r>
            <a:endParaRPr lang="en-US" sz="1152" dirty="0"/>
          </a:p>
        </p:txBody>
      </p:sp>
      <p:sp>
        <p:nvSpPr>
          <p:cNvPr id="26" name="Shape 21"/>
          <p:cNvSpPr/>
          <p:nvPr/>
        </p:nvSpPr>
        <p:spPr>
          <a:xfrm>
            <a:off x="7379208" y="1874520"/>
            <a:ext cx="987552" cy="987552"/>
          </a:xfrm>
          <a:custGeom>
            <a:avLst/>
            <a:gdLst/>
            <a:ahLst/>
            <a:cxnLst/>
            <a:rect l="l" t="t" r="r" b="b"/>
            <a:pathLst>
              <a:path w="987552" h="987552">
                <a:moveTo>
                  <a:pt x="493776" y="0"/>
                </a:moveTo>
                <a:cubicBezTo>
                  <a:pt x="766298" y="0"/>
                  <a:pt x="987552" y="221254"/>
                  <a:pt x="987552" y="493776"/>
                </a:cubicBezTo>
                <a:cubicBezTo>
                  <a:pt x="987552" y="766298"/>
                  <a:pt x="766298" y="987552"/>
                  <a:pt x="493776" y="987552"/>
                </a:cubicBezTo>
                <a:cubicBezTo>
                  <a:pt x="221254" y="987552"/>
                  <a:pt x="0" y="766298"/>
                  <a:pt x="0" y="493776"/>
                </a:cubicBezTo>
                <a:cubicBezTo>
                  <a:pt x="0" y="221254"/>
                  <a:pt x="221254" y="0"/>
                  <a:pt x="493776" y="0"/>
                </a:cubicBezTo>
                <a:close/>
              </a:path>
            </a:pathLst>
          </a:custGeom>
          <a:solidFill>
            <a:srgbClr val="FFFFFF"/>
          </a:solidFill>
          <a:ln w="36576">
            <a:solidFill>
              <a:srgbClr val="86B5C4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379208" y="2157984"/>
            <a:ext cx="987552" cy="55506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72" b="1" dirty="0">
                <a:solidFill>
                  <a:srgbClr val="86B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8" name="Text 23"/>
          <p:cNvSpPr/>
          <p:nvPr/>
        </p:nvSpPr>
        <p:spPr>
          <a:xfrm>
            <a:off x="6894576" y="3017520"/>
            <a:ext cx="19568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说明</a:t>
            </a:r>
            <a:endParaRPr lang="en-US" sz="1152" dirty="0"/>
          </a:p>
        </p:txBody>
      </p:sp>
      <p:sp>
        <p:nvSpPr>
          <p:cNvPr id="29" name="Text 24"/>
          <p:cNvSpPr/>
          <p:nvPr/>
        </p:nvSpPr>
        <p:spPr>
          <a:xfrm>
            <a:off x="6940296" y="3630168"/>
            <a:ext cx="1865376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274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未检索到可引用的数据，故不新增图表。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042416"/>
            <a:ext cx="1828800" cy="40619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286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603504" y="1280160"/>
            <a:ext cx="1645920" cy="15139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6768" b="1" dirty="0">
                <a:solidFill>
                  <a:srgbClr val="286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6" name="Text 2"/>
          <p:cNvSpPr/>
          <p:nvPr/>
        </p:nvSpPr>
        <p:spPr>
          <a:xfrm>
            <a:off x="640080" y="2468880"/>
            <a:ext cx="4846320" cy="7589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产品策略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676656" y="3657600"/>
            <a:ext cx="4572000" cy="7040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dirty="0">
                <a:solidFill>
                  <a:srgbClr val="6274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产品策略决定市场定位与竞争方向，本章将深入解析核心框架，帮助您理清产品规划的关键要素与实施路径。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8F8F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0"/>
            <a:ext cx="2240280" cy="22402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85216" y="310896"/>
            <a:ext cx="25603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286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· FLOW · INSIGHT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85216" y="585216"/>
            <a:ext cx="740664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核心方案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28688A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86B5C4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384048" y="1572768"/>
            <a:ext cx="2688336" cy="2971800"/>
          </a:xfrm>
          <a:custGeom>
            <a:avLst/>
            <a:gdLst/>
            <a:ahLst/>
            <a:cxnLst/>
            <a:rect l="l" t="t" r="r" b="b"/>
            <a:pathLst>
              <a:path w="2688336" h="2971800">
                <a:moveTo>
                  <a:pt x="0" y="0"/>
                </a:moveTo>
                <a:lnTo>
                  <a:pt x="2688336" y="0"/>
                </a:lnTo>
                <a:lnTo>
                  <a:pt x="2688336" y="2971800"/>
                </a:lnTo>
                <a:lnTo>
                  <a:pt x="0" y="297180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5F2D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8640" y="1719072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28688A"/>
          </a:solidFill>
          <a:ln/>
        </p:spPr>
      </p:sp>
      <p:sp>
        <p:nvSpPr>
          <p:cNvPr id="12" name="Text 8"/>
          <p:cNvSpPr/>
          <p:nvPr/>
        </p:nvSpPr>
        <p:spPr>
          <a:xfrm>
            <a:off x="548640" y="1737360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3" name="Text 9"/>
          <p:cNvSpPr/>
          <p:nvPr/>
        </p:nvSpPr>
        <p:spPr>
          <a:xfrm>
            <a:off x="1133856" y="1709928"/>
            <a:ext cx="1773936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方案架构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603504" y="2542032"/>
            <a:ext cx="2249424" cy="1892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274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分层模块化设计，兼顾扩展性与稳定性，支持按需灵活升级调整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3227832" y="1572768"/>
            <a:ext cx="2688336" cy="2971800"/>
          </a:xfrm>
          <a:custGeom>
            <a:avLst/>
            <a:gdLst/>
            <a:ahLst/>
            <a:cxnLst/>
            <a:rect l="l" t="t" r="r" b="b"/>
            <a:pathLst>
              <a:path w="2688336" h="2971800">
                <a:moveTo>
                  <a:pt x="0" y="0"/>
                </a:moveTo>
                <a:lnTo>
                  <a:pt x="2688336" y="0"/>
                </a:lnTo>
                <a:lnTo>
                  <a:pt x="2688336" y="2971800"/>
                </a:lnTo>
                <a:lnTo>
                  <a:pt x="0" y="297180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5F2D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392424" y="1719072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86B5C4"/>
          </a:solidFill>
          <a:ln/>
        </p:spPr>
      </p:sp>
      <p:sp>
        <p:nvSpPr>
          <p:cNvPr id="17" name="Text 13"/>
          <p:cNvSpPr/>
          <p:nvPr/>
        </p:nvSpPr>
        <p:spPr>
          <a:xfrm>
            <a:off x="3392424" y="1737360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8" name="Text 14"/>
          <p:cNvSpPr/>
          <p:nvPr/>
        </p:nvSpPr>
        <p:spPr>
          <a:xfrm>
            <a:off x="3977640" y="1709928"/>
            <a:ext cx="1773936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技术路线</a:t>
            </a:r>
            <a:endParaRPr lang="en-US" sz="1152" dirty="0"/>
          </a:p>
        </p:txBody>
      </p:sp>
      <p:sp>
        <p:nvSpPr>
          <p:cNvPr id="19" name="Text 15"/>
          <p:cNvSpPr/>
          <p:nvPr/>
        </p:nvSpPr>
        <p:spPr>
          <a:xfrm>
            <a:off x="3447288" y="2542032"/>
            <a:ext cx="2249424" cy="1892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274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基于成熟技术栈搭建，降低集成复杂度，缩短交付周期确保运维可靠</a:t>
            </a:r>
            <a:endParaRPr lang="en-US" sz="1152" dirty="0"/>
          </a:p>
        </p:txBody>
      </p:sp>
      <p:sp>
        <p:nvSpPr>
          <p:cNvPr id="20" name="Shape 16"/>
          <p:cNvSpPr/>
          <p:nvPr/>
        </p:nvSpPr>
        <p:spPr>
          <a:xfrm>
            <a:off x="6071616" y="1572768"/>
            <a:ext cx="2688336" cy="2971800"/>
          </a:xfrm>
          <a:custGeom>
            <a:avLst/>
            <a:gdLst/>
            <a:ahLst/>
            <a:cxnLst/>
            <a:rect l="l" t="t" r="r" b="b"/>
            <a:pathLst>
              <a:path w="2688336" h="2971800">
                <a:moveTo>
                  <a:pt x="0" y="0"/>
                </a:moveTo>
                <a:lnTo>
                  <a:pt x="2688336" y="0"/>
                </a:lnTo>
                <a:lnTo>
                  <a:pt x="2688336" y="2971800"/>
                </a:lnTo>
                <a:lnTo>
                  <a:pt x="0" y="297180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5F2D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36208" y="1719072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C8C2A4"/>
          </a:solidFill>
          <a:ln/>
        </p:spPr>
      </p:sp>
      <p:sp>
        <p:nvSpPr>
          <p:cNvPr id="22" name="Text 18"/>
          <p:cNvSpPr/>
          <p:nvPr/>
        </p:nvSpPr>
        <p:spPr>
          <a:xfrm>
            <a:off x="6236208" y="1737360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3" name="Text 19"/>
          <p:cNvSpPr/>
          <p:nvPr/>
        </p:nvSpPr>
        <p:spPr>
          <a:xfrm>
            <a:off x="6821424" y="1709928"/>
            <a:ext cx="1773936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24" name="Text 20"/>
          <p:cNvSpPr/>
          <p:nvPr/>
        </p:nvSpPr>
        <p:spPr>
          <a:xfrm>
            <a:off x="6291072" y="2542032"/>
            <a:ext cx="2249424" cy="1892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274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分阶段试点推进，小步快跑验证成效，逐步扩展覆盖至全域场景</a:t>
            </a:r>
            <a:endParaRPr lang="en-US" sz="115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8F8F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2537460"/>
            <a:ext cx="2606040" cy="26060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85216" y="310896"/>
            <a:ext cx="256032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286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· FLOW · INSIGHT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85216" y="585216"/>
            <a:ext cx="7406640" cy="7040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核心方案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28688A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86B5C4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585216" y="1591056"/>
            <a:ext cx="3840480" cy="2743200"/>
          </a:xfrm>
          <a:custGeom>
            <a:avLst/>
            <a:gdLst/>
            <a:ahLst/>
            <a:cxnLst/>
            <a:rect l="l" t="t" r="r" b="b"/>
            <a:pathLst>
              <a:path w="3840480" h="2743200">
                <a:moveTo>
                  <a:pt x="0" y="0"/>
                </a:moveTo>
                <a:lnTo>
                  <a:pt x="3840480" y="0"/>
                </a:lnTo>
                <a:lnTo>
                  <a:pt x="3840480" y="2743200"/>
                </a:lnTo>
                <a:lnTo>
                  <a:pt x="0" y="274320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5F2D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73736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28688A"/>
          </a:solidFill>
          <a:ln/>
        </p:spPr>
      </p:sp>
      <p:sp>
        <p:nvSpPr>
          <p:cNvPr id="12" name="Text 8"/>
          <p:cNvSpPr/>
          <p:nvPr/>
        </p:nvSpPr>
        <p:spPr>
          <a:xfrm>
            <a:off x="749808" y="1755648"/>
            <a:ext cx="457200" cy="36247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13" name="Text 9"/>
          <p:cNvSpPr/>
          <p:nvPr/>
        </p:nvSpPr>
        <p:spPr>
          <a:xfrm>
            <a:off x="1335024" y="1728216"/>
            <a:ext cx="292608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运营保障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804672" y="2560320"/>
            <a:ext cx="3401568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274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建立监控反馈闭环，持续跟踪关键指标，驱动方案迭代与优化完善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4718304" y="1591056"/>
            <a:ext cx="3840480" cy="2743200"/>
          </a:xfrm>
          <a:custGeom>
            <a:avLst/>
            <a:gdLst/>
            <a:ahLst/>
            <a:cxnLst/>
            <a:rect l="l" t="t" r="r" b="b"/>
            <a:pathLst>
              <a:path w="3840480" h="2743200">
                <a:moveTo>
                  <a:pt x="0" y="0"/>
                </a:moveTo>
                <a:lnTo>
                  <a:pt x="3840480" y="0"/>
                </a:lnTo>
                <a:lnTo>
                  <a:pt x="3840480" y="2743200"/>
                </a:lnTo>
                <a:lnTo>
                  <a:pt x="0" y="274320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5F2D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82896" y="173736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86B5C4"/>
          </a:solidFill>
          <a:ln/>
        </p:spPr>
      </p:sp>
      <p:sp>
        <p:nvSpPr>
          <p:cNvPr id="17" name="Text 13"/>
          <p:cNvSpPr/>
          <p:nvPr/>
        </p:nvSpPr>
        <p:spPr>
          <a:xfrm>
            <a:off x="4882896" y="1755648"/>
            <a:ext cx="457200" cy="36247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52" dirty="0"/>
          </a:p>
        </p:txBody>
      </p:sp>
      <p:sp>
        <p:nvSpPr>
          <p:cNvPr id="18" name="Text 14"/>
          <p:cNvSpPr/>
          <p:nvPr/>
        </p:nvSpPr>
        <p:spPr>
          <a:xfrm>
            <a:off x="5468112" y="1728216"/>
            <a:ext cx="292608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数据说明</a:t>
            </a:r>
            <a:endParaRPr lang="en-US" sz="1152" dirty="0"/>
          </a:p>
        </p:txBody>
      </p:sp>
      <p:sp>
        <p:nvSpPr>
          <p:cNvPr id="19" name="Text 15"/>
          <p:cNvSpPr/>
          <p:nvPr/>
        </p:nvSpPr>
        <p:spPr>
          <a:xfrm>
            <a:off x="4937760" y="2560320"/>
            <a:ext cx="3401568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274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未检索到可引用的数据，故不新增图表。</a:t>
            </a:r>
            <a:endParaRPr lang="en-US" sz="11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8F8F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2537460"/>
            <a:ext cx="2606040" cy="26060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85216" y="310896"/>
            <a:ext cx="256032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286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· FLOW · INSIGHT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85216" y="585216"/>
            <a:ext cx="7406640" cy="7040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关键指标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28688A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86B5C4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585216" y="1591056"/>
            <a:ext cx="3840480" cy="2743200"/>
          </a:xfrm>
          <a:custGeom>
            <a:avLst/>
            <a:gdLst/>
            <a:ahLst/>
            <a:cxnLst/>
            <a:rect l="l" t="t" r="r" b="b"/>
            <a:pathLst>
              <a:path w="3840480" h="2743200">
                <a:moveTo>
                  <a:pt x="0" y="0"/>
                </a:moveTo>
                <a:lnTo>
                  <a:pt x="3840480" y="0"/>
                </a:lnTo>
                <a:lnTo>
                  <a:pt x="3840480" y="2743200"/>
                </a:lnTo>
                <a:lnTo>
                  <a:pt x="0" y="274320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5F2D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73736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28688A"/>
          </a:solidFill>
          <a:ln/>
        </p:spPr>
      </p:sp>
      <p:sp>
        <p:nvSpPr>
          <p:cNvPr id="12" name="Text 8"/>
          <p:cNvSpPr/>
          <p:nvPr/>
        </p:nvSpPr>
        <p:spPr>
          <a:xfrm>
            <a:off x="749808" y="1755648"/>
            <a:ext cx="457200" cy="36247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3" name="Text 9"/>
          <p:cNvSpPr/>
          <p:nvPr/>
        </p:nvSpPr>
        <p:spPr>
          <a:xfrm>
            <a:off x="1335024" y="1728216"/>
            <a:ext cx="292608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核心框架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804672" y="2560320"/>
            <a:ext cx="3401568" cy="10607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274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关键指标围绕规模、效率与业务价值三大维度构建，用于量化追踪技术落地的整体成效。通过分层监测各环节表现，可及时识别瓶颈并优化资源投入方向。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4718304" y="1591056"/>
            <a:ext cx="3840480" cy="2743200"/>
          </a:xfrm>
          <a:custGeom>
            <a:avLst/>
            <a:gdLst/>
            <a:ahLst/>
            <a:cxnLst/>
            <a:rect l="l" t="t" r="r" b="b"/>
            <a:pathLst>
              <a:path w="3840480" h="2743200">
                <a:moveTo>
                  <a:pt x="0" y="0"/>
                </a:moveTo>
                <a:lnTo>
                  <a:pt x="3840480" y="0"/>
                </a:lnTo>
                <a:lnTo>
                  <a:pt x="3840480" y="2743200"/>
                </a:lnTo>
                <a:lnTo>
                  <a:pt x="0" y="274320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5F2D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82896" y="173736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86B5C4"/>
          </a:solidFill>
          <a:ln/>
        </p:spPr>
      </p:sp>
      <p:sp>
        <p:nvSpPr>
          <p:cNvPr id="17" name="Text 13"/>
          <p:cNvSpPr/>
          <p:nvPr/>
        </p:nvSpPr>
        <p:spPr>
          <a:xfrm>
            <a:off x="4882896" y="1755648"/>
            <a:ext cx="457200" cy="36247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8" name="Text 14"/>
          <p:cNvSpPr/>
          <p:nvPr/>
        </p:nvSpPr>
        <p:spPr>
          <a:xfrm>
            <a:off x="5468112" y="1728216"/>
            <a:ext cx="292608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监测方法</a:t>
            </a:r>
            <a:endParaRPr lang="en-US" sz="1152" dirty="0"/>
          </a:p>
        </p:txBody>
      </p:sp>
      <p:sp>
        <p:nvSpPr>
          <p:cNvPr id="19" name="Text 15"/>
          <p:cNvSpPr/>
          <p:nvPr/>
        </p:nvSpPr>
        <p:spPr>
          <a:xfrm>
            <a:off x="4937760" y="2560320"/>
            <a:ext cx="3401568" cy="10607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274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建议建立月度指标看板，跟踪关键指标变化趋势并定期复盘。结合业务场景综合研判数据含义，避免单一指标误导决策。未检索到可引用的数据，故不新增图表。</a:t>
            </a:r>
            <a:endParaRPr lang="en-US" sz="115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042416"/>
            <a:ext cx="1828800" cy="40619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286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603504" y="1280160"/>
            <a:ext cx="1645920" cy="15139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6768" b="1" dirty="0">
                <a:solidFill>
                  <a:srgbClr val="286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6" name="Text 2"/>
          <p:cNvSpPr/>
          <p:nvPr/>
        </p:nvSpPr>
        <p:spPr>
          <a:xfrm>
            <a:off x="640080" y="2468880"/>
            <a:ext cx="4846320" cy="7589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落地路径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676656" y="3657600"/>
            <a:ext cx="4572000" cy="9646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dirty="0">
                <a:solidFill>
                  <a:srgbClr val="6274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本章聚焦实施关键步骤，回答如何从蓝图走向实操。你将获得分阶段推进的清晰指引，确保方案有效落地并及时调整。</a:t>
            </a:r>
            <a:endParaRPr lang="en-US" sz="115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8F8F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2537460"/>
            <a:ext cx="2606040" cy="26060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85216" y="310896"/>
            <a:ext cx="256032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286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· FLOW · INSIGHT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85216" y="585216"/>
            <a:ext cx="7406640" cy="7040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实施步骤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28688A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86B5C4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585216" y="1517904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5F2D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664208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28688A"/>
          </a:solidFill>
          <a:ln/>
        </p:spPr>
      </p:sp>
      <p:sp>
        <p:nvSpPr>
          <p:cNvPr id="12" name="Text 8"/>
          <p:cNvSpPr/>
          <p:nvPr/>
        </p:nvSpPr>
        <p:spPr>
          <a:xfrm>
            <a:off x="749808" y="1682496"/>
            <a:ext cx="457200" cy="36247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3" name="Text 9"/>
          <p:cNvSpPr/>
          <p:nvPr/>
        </p:nvSpPr>
        <p:spPr>
          <a:xfrm>
            <a:off x="1335024" y="1655064"/>
            <a:ext cx="292608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需求分析与规划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804672" y="2267712"/>
            <a:ext cx="3401568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274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明确业务目标与技术边界，梳理现有系统架构与数据流，制定分阶段实施路线图与里程碑计划。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4718304" y="1517904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5F2D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82896" y="1664208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86B5C4"/>
          </a:solidFill>
          <a:ln/>
        </p:spPr>
      </p:sp>
      <p:sp>
        <p:nvSpPr>
          <p:cNvPr id="17" name="Text 13"/>
          <p:cNvSpPr/>
          <p:nvPr/>
        </p:nvSpPr>
        <p:spPr>
          <a:xfrm>
            <a:off x="4882896" y="1682496"/>
            <a:ext cx="457200" cy="36247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8" name="Text 14"/>
          <p:cNvSpPr/>
          <p:nvPr/>
        </p:nvSpPr>
        <p:spPr>
          <a:xfrm>
            <a:off x="5468112" y="1655064"/>
            <a:ext cx="292608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开发与集成联调</a:t>
            </a:r>
            <a:endParaRPr lang="en-US" sz="1152" dirty="0"/>
          </a:p>
        </p:txBody>
      </p:sp>
      <p:sp>
        <p:nvSpPr>
          <p:cNvPr id="19" name="Text 15"/>
          <p:cNvSpPr/>
          <p:nvPr/>
        </p:nvSpPr>
        <p:spPr>
          <a:xfrm>
            <a:off x="4937760" y="2267712"/>
            <a:ext cx="3401568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274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按模块推进开发迭代，完成前后端集成与第三方系统对接，执行测试用例并修复缺陷。</a:t>
            </a:r>
            <a:endParaRPr lang="en-US" sz="1152" dirty="0"/>
          </a:p>
        </p:txBody>
      </p:sp>
      <p:sp>
        <p:nvSpPr>
          <p:cNvPr id="20" name="Shape 16"/>
          <p:cNvSpPr/>
          <p:nvPr/>
        </p:nvSpPr>
        <p:spPr>
          <a:xfrm>
            <a:off x="585216" y="3236976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5F2D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49808" y="338328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C8C2A4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3401568"/>
            <a:ext cx="457200" cy="36247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23" name="Text 19"/>
          <p:cNvSpPr/>
          <p:nvPr/>
        </p:nvSpPr>
        <p:spPr>
          <a:xfrm>
            <a:off x="1335024" y="3374136"/>
            <a:ext cx="292608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方案设计与架构确认</a:t>
            </a:r>
            <a:endParaRPr lang="en-US" sz="1152" dirty="0"/>
          </a:p>
        </p:txBody>
      </p:sp>
      <p:sp>
        <p:nvSpPr>
          <p:cNvPr id="24" name="Text 20"/>
          <p:cNvSpPr/>
          <p:nvPr/>
        </p:nvSpPr>
        <p:spPr>
          <a:xfrm>
            <a:off x="804672" y="3986784"/>
            <a:ext cx="3401568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274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基于需求输出详细技术方案，评审架构选型与接口规范，确认软硬件资源及部署环境要求。</a:t>
            </a:r>
            <a:endParaRPr lang="en-US" sz="1152" dirty="0"/>
          </a:p>
        </p:txBody>
      </p:sp>
      <p:sp>
        <p:nvSpPr>
          <p:cNvPr id="25" name="Shape 21"/>
          <p:cNvSpPr/>
          <p:nvPr/>
        </p:nvSpPr>
        <p:spPr>
          <a:xfrm>
            <a:off x="4718304" y="3236976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5F2D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882896" y="338328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28688A"/>
          </a:solidFill>
          <a:ln/>
        </p:spPr>
      </p:sp>
      <p:sp>
        <p:nvSpPr>
          <p:cNvPr id="27" name="Text 23"/>
          <p:cNvSpPr/>
          <p:nvPr/>
        </p:nvSpPr>
        <p:spPr>
          <a:xfrm>
            <a:off x="4882896" y="3401568"/>
            <a:ext cx="457200" cy="36247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8" name="Text 24"/>
          <p:cNvSpPr/>
          <p:nvPr/>
        </p:nvSpPr>
        <p:spPr>
          <a:xfrm>
            <a:off x="5468112" y="3374136"/>
            <a:ext cx="292608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上线部署与验收</a:t>
            </a:r>
            <a:endParaRPr lang="en-US" sz="1152" dirty="0"/>
          </a:p>
        </p:txBody>
      </p:sp>
      <p:sp>
        <p:nvSpPr>
          <p:cNvPr id="29" name="Text 25"/>
          <p:cNvSpPr/>
          <p:nvPr/>
        </p:nvSpPr>
        <p:spPr>
          <a:xfrm>
            <a:off x="4937760" y="3986784"/>
            <a:ext cx="3401568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274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执行灰度发布与全量切量，部署监控与告警体系，组织业务验收并交付运维文档与培训。</a:t>
            </a:r>
            <a:endParaRPr lang="en-US" sz="115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8F8F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0"/>
            <a:ext cx="2240280" cy="22402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85216" y="310896"/>
            <a:ext cx="256032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286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· FLOW · INSIGHT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85216" y="585216"/>
            <a:ext cx="7406640" cy="7040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风险控制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28688A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86B5C4"/>
            </a:solidFill>
            <a:prstDash val="solid"/>
            <a:headEnd type="none"/>
            <a:tailEnd type="none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0"/>
            <a:ext cx="3840480" cy="106984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87552" y="20574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571500" y="0"/>
                </a:moveTo>
                <a:cubicBezTo>
                  <a:pt x="886919" y="0"/>
                  <a:pt x="1143000" y="256081"/>
                  <a:pt x="1143000" y="571500"/>
                </a:cubicBezTo>
                <a:cubicBezTo>
                  <a:pt x="1143000" y="886919"/>
                  <a:pt x="886919" y="1143000"/>
                  <a:pt x="571500" y="1143000"/>
                </a:cubicBezTo>
                <a:cubicBezTo>
                  <a:pt x="256081" y="1143000"/>
                  <a:pt x="0" y="886919"/>
                  <a:pt x="0" y="571500"/>
                </a:cubicBezTo>
                <a:cubicBezTo>
                  <a:pt x="0" y="256081"/>
                  <a:pt x="256081" y="0"/>
                  <a:pt x="571500" y="0"/>
                </a:cubicBezTo>
                <a:close/>
              </a:path>
            </a:pathLst>
          </a:custGeom>
          <a:solidFill>
            <a:srgbClr val="F5F2DF"/>
          </a:solidFill>
          <a:ln w="18288">
            <a:solidFill>
              <a:srgbClr val="28688A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987552" y="2340864"/>
            <a:ext cx="1143000" cy="7249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123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3" name="Text 8"/>
          <p:cNvSpPr/>
          <p:nvPr/>
        </p:nvSpPr>
        <p:spPr>
          <a:xfrm>
            <a:off x="2606040" y="1874520"/>
            <a:ext cx="5577840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结论先行</a:t>
            </a:r>
            <a:endParaRPr lang="en-US" sz="1152" dirty="0"/>
          </a:p>
        </p:txBody>
      </p:sp>
      <p:sp>
        <p:nvSpPr>
          <p:cNvPr id="14" name="Shape 9"/>
          <p:cNvSpPr/>
          <p:nvPr/>
        </p:nvSpPr>
        <p:spPr>
          <a:xfrm>
            <a:off x="2606040" y="2633472"/>
            <a:ext cx="1645920" cy="0"/>
          </a:xfrm>
          <a:custGeom>
            <a:avLst/>
            <a:gdLst/>
            <a:ahLst/>
            <a:cxnLst/>
            <a:rect l="l" t="t" r="r" b="b"/>
            <a:pathLst>
              <a:path w="1645920" h="0">
                <a:moveTo>
                  <a:pt x="0" y="0"/>
                </a:moveTo>
                <a:lnTo>
                  <a:pt x="1645920" y="0"/>
                </a:lnTo>
              </a:path>
            </a:pathLst>
          </a:custGeom>
          <a:noFill/>
          <a:ln w="36576">
            <a:solidFill>
              <a:srgbClr val="28688A"/>
            </a:solidFill>
            <a:prstDash val="solid"/>
            <a:headEnd type="none"/>
            <a:tailEnd type="none"/>
          </a:ln>
        </p:spPr>
      </p:sp>
      <p:sp>
        <p:nvSpPr>
          <p:cNvPr id="15" name="Text 10"/>
          <p:cNvSpPr/>
          <p:nvPr/>
        </p:nvSpPr>
        <p:spPr>
          <a:xfrm>
            <a:off x="2606040" y="2880360"/>
            <a:ext cx="5577840" cy="7863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6274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先说清结论，再用必要证据支撑，让每一次表达都更有力量。</a:t>
            </a:r>
            <a:endParaRPr lang="en-US" sz="1152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579876"/>
            <a:ext cx="123444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939796"/>
            <a:ext cx="1874520" cy="18745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97280" y="1207008"/>
            <a:ext cx="6949440" cy="40619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286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IDEAS FLOWING</a:t>
            </a:r>
            <a:endParaRPr lang="en-US" sz="1152" dirty="0"/>
          </a:p>
        </p:txBody>
      </p:sp>
      <p:sp>
        <p:nvSpPr>
          <p:cNvPr id="6" name="Text 1"/>
          <p:cNvSpPr/>
          <p:nvPr/>
        </p:nvSpPr>
        <p:spPr>
          <a:xfrm>
            <a:off x="1097280" y="1572768"/>
            <a:ext cx="6949440" cy="9235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888" b="1" dirty="0">
                <a:solidFill>
                  <a:srgbClr val="193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让好创意继续流动</a:t>
            </a:r>
            <a:endParaRPr lang="en-US" sz="1152" dirty="0"/>
          </a:p>
        </p:txBody>
      </p:sp>
      <p:sp>
        <p:nvSpPr>
          <p:cNvPr id="7" name="Shape 2"/>
          <p:cNvSpPr/>
          <p:nvPr/>
        </p:nvSpPr>
        <p:spPr>
          <a:xfrm>
            <a:off x="3474720" y="2926080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 h="0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/>
          <a:ln w="36576">
            <a:solidFill>
              <a:srgbClr val="28688A"/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4846320" y="2926080"/>
            <a:ext cx="822960" cy="0"/>
          </a:xfrm>
          <a:custGeom>
            <a:avLst/>
            <a:gdLst/>
            <a:ahLst/>
            <a:cxnLst/>
            <a:rect l="l" t="t" r="r" b="b"/>
            <a:pathLst>
              <a:path w="822960" h="0">
                <a:moveTo>
                  <a:pt x="0" y="0"/>
                </a:moveTo>
                <a:lnTo>
                  <a:pt x="822960" y="0"/>
                </a:lnTo>
              </a:path>
            </a:pathLst>
          </a:custGeom>
          <a:noFill/>
          <a:ln w="36576">
            <a:solidFill>
              <a:srgbClr val="86B5C4"/>
            </a:solidFill>
            <a:prstDash val="solid"/>
            <a:headEnd type="none"/>
            <a:tailEnd type="none"/>
          </a:ln>
        </p:spPr>
      </p:sp>
      <p:sp>
        <p:nvSpPr>
          <p:cNvPr id="9" name="Text 4"/>
          <p:cNvSpPr/>
          <p:nvPr/>
        </p:nvSpPr>
        <p:spPr>
          <a:xfrm>
            <a:off x="1463040" y="3163824"/>
            <a:ext cx="6217920" cy="4434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dirty="0">
                <a:solidFill>
                  <a:srgbClr val="6274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感谢聆听，期待一起把下一步变得更清晰。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2026-08-26T08:01:02Z</dcterms:created>
  <dcterms:modified xsi:type="dcterms:W3CDTF">2026-08-26T08:01:02Z</dcterms:modified>
</cp:coreProperties>
</file>