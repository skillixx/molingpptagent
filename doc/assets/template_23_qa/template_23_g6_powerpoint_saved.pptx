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8600"/>
            <a:ext cx="4389120" cy="24688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657600" cy="32918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7680960" cy="19202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77824" y="1325880"/>
            <a:ext cx="5943600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蓝曜星幕编辑验收</a:t>
            </a:r>
            <a:endParaRPr lang="en-US" sz="1150" dirty="0"/>
          </a:p>
        </p:txBody>
      </p:sp>
      <p:sp>
        <p:nvSpPr>
          <p:cNvPr id="7" name="Text 1"/>
          <p:cNvSpPr/>
          <p:nvPr/>
        </p:nvSpPr>
        <p:spPr>
          <a:xfrm>
            <a:off x="923544" y="2834640"/>
            <a:ext cx="539496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固定数据真实处理链验收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0350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1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232" y="1508760"/>
            <a:ext cx="548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1371600" y="1517904"/>
            <a:ext cx="2944368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1371600" y="1938528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4846320" y="1508760"/>
            <a:ext cx="548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504688" y="1517904"/>
            <a:ext cx="2944368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关键成果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504688" y="1938528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713232" y="2404872"/>
            <a:ext cx="548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371600" y="2414016"/>
            <a:ext cx="2944368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业务指标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371600" y="2834640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4846320" y="2404872"/>
            <a:ext cx="548640" cy="38404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504688" y="2414016"/>
            <a:ext cx="2944368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后续计划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04688" y="2834640"/>
            <a:ext cx="2907792" cy="0"/>
          </a:xfrm>
          <a:custGeom>
            <a:avLst/>
            <a:gdLst/>
            <a:ahLst/>
            <a:cxnLst/>
            <a:rect l="l" t="t" r="r" b="b"/>
            <a:pathLst>
              <a:path w="2907792">
                <a:moveTo>
                  <a:pt x="0" y="0"/>
                </a:moveTo>
                <a:lnTo>
                  <a:pt x="2907792" y="0"/>
                </a:lnTo>
              </a:path>
            </a:pathLst>
          </a:custGeom>
          <a:noFill/>
          <a:ln w="9144">
            <a:solidFill>
              <a:srgbClr val="1A3955"/>
            </a:solidFill>
            <a:prstDash val="solid"/>
            <a:headEnd type="none"/>
            <a:tailEnd type="none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43200"/>
            <a:ext cx="2560320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411480"/>
            <a:ext cx="3794760" cy="34015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9808" y="1298448"/>
            <a:ext cx="1645920" cy="109728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547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1"/>
          <p:cNvSpPr/>
          <p:nvPr/>
        </p:nvSpPr>
        <p:spPr>
          <a:xfrm>
            <a:off x="822960" y="2542032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18288">
            <a:solidFill>
              <a:srgbClr val="00DCEB"/>
            </a:solidFill>
            <a:prstDash val="solid"/>
            <a:headEnd type="none"/>
            <a:tailEnd type="none"/>
          </a:ln>
        </p:spPr>
      </p:sp>
      <p:sp>
        <p:nvSpPr>
          <p:cNvPr id="6" name="Text 2"/>
          <p:cNvSpPr/>
          <p:nvPr/>
        </p:nvSpPr>
        <p:spPr>
          <a:xfrm>
            <a:off x="2880360" y="1508760"/>
            <a:ext cx="5212080" cy="87782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关键成果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2926080" y="2606040"/>
            <a:ext cx="4572000" cy="65836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聚焦阶段价值。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4922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本阶段四项成果</a:t>
            </a:r>
            <a:endParaRPr lang="en-US" sz="1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30352" y="1463040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1627632"/>
            <a:ext cx="475488" cy="48463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280160" y="1627632"/>
            <a:ext cx="2852928" cy="42976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统一视觉规范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31520" y="2093976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9" name="Text 5"/>
          <p:cNvSpPr/>
          <p:nvPr/>
        </p:nvSpPr>
        <p:spPr>
          <a:xfrm>
            <a:off x="731520" y="2212848"/>
            <a:ext cx="3438144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正文编辑验收：内容保持可修改并可保存。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81728" y="1463040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82896" y="1627632"/>
            <a:ext cx="475488" cy="48463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31536" y="1627632"/>
            <a:ext cx="2852928" cy="42976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完善页面库存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82896" y="2093976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4882896" y="2212848"/>
            <a:ext cx="3438144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1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覆盖五种页面类型和二十个稳定版式。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0352" y="3054096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3218688"/>
            <a:ext cx="475488" cy="48463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280160" y="3218688"/>
            <a:ext cx="2852928" cy="42976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保留编辑能力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1520" y="3685032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/>
          <p:nvPr/>
        </p:nvSpPr>
        <p:spPr>
          <a:xfrm>
            <a:off x="731520" y="3803904"/>
            <a:ext cx="3438144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1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标题正文可编辑，业务图片可替换。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681728" y="3054096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1A2F"/>
          </a:solidFill>
          <a:ln w="9144">
            <a:solidFill>
              <a:srgbClr val="1A39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82896" y="3218688"/>
            <a:ext cx="475488" cy="48463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31536" y="3218688"/>
            <a:ext cx="2852928" cy="42976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建立验收证据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882896" y="3685032"/>
            <a:ext cx="3438144" cy="0"/>
          </a:xfrm>
          <a:custGeom>
            <a:avLst/>
            <a:gdLst/>
            <a:ahLst/>
            <a:cxnLst/>
            <a:rect l="l" t="t" r="r" b="b"/>
            <a:pathLst>
              <a:path w="3438144">
                <a:moveTo>
                  <a:pt x="0" y="0"/>
                </a:moveTo>
                <a:lnTo>
                  <a:pt x="3438144" y="0"/>
                </a:lnTo>
              </a:path>
            </a:pathLst>
          </a:custGeom>
          <a:noFill/>
          <a:ln w="9144">
            <a:solidFill>
              <a:srgbClr val="0A8E99"/>
            </a:solidFill>
            <a:prstDash val="solid"/>
            <a:headEnd type="none"/>
            <a:tailEnd type="none"/>
          </a:ln>
        </p:spPr>
      </p:sp>
      <p:sp>
        <p:nvSpPr>
          <p:cNvPr id="24" name="Text 20"/>
          <p:cNvSpPr/>
          <p:nvPr/>
        </p:nvSpPr>
        <p:spPr>
          <a:xfrm>
            <a:off x="4882896" y="3803904"/>
            <a:ext cx="3438144" cy="402336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1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验证保存、导出和重新导入。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0350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三项经营指标</a:t>
            </a:r>
            <a:endParaRPr lang="en-US" sz="1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307592" y="1645920"/>
            <a:ext cx="1261872" cy="1261872"/>
          </a:xfrm>
          <a:custGeom>
            <a:avLst/>
            <a:gdLst/>
            <a:ahLst/>
            <a:cxnLst/>
            <a:rect l="l" t="t" r="r" b="b"/>
            <a:pathLst>
              <a:path w="1261872" h="1261872">
                <a:moveTo>
                  <a:pt x="630936" y="0"/>
                </a:moveTo>
                <a:cubicBezTo>
                  <a:pt x="979331" y="174"/>
                  <a:pt x="1261644" y="282699"/>
                  <a:pt x="1261557" y="631094"/>
                </a:cubicBezTo>
                <a:cubicBezTo>
                  <a:pt x="1261469" y="979488"/>
                  <a:pt x="979015" y="1261872"/>
                  <a:pt x="630621" y="1261872"/>
                </a:cubicBezTo>
                <a:cubicBezTo>
                  <a:pt x="282226" y="1261872"/>
                  <a:pt x="-228" y="979488"/>
                  <a:pt x="-315" y="631094"/>
                </a:cubicBezTo>
                <a:cubicBezTo>
                  <a:pt x="-403" y="282699"/>
                  <a:pt x="281910" y="174"/>
                  <a:pt x="630305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380744" y="2029968"/>
            <a:ext cx="111556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41248" y="3200400"/>
            <a:ext cx="219456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页面库存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41248" y="3749040"/>
            <a:ext cx="219456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稳定版式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977640" y="1645920"/>
            <a:ext cx="1261872" cy="1261872"/>
          </a:xfrm>
          <a:custGeom>
            <a:avLst/>
            <a:gdLst/>
            <a:ahLst/>
            <a:cxnLst/>
            <a:rect l="l" t="t" r="r" b="b"/>
            <a:pathLst>
              <a:path w="1261872" h="1261872">
                <a:moveTo>
                  <a:pt x="630936" y="0"/>
                </a:moveTo>
                <a:cubicBezTo>
                  <a:pt x="979331" y="174"/>
                  <a:pt x="1261644" y="282699"/>
                  <a:pt x="1261557" y="631094"/>
                </a:cubicBezTo>
                <a:cubicBezTo>
                  <a:pt x="1261469" y="979488"/>
                  <a:pt x="979015" y="1261872"/>
                  <a:pt x="630621" y="1261872"/>
                </a:cubicBezTo>
                <a:cubicBezTo>
                  <a:pt x="282226" y="1261872"/>
                  <a:pt x="-228" y="979488"/>
                  <a:pt x="-315" y="631094"/>
                </a:cubicBezTo>
                <a:cubicBezTo>
                  <a:pt x="-403" y="282699"/>
                  <a:pt x="281910" y="174"/>
                  <a:pt x="630305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50792" y="2029968"/>
            <a:ext cx="111556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511296" y="3200400"/>
            <a:ext cx="219456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页面类型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511296" y="3749040"/>
            <a:ext cx="219456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语义类型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47688" y="1645920"/>
            <a:ext cx="1261872" cy="1261872"/>
          </a:xfrm>
          <a:custGeom>
            <a:avLst/>
            <a:gdLst/>
            <a:ahLst/>
            <a:cxnLst/>
            <a:rect l="l" t="t" r="r" b="b"/>
            <a:pathLst>
              <a:path w="1261872" h="1261872">
                <a:moveTo>
                  <a:pt x="630936" y="0"/>
                </a:moveTo>
                <a:cubicBezTo>
                  <a:pt x="979331" y="174"/>
                  <a:pt x="1261644" y="282699"/>
                  <a:pt x="1261557" y="631094"/>
                </a:cubicBezTo>
                <a:cubicBezTo>
                  <a:pt x="1261469" y="979488"/>
                  <a:pt x="979015" y="1261872"/>
                  <a:pt x="630621" y="1261872"/>
                </a:cubicBezTo>
                <a:cubicBezTo>
                  <a:pt x="282226" y="1261872"/>
                  <a:pt x="-228" y="979488"/>
                  <a:pt x="-315" y="631094"/>
                </a:cubicBezTo>
                <a:cubicBezTo>
                  <a:pt x="-403" y="282699"/>
                  <a:pt x="281910" y="174"/>
                  <a:pt x="630305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20840" y="2029968"/>
            <a:ext cx="111556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5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181344" y="3200400"/>
            <a:ext cx="219456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素材库存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181344" y="3749040"/>
            <a:ext cx="219456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8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原创素材</a:t>
            </a:r>
            <a:endParaRPr lang="en-US" sz="11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200400"/>
            <a:ext cx="21945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0350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五项质量指标</a:t>
            </a:r>
            <a:endParaRPr lang="en-US" sz="1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66928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029968"/>
            <a:ext cx="93268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3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20%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20624" y="3200400"/>
            <a:ext cx="137160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质量项1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20624" y="3749040"/>
            <a:ext cx="137160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检查1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194560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67712" y="2029968"/>
            <a:ext cx="93268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3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40%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048256" y="3200400"/>
            <a:ext cx="137160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质量项2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048256" y="3749040"/>
            <a:ext cx="137160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检查2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822192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95344" y="2029968"/>
            <a:ext cx="93268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3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675888" y="3200400"/>
            <a:ext cx="137160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质量项3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675888" y="3749040"/>
            <a:ext cx="137160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检查3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49824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22976" y="2029968"/>
            <a:ext cx="93268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3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80%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303520" y="3200400"/>
            <a:ext cx="137160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质量项4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303520" y="3749040"/>
            <a:ext cx="137160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检查4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077456" y="1645920"/>
            <a:ext cx="1078992" cy="1078992"/>
          </a:xfrm>
          <a:custGeom>
            <a:avLst/>
            <a:gdLst/>
            <a:ahLst/>
            <a:cxnLst/>
            <a:rect l="l" t="t" r="r" b="b"/>
            <a:pathLst>
              <a:path w="1078992" h="1078992">
                <a:moveTo>
                  <a:pt x="539496" y="0"/>
                </a:moveTo>
                <a:cubicBezTo>
                  <a:pt x="837399" y="149"/>
                  <a:pt x="1078797" y="241728"/>
                  <a:pt x="1078722" y="539631"/>
                </a:cubicBezTo>
                <a:cubicBezTo>
                  <a:pt x="1078648" y="837534"/>
                  <a:pt x="837129" y="1078992"/>
                  <a:pt x="539226" y="1078992"/>
                </a:cubicBezTo>
                <a:cubicBezTo>
                  <a:pt x="241324" y="1078992"/>
                  <a:pt x="-195" y="837534"/>
                  <a:pt x="-270" y="539631"/>
                </a:cubicBezTo>
                <a:cubicBezTo>
                  <a:pt x="-344" y="241728"/>
                  <a:pt x="241054" y="149"/>
                  <a:pt x="538957" y="0"/>
                </a:cubicBezTo>
                <a:close/>
              </a:path>
            </a:pathLst>
          </a:custGeom>
          <a:solidFill>
            <a:srgbClr val="071A2F"/>
          </a:solidFill>
          <a:ln w="18288">
            <a:solidFill>
              <a:srgbClr val="00DC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50608" y="2029968"/>
            <a:ext cx="932688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3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931152" y="3200400"/>
            <a:ext cx="1371600" cy="45720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质量项5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931152" y="3749040"/>
            <a:ext cx="1371600" cy="56692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检查5</a:t>
            </a:r>
            <a:endParaRPr lang="en-US" sz="11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200400"/>
            <a:ext cx="21945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6583680" cy="64922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5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模板应用示例</a:t>
            </a:r>
            <a:endParaRPr lang="en-US" sz="1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024128"/>
            <a:ext cx="3474720" cy="34747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5487" r="5487"/>
          <a:stretch>
            <a:fillRect/>
          </a:stretch>
        </p:blipFill>
        <p:spPr>
          <a:xfrm>
            <a:off x="658368" y="1508760"/>
            <a:ext cx="3931920" cy="294436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325880"/>
            <a:ext cx="4261104" cy="32004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166360" y="1874520"/>
            <a:ext cx="3200400" cy="512064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30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统一图片协议</a:t>
            </a:r>
            <a:endParaRPr lang="en-US" sz="1150" dirty="0"/>
          </a:p>
        </p:txBody>
      </p:sp>
      <p:sp>
        <p:nvSpPr>
          <p:cNvPr id="8" name="Shape 2"/>
          <p:cNvSpPr/>
          <p:nvPr/>
        </p:nvSpPr>
        <p:spPr>
          <a:xfrm>
            <a:off x="5166360" y="2615184"/>
            <a:ext cx="1097280" cy="0"/>
          </a:xfrm>
          <a:custGeom>
            <a:avLst/>
            <a:gdLst/>
            <a:ahLst/>
            <a:cxnLst/>
            <a:rect l="l" t="t" r="r" b="b"/>
            <a:pathLst>
              <a:path w="1097280">
                <a:moveTo>
                  <a:pt x="0" y="0"/>
                </a:moveTo>
                <a:lnTo>
                  <a:pt x="1097280" y="0"/>
                </a:lnTo>
              </a:path>
            </a:pathLst>
          </a:custGeom>
          <a:noFill/>
          <a:ln w="18288">
            <a:solidFill>
              <a:srgbClr val="00DCEB"/>
            </a:solidFill>
            <a:prstDash val="solid"/>
            <a:headEnd type="none"/>
            <a:tailEnd type="none"/>
          </a:ln>
        </p:spPr>
      </p:sp>
      <p:sp>
        <p:nvSpPr>
          <p:cNvPr id="9" name="Text 3"/>
          <p:cNvSpPr/>
          <p:nvPr/>
        </p:nvSpPr>
        <p:spPr>
          <a:xfrm>
            <a:off x="5166360" y="2907792"/>
            <a:ext cx="3200400" cy="41605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横竖方图保持裁切与装饰隔离。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63240"/>
            <a:ext cx="7863840" cy="2057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640080"/>
            <a:ext cx="5669280" cy="100584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感谢观看</a:t>
            </a:r>
            <a:endParaRPr lang="en-US" sz="1150" dirty="0"/>
          </a:p>
        </p:txBody>
      </p:sp>
      <p:sp>
        <p:nvSpPr>
          <p:cNvPr id="5" name="Text 1"/>
          <p:cNvSpPr/>
          <p:nvPr/>
        </p:nvSpPr>
        <p:spPr>
          <a:xfrm>
            <a:off x="896112" y="1417320"/>
            <a:ext cx="4846320" cy="621792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70" dirty="0">
                <a:solidFill>
                  <a:srgbClr val="A8BB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候选模板技术验收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960120" y="2148840"/>
            <a:ext cx="493776" cy="36576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554480" y="2121408"/>
            <a:ext cx="3931920" cy="47548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确认候选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60120" y="2788920"/>
            <a:ext cx="493776" cy="365760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0" dirty="0">
                <a:solidFill>
                  <a:srgbClr val="00DC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554480" y="2761488"/>
            <a:ext cx="3931920" cy="475488"/>
          </a:xfrm>
          <a:prstGeom prst="rect">
            <a:avLst/>
          </a:prstGeom>
          <a:noFill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l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5" dirty="0">
                <a:solidFill>
                  <a:srgbClr val="F4F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进入后续交付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演示</Application>
  <PresentationFormat>On-screen Show (16:9)</PresentationFormat>
  <Paragraphs>124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sk20</cp:lastModifiedBy>
  <cp:revision>2</cp:revision>
  <dcterms:created xsi:type="dcterms:W3CDTF">2026-09-16T12:34:00Z</dcterms:created>
  <dcterms:modified xsi:type="dcterms:W3CDTF">2026-09-16T12:36:32Z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</Properties>
</file>