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096512"/>
            <a:ext cx="640080" cy="64008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58368" y="1051560"/>
            <a:ext cx="3108960" cy="4069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80" b="1" dirty="0">
                <a:solidFill>
                  <a:srgbClr val="5F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ORIENTAL INK · QUIET RHYTHM</a:t>
            </a:r>
            <a:endParaRPr lang="en-US" sz="1152" dirty="0"/>
          </a:p>
        </p:txBody>
      </p:sp>
      <p:sp>
        <p:nvSpPr>
          <p:cNvPr id="6" name="Text 1"/>
          <p:cNvSpPr/>
          <p:nvPr/>
        </p:nvSpPr>
        <p:spPr>
          <a:xfrm>
            <a:off x="640080" y="1444752"/>
            <a:ext cx="5715000" cy="9235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888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东方水墨雅韵</a:t>
            </a:r>
            <a:endParaRPr lang="en-US" sz="1152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01168"/>
            <a:ext cx="3291840" cy="768096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676656" y="3090672"/>
            <a:ext cx="4754880" cy="4709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以留白承载观点，以结构连接行动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4F1E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310896"/>
            <a:ext cx="1417320" cy="14173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85216" y="329184"/>
            <a:ext cx="2743200" cy="2011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b="1" dirty="0">
                <a:solidFill>
                  <a:srgbClr val="5F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NAVIGATION</a:t>
            </a:r>
            <a:endParaRPr lang="en-US" sz="1152" dirty="0"/>
          </a:p>
        </p:txBody>
      </p:sp>
      <p:sp>
        <p:nvSpPr>
          <p:cNvPr id="6" name="Text 2"/>
          <p:cNvSpPr/>
          <p:nvPr/>
        </p:nvSpPr>
        <p:spPr>
          <a:xfrm>
            <a:off x="585216" y="594360"/>
            <a:ext cx="3657600" cy="6583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024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7" name="Shape 3"/>
          <p:cNvSpPr/>
          <p:nvPr/>
        </p:nvSpPr>
        <p:spPr>
          <a:xfrm>
            <a:off x="585216" y="1252728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 h="0">
                <a:moveTo>
                  <a:pt x="0" y="0"/>
                </a:moveTo>
                <a:lnTo>
                  <a:pt x="1371600" y="0"/>
                </a:lnTo>
              </a:path>
            </a:pathLst>
          </a:custGeom>
          <a:noFill/>
          <a:ln w="36576">
            <a:solidFill>
              <a:srgbClr val="5F7F87"/>
            </a:solidFill>
            <a:prstDash val="solid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640080" y="1472184"/>
            <a:ext cx="438912" cy="384048"/>
          </a:xfrm>
          <a:custGeom>
            <a:avLst/>
            <a:gdLst/>
            <a:ahLst/>
            <a:cxnLst/>
            <a:rect l="l" t="t" r="r" b="b"/>
            <a:pathLst>
              <a:path w="438912" h="384048">
                <a:moveTo>
                  <a:pt x="0" y="0"/>
                </a:moveTo>
                <a:lnTo>
                  <a:pt x="438912" y="0"/>
                </a:lnTo>
                <a:lnTo>
                  <a:pt x="438912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5F7F87"/>
          </a:solidFill>
          <a:ln/>
        </p:spPr>
      </p:sp>
      <p:sp>
        <p:nvSpPr>
          <p:cNvPr id="9" name="Text 5"/>
          <p:cNvSpPr/>
          <p:nvPr/>
        </p:nvSpPr>
        <p:spPr>
          <a:xfrm>
            <a:off x="640080" y="1490472"/>
            <a:ext cx="438912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0" name="Text 6"/>
          <p:cNvSpPr/>
          <p:nvPr/>
        </p:nvSpPr>
        <p:spPr>
          <a:xfrm>
            <a:off x="1243584" y="1444752"/>
            <a:ext cx="3008376" cy="7680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368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背景与机会</a:t>
            </a:r>
            <a:endParaRPr lang="en-US" sz="1152" dirty="0"/>
          </a:p>
        </p:txBody>
      </p:sp>
      <p:sp>
        <p:nvSpPr>
          <p:cNvPr id="11" name="Shape 7"/>
          <p:cNvSpPr/>
          <p:nvPr/>
        </p:nvSpPr>
        <p:spPr>
          <a:xfrm>
            <a:off x="1243584" y="2139696"/>
            <a:ext cx="2990088" cy="0"/>
          </a:xfrm>
          <a:custGeom>
            <a:avLst/>
            <a:gdLst/>
            <a:ahLst/>
            <a:cxnLst/>
            <a:rect l="l" t="t" r="r" b="b"/>
            <a:pathLst>
              <a:path w="2990088" h="0">
                <a:moveTo>
                  <a:pt x="0" y="0"/>
                </a:moveTo>
                <a:lnTo>
                  <a:pt x="2990088" y="0"/>
                </a:lnTo>
              </a:path>
            </a:pathLst>
          </a:custGeom>
          <a:noFill/>
          <a:ln w="18288">
            <a:solidFill>
              <a:srgbClr val="F4F1EA"/>
            </a:solidFill>
            <a:prstDash val="solid"/>
            <a:headEnd type="none"/>
            <a:tailEnd type="none"/>
          </a:ln>
        </p:spPr>
      </p:sp>
      <p:sp>
        <p:nvSpPr>
          <p:cNvPr id="12" name="Shape 8"/>
          <p:cNvSpPr/>
          <p:nvPr/>
        </p:nvSpPr>
        <p:spPr>
          <a:xfrm>
            <a:off x="4892040" y="1472184"/>
            <a:ext cx="438912" cy="384048"/>
          </a:xfrm>
          <a:custGeom>
            <a:avLst/>
            <a:gdLst/>
            <a:ahLst/>
            <a:cxnLst/>
            <a:rect l="l" t="t" r="r" b="b"/>
            <a:pathLst>
              <a:path w="438912" h="384048">
                <a:moveTo>
                  <a:pt x="0" y="0"/>
                </a:moveTo>
                <a:lnTo>
                  <a:pt x="438912" y="0"/>
                </a:lnTo>
                <a:lnTo>
                  <a:pt x="438912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B8C9CA"/>
          </a:solidFill>
          <a:ln/>
        </p:spPr>
      </p:sp>
      <p:sp>
        <p:nvSpPr>
          <p:cNvPr id="13" name="Text 9"/>
          <p:cNvSpPr/>
          <p:nvPr/>
        </p:nvSpPr>
        <p:spPr>
          <a:xfrm>
            <a:off x="4892040" y="1490472"/>
            <a:ext cx="438912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4" name="Text 10"/>
          <p:cNvSpPr/>
          <p:nvPr/>
        </p:nvSpPr>
        <p:spPr>
          <a:xfrm>
            <a:off x="5495544" y="1444752"/>
            <a:ext cx="3008376" cy="7680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368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核心观点</a:t>
            </a:r>
            <a:endParaRPr lang="en-US" sz="1152" dirty="0"/>
          </a:p>
        </p:txBody>
      </p:sp>
      <p:sp>
        <p:nvSpPr>
          <p:cNvPr id="15" name="Shape 11"/>
          <p:cNvSpPr/>
          <p:nvPr/>
        </p:nvSpPr>
        <p:spPr>
          <a:xfrm>
            <a:off x="5495544" y="2139696"/>
            <a:ext cx="2990088" cy="0"/>
          </a:xfrm>
          <a:custGeom>
            <a:avLst/>
            <a:gdLst/>
            <a:ahLst/>
            <a:cxnLst/>
            <a:rect l="l" t="t" r="r" b="b"/>
            <a:pathLst>
              <a:path w="2990088" h="0">
                <a:moveTo>
                  <a:pt x="0" y="0"/>
                </a:moveTo>
                <a:lnTo>
                  <a:pt x="2990088" y="0"/>
                </a:lnTo>
              </a:path>
            </a:pathLst>
          </a:custGeom>
          <a:noFill/>
          <a:ln w="18288">
            <a:solidFill>
              <a:srgbClr val="F4F1EA"/>
            </a:solidFill>
            <a:prstDash val="solid"/>
            <a:headEnd type="none"/>
            <a:tailEnd type="none"/>
          </a:ln>
        </p:spPr>
      </p:sp>
      <p:sp>
        <p:nvSpPr>
          <p:cNvPr id="16" name="Shape 12"/>
          <p:cNvSpPr/>
          <p:nvPr/>
        </p:nvSpPr>
        <p:spPr>
          <a:xfrm>
            <a:off x="640080" y="2496312"/>
            <a:ext cx="438912" cy="384048"/>
          </a:xfrm>
          <a:custGeom>
            <a:avLst/>
            <a:gdLst/>
            <a:ahLst/>
            <a:cxnLst/>
            <a:rect l="l" t="t" r="r" b="b"/>
            <a:pathLst>
              <a:path w="438912" h="384048">
                <a:moveTo>
                  <a:pt x="0" y="0"/>
                </a:moveTo>
                <a:lnTo>
                  <a:pt x="438912" y="0"/>
                </a:lnTo>
                <a:lnTo>
                  <a:pt x="438912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B79A63"/>
          </a:solidFill>
          <a:ln/>
        </p:spPr>
      </p:sp>
      <p:sp>
        <p:nvSpPr>
          <p:cNvPr id="17" name="Text 13"/>
          <p:cNvSpPr/>
          <p:nvPr/>
        </p:nvSpPr>
        <p:spPr>
          <a:xfrm>
            <a:off x="640080" y="2514600"/>
            <a:ext cx="438912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18" name="Text 14"/>
          <p:cNvSpPr/>
          <p:nvPr/>
        </p:nvSpPr>
        <p:spPr>
          <a:xfrm>
            <a:off x="1243584" y="2468880"/>
            <a:ext cx="3008376" cy="7680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368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实施路径</a:t>
            </a:r>
            <a:endParaRPr lang="en-US" sz="1152" dirty="0"/>
          </a:p>
        </p:txBody>
      </p:sp>
      <p:sp>
        <p:nvSpPr>
          <p:cNvPr id="19" name="Shape 15"/>
          <p:cNvSpPr/>
          <p:nvPr/>
        </p:nvSpPr>
        <p:spPr>
          <a:xfrm>
            <a:off x="1243584" y="3163824"/>
            <a:ext cx="2990088" cy="0"/>
          </a:xfrm>
          <a:custGeom>
            <a:avLst/>
            <a:gdLst/>
            <a:ahLst/>
            <a:cxnLst/>
            <a:rect l="l" t="t" r="r" b="b"/>
            <a:pathLst>
              <a:path w="2990088" h="0">
                <a:moveTo>
                  <a:pt x="0" y="0"/>
                </a:moveTo>
                <a:lnTo>
                  <a:pt x="2990088" y="0"/>
                </a:lnTo>
              </a:path>
            </a:pathLst>
          </a:custGeom>
          <a:noFill/>
          <a:ln w="18288">
            <a:solidFill>
              <a:srgbClr val="F4F1EA"/>
            </a:solidFill>
            <a:prstDash val="solid"/>
            <a:headEnd type="none"/>
            <a:tailEnd type="none"/>
          </a:ln>
        </p:spPr>
      </p:sp>
      <p:sp>
        <p:nvSpPr>
          <p:cNvPr id="20" name="Shape 16"/>
          <p:cNvSpPr/>
          <p:nvPr/>
        </p:nvSpPr>
        <p:spPr>
          <a:xfrm>
            <a:off x="4892040" y="2496312"/>
            <a:ext cx="438912" cy="384048"/>
          </a:xfrm>
          <a:custGeom>
            <a:avLst/>
            <a:gdLst/>
            <a:ahLst/>
            <a:cxnLst/>
            <a:rect l="l" t="t" r="r" b="b"/>
            <a:pathLst>
              <a:path w="438912" h="384048">
                <a:moveTo>
                  <a:pt x="0" y="0"/>
                </a:moveTo>
                <a:lnTo>
                  <a:pt x="438912" y="0"/>
                </a:lnTo>
                <a:lnTo>
                  <a:pt x="438912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5F7F87"/>
          </a:solidFill>
          <a:ln/>
        </p:spPr>
      </p:sp>
      <p:sp>
        <p:nvSpPr>
          <p:cNvPr id="21" name="Text 17"/>
          <p:cNvSpPr/>
          <p:nvPr/>
        </p:nvSpPr>
        <p:spPr>
          <a:xfrm>
            <a:off x="4892040" y="2514600"/>
            <a:ext cx="438912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2" name="Text 18"/>
          <p:cNvSpPr/>
          <p:nvPr/>
        </p:nvSpPr>
        <p:spPr>
          <a:xfrm>
            <a:off x="5495544" y="2468880"/>
            <a:ext cx="3008376" cy="7680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368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关键指标</a:t>
            </a:r>
            <a:endParaRPr lang="en-US" sz="1152" dirty="0"/>
          </a:p>
        </p:txBody>
      </p:sp>
      <p:sp>
        <p:nvSpPr>
          <p:cNvPr id="23" name="Shape 19"/>
          <p:cNvSpPr/>
          <p:nvPr/>
        </p:nvSpPr>
        <p:spPr>
          <a:xfrm>
            <a:off x="5495544" y="3163824"/>
            <a:ext cx="2990088" cy="0"/>
          </a:xfrm>
          <a:custGeom>
            <a:avLst/>
            <a:gdLst/>
            <a:ahLst/>
            <a:cxnLst/>
            <a:rect l="l" t="t" r="r" b="b"/>
            <a:pathLst>
              <a:path w="2990088" h="0">
                <a:moveTo>
                  <a:pt x="0" y="0"/>
                </a:moveTo>
                <a:lnTo>
                  <a:pt x="2990088" y="0"/>
                </a:lnTo>
              </a:path>
            </a:pathLst>
          </a:custGeom>
          <a:noFill/>
          <a:ln w="18288">
            <a:solidFill>
              <a:srgbClr val="F4F1EA"/>
            </a:solidFill>
            <a:prstDash val="solid"/>
            <a:headEnd type="none"/>
            <a:tailEnd type="none"/>
          </a:ln>
        </p:spPr>
      </p:sp>
      <p:sp>
        <p:nvSpPr>
          <p:cNvPr id="24" name="Shape 20"/>
          <p:cNvSpPr/>
          <p:nvPr/>
        </p:nvSpPr>
        <p:spPr>
          <a:xfrm>
            <a:off x="640080" y="3520440"/>
            <a:ext cx="438912" cy="384048"/>
          </a:xfrm>
          <a:custGeom>
            <a:avLst/>
            <a:gdLst/>
            <a:ahLst/>
            <a:cxnLst/>
            <a:rect l="l" t="t" r="r" b="b"/>
            <a:pathLst>
              <a:path w="438912" h="384048">
                <a:moveTo>
                  <a:pt x="0" y="0"/>
                </a:moveTo>
                <a:lnTo>
                  <a:pt x="438912" y="0"/>
                </a:lnTo>
                <a:lnTo>
                  <a:pt x="438912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B8C9CA"/>
          </a:solidFill>
          <a:ln/>
        </p:spPr>
      </p:sp>
      <p:sp>
        <p:nvSpPr>
          <p:cNvPr id="25" name="Text 21"/>
          <p:cNvSpPr/>
          <p:nvPr/>
        </p:nvSpPr>
        <p:spPr>
          <a:xfrm>
            <a:off x="640080" y="3538728"/>
            <a:ext cx="438912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52" dirty="0"/>
          </a:p>
        </p:txBody>
      </p:sp>
      <p:sp>
        <p:nvSpPr>
          <p:cNvPr id="26" name="Text 22"/>
          <p:cNvSpPr/>
          <p:nvPr/>
        </p:nvSpPr>
        <p:spPr>
          <a:xfrm>
            <a:off x="1243584" y="3493008"/>
            <a:ext cx="3008376" cy="7680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368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成果验证</a:t>
            </a:r>
            <a:endParaRPr lang="en-US" sz="1152" dirty="0"/>
          </a:p>
        </p:txBody>
      </p:sp>
      <p:sp>
        <p:nvSpPr>
          <p:cNvPr id="27" name="Shape 23"/>
          <p:cNvSpPr/>
          <p:nvPr/>
        </p:nvSpPr>
        <p:spPr>
          <a:xfrm>
            <a:off x="1243584" y="4187952"/>
            <a:ext cx="2990088" cy="0"/>
          </a:xfrm>
          <a:custGeom>
            <a:avLst/>
            <a:gdLst/>
            <a:ahLst/>
            <a:cxnLst/>
            <a:rect l="l" t="t" r="r" b="b"/>
            <a:pathLst>
              <a:path w="2990088" h="0">
                <a:moveTo>
                  <a:pt x="0" y="0"/>
                </a:moveTo>
                <a:lnTo>
                  <a:pt x="2990088" y="0"/>
                </a:lnTo>
              </a:path>
            </a:pathLst>
          </a:custGeom>
          <a:noFill/>
          <a:ln w="18288">
            <a:solidFill>
              <a:srgbClr val="F4F1EA"/>
            </a:solidFill>
            <a:prstDash val="solid"/>
            <a:headEnd type="none"/>
            <a:tailEnd type="none"/>
          </a:ln>
        </p:spPr>
      </p:sp>
      <p:sp>
        <p:nvSpPr>
          <p:cNvPr id="28" name="Shape 24"/>
          <p:cNvSpPr/>
          <p:nvPr/>
        </p:nvSpPr>
        <p:spPr>
          <a:xfrm>
            <a:off x="4892040" y="3520440"/>
            <a:ext cx="438912" cy="384048"/>
          </a:xfrm>
          <a:custGeom>
            <a:avLst/>
            <a:gdLst/>
            <a:ahLst/>
            <a:cxnLst/>
            <a:rect l="l" t="t" r="r" b="b"/>
            <a:pathLst>
              <a:path w="438912" h="384048">
                <a:moveTo>
                  <a:pt x="0" y="0"/>
                </a:moveTo>
                <a:lnTo>
                  <a:pt x="438912" y="0"/>
                </a:lnTo>
                <a:lnTo>
                  <a:pt x="438912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B79A63"/>
          </a:solidFill>
          <a:ln/>
        </p:spPr>
      </p:sp>
      <p:sp>
        <p:nvSpPr>
          <p:cNvPr id="29" name="Text 25"/>
          <p:cNvSpPr/>
          <p:nvPr/>
        </p:nvSpPr>
        <p:spPr>
          <a:xfrm>
            <a:off x="4892040" y="3538728"/>
            <a:ext cx="438912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52" dirty="0"/>
          </a:p>
        </p:txBody>
      </p:sp>
      <p:sp>
        <p:nvSpPr>
          <p:cNvPr id="30" name="Text 26"/>
          <p:cNvSpPr/>
          <p:nvPr/>
        </p:nvSpPr>
        <p:spPr>
          <a:xfrm>
            <a:off x="5495544" y="3493008"/>
            <a:ext cx="3008376" cy="7680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368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下一步行动</a:t>
            </a:r>
            <a:endParaRPr lang="en-US" sz="1152" dirty="0"/>
          </a:p>
        </p:txBody>
      </p:sp>
      <p:sp>
        <p:nvSpPr>
          <p:cNvPr id="31" name="Shape 27"/>
          <p:cNvSpPr/>
          <p:nvPr/>
        </p:nvSpPr>
        <p:spPr>
          <a:xfrm>
            <a:off x="5495544" y="4187952"/>
            <a:ext cx="2990088" cy="0"/>
          </a:xfrm>
          <a:custGeom>
            <a:avLst/>
            <a:gdLst/>
            <a:ahLst/>
            <a:cxnLst/>
            <a:rect l="l" t="t" r="r" b="b"/>
            <a:pathLst>
              <a:path w="2990088" h="0">
                <a:moveTo>
                  <a:pt x="0" y="0"/>
                </a:moveTo>
                <a:lnTo>
                  <a:pt x="2990088" y="0"/>
                </a:lnTo>
              </a:path>
            </a:pathLst>
          </a:custGeom>
          <a:noFill/>
          <a:ln w="18288">
            <a:solidFill>
              <a:srgbClr val="F4F1EA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4F1E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1874520" cy="18745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01168"/>
            <a:ext cx="3291840" cy="768096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4137660"/>
            <a:ext cx="3291840" cy="100584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4280916"/>
            <a:ext cx="2834640" cy="661416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658368" y="1298448"/>
            <a:ext cx="2240280" cy="12344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5472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9" name="Text 2"/>
          <p:cNvSpPr/>
          <p:nvPr/>
        </p:nvSpPr>
        <p:spPr>
          <a:xfrm>
            <a:off x="3054096" y="1600200"/>
            <a:ext cx="5212080" cy="10789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024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核心观点</a:t>
            </a:r>
            <a:endParaRPr lang="en-US" sz="1152" dirty="0"/>
          </a:p>
        </p:txBody>
      </p:sp>
      <p:sp>
        <p:nvSpPr>
          <p:cNvPr id="10" name="Text 3"/>
          <p:cNvSpPr/>
          <p:nvPr/>
        </p:nvSpPr>
        <p:spPr>
          <a:xfrm>
            <a:off x="3108960" y="2834640"/>
            <a:ext cx="4846320" cy="13258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从真实问题出发，形成清晰而有余韵的表达</a:t>
            </a:r>
            <a:endParaRPr lang="en-US" sz="115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4F1E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310896"/>
            <a:ext cx="1417320" cy="14173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20624" y="219456"/>
            <a:ext cx="7772400" cy="1243584"/>
          </a:xfrm>
          <a:custGeom>
            <a:avLst/>
            <a:gdLst/>
            <a:ahLst/>
            <a:cxnLst/>
            <a:rect l="l" t="t" r="r" b="b"/>
            <a:pathLst>
              <a:path w="7772400" h="1243584">
                <a:moveTo>
                  <a:pt x="0" y="0"/>
                </a:moveTo>
                <a:lnTo>
                  <a:pt x="7772400" y="0"/>
                </a:lnTo>
                <a:lnTo>
                  <a:pt x="7772400" y="1243584"/>
                </a:lnTo>
                <a:lnTo>
                  <a:pt x="0" y="1243584"/>
                </a:lnTo>
                <a:close/>
              </a:path>
            </a:pathLst>
          </a:custGeom>
          <a:solidFill>
            <a:srgbClr val="F9FCFA">
              <a:alpha val="9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85216" y="310896"/>
            <a:ext cx="256032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b="1" dirty="0">
                <a:solidFill>
                  <a:srgbClr val="5F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 · SPACE · INSIGHT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85216" y="585216"/>
            <a:ext cx="7406640" cy="859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一个结论，让全场记住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585216" y="1335024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 h="0">
                <a:moveTo>
                  <a:pt x="0" y="0"/>
                </a:moveTo>
                <a:lnTo>
                  <a:pt x="1152144" y="0"/>
                </a:lnTo>
              </a:path>
            </a:pathLst>
          </a:custGeom>
          <a:noFill/>
          <a:ln w="36576">
            <a:solidFill>
              <a:srgbClr val="5F7F87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>
            <a:off x="1737360" y="1335024"/>
            <a:ext cx="585216" cy="0"/>
          </a:xfrm>
          <a:custGeom>
            <a:avLst/>
            <a:gdLst/>
            <a:ahLst/>
            <a:cxnLst/>
            <a:rect l="l" t="t" r="r" b="b"/>
            <a:pathLst>
              <a:path w="585216" h="0">
                <a:moveTo>
                  <a:pt x="0" y="0"/>
                </a:moveTo>
                <a:lnTo>
                  <a:pt x="585216" y="0"/>
                </a:lnTo>
              </a:path>
            </a:pathLst>
          </a:custGeom>
          <a:noFill/>
          <a:ln w="36576">
            <a:solidFill>
              <a:srgbClr val="B8C9CA"/>
            </a:solidFill>
            <a:prstDash val="solid"/>
            <a:headEnd type="none"/>
            <a:tailEnd type="none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01168"/>
            <a:ext cx="3291840" cy="76809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987552" y="205740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571500" y="0"/>
                </a:moveTo>
                <a:cubicBezTo>
                  <a:pt x="886919" y="0"/>
                  <a:pt x="1143000" y="256081"/>
                  <a:pt x="1143000" y="571500"/>
                </a:cubicBezTo>
                <a:cubicBezTo>
                  <a:pt x="1143000" y="886919"/>
                  <a:pt x="886919" y="1143000"/>
                  <a:pt x="571500" y="1143000"/>
                </a:cubicBezTo>
                <a:cubicBezTo>
                  <a:pt x="256081" y="1143000"/>
                  <a:pt x="0" y="886919"/>
                  <a:pt x="0" y="571500"/>
                </a:cubicBezTo>
                <a:cubicBezTo>
                  <a:pt x="0" y="256081"/>
                  <a:pt x="256081" y="0"/>
                  <a:pt x="571500" y="0"/>
                </a:cubicBezTo>
                <a:close/>
              </a:path>
            </a:pathLst>
          </a:custGeom>
          <a:solidFill>
            <a:srgbClr val="F4F1EA"/>
          </a:solidFill>
          <a:ln w="18288">
            <a:solidFill>
              <a:srgbClr val="5F7F87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987552" y="2340864"/>
            <a:ext cx="114300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2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3" name="Text 8"/>
          <p:cNvSpPr/>
          <p:nvPr/>
        </p:nvSpPr>
        <p:spPr>
          <a:xfrm>
            <a:off x="2606040" y="1874520"/>
            <a:ext cx="5577840" cy="78638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结论先行</a:t>
            </a:r>
            <a:endParaRPr lang="en-US" sz="1152" dirty="0"/>
          </a:p>
        </p:txBody>
      </p:sp>
      <p:sp>
        <p:nvSpPr>
          <p:cNvPr id="14" name="Shape 9"/>
          <p:cNvSpPr/>
          <p:nvPr/>
        </p:nvSpPr>
        <p:spPr>
          <a:xfrm>
            <a:off x="2606040" y="2633472"/>
            <a:ext cx="1645920" cy="0"/>
          </a:xfrm>
          <a:custGeom>
            <a:avLst/>
            <a:gdLst/>
            <a:ahLst/>
            <a:cxnLst/>
            <a:rect l="l" t="t" r="r" b="b"/>
            <a:pathLst>
              <a:path w="1645920" h="0">
                <a:moveTo>
                  <a:pt x="0" y="0"/>
                </a:moveTo>
                <a:lnTo>
                  <a:pt x="1645920" y="0"/>
                </a:lnTo>
              </a:path>
            </a:pathLst>
          </a:custGeom>
          <a:noFill/>
          <a:ln w="36576">
            <a:solidFill>
              <a:srgbClr val="5F7F87"/>
            </a:solidFill>
            <a:prstDash val="solid"/>
            <a:headEnd type="none"/>
            <a:tailEnd type="none"/>
          </a:ln>
        </p:spPr>
      </p:sp>
      <p:sp>
        <p:nvSpPr>
          <p:cNvPr id="15" name="Text 10"/>
          <p:cNvSpPr/>
          <p:nvPr/>
        </p:nvSpPr>
        <p:spPr>
          <a:xfrm>
            <a:off x="2606040" y="2880360"/>
            <a:ext cx="5577840" cy="1508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东方意境不是装饰，而是帮助信息建立节奏与层次。</a:t>
            </a:r>
            <a:endParaRPr lang="en-US" sz="1152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024" y="4265676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4F1E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4137660"/>
            <a:ext cx="3291840" cy="10058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20624" y="219456"/>
            <a:ext cx="7772400" cy="1243584"/>
          </a:xfrm>
          <a:custGeom>
            <a:avLst/>
            <a:gdLst/>
            <a:ahLst/>
            <a:cxnLst/>
            <a:rect l="l" t="t" r="r" b="b"/>
            <a:pathLst>
              <a:path w="7772400" h="1243584">
                <a:moveTo>
                  <a:pt x="0" y="0"/>
                </a:moveTo>
                <a:lnTo>
                  <a:pt x="7772400" y="0"/>
                </a:lnTo>
                <a:lnTo>
                  <a:pt x="7772400" y="1243584"/>
                </a:lnTo>
                <a:lnTo>
                  <a:pt x="0" y="1243584"/>
                </a:lnTo>
                <a:close/>
              </a:path>
            </a:pathLst>
          </a:custGeom>
          <a:solidFill>
            <a:srgbClr val="F9FCFA">
              <a:alpha val="9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85216" y="310896"/>
            <a:ext cx="256032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b="1" dirty="0">
                <a:solidFill>
                  <a:srgbClr val="5F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 · SPACE · INSIGHT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85216" y="585216"/>
            <a:ext cx="7406640" cy="859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两项能力共同形成闭环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585216" y="1335024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 h="0">
                <a:moveTo>
                  <a:pt x="0" y="0"/>
                </a:moveTo>
                <a:lnTo>
                  <a:pt x="1152144" y="0"/>
                </a:lnTo>
              </a:path>
            </a:pathLst>
          </a:custGeom>
          <a:noFill/>
          <a:ln w="36576">
            <a:solidFill>
              <a:srgbClr val="5F7F87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>
            <a:off x="1737360" y="1335024"/>
            <a:ext cx="585216" cy="0"/>
          </a:xfrm>
          <a:custGeom>
            <a:avLst/>
            <a:gdLst/>
            <a:ahLst/>
            <a:cxnLst/>
            <a:rect l="l" t="t" r="r" b="b"/>
            <a:pathLst>
              <a:path w="585216" h="0">
                <a:moveTo>
                  <a:pt x="0" y="0"/>
                </a:moveTo>
                <a:lnTo>
                  <a:pt x="585216" y="0"/>
                </a:lnTo>
              </a:path>
            </a:pathLst>
          </a:custGeom>
          <a:noFill/>
          <a:ln w="36576">
            <a:solidFill>
              <a:srgbClr val="B8C9CA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585216" y="1591056"/>
            <a:ext cx="3840480" cy="2743200"/>
          </a:xfrm>
          <a:custGeom>
            <a:avLst/>
            <a:gdLst/>
            <a:ahLst/>
            <a:cxnLst/>
            <a:rect l="l" t="t" r="r" b="b"/>
            <a:pathLst>
              <a:path w="3840480" h="2743200">
                <a:moveTo>
                  <a:pt x="0" y="0"/>
                </a:moveTo>
                <a:lnTo>
                  <a:pt x="3840480" y="0"/>
                </a:lnTo>
                <a:lnTo>
                  <a:pt x="3840480" y="2743200"/>
                </a:lnTo>
                <a:lnTo>
                  <a:pt x="0" y="274320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1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737360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5F7F87"/>
          </a:solidFill>
          <a:ln/>
        </p:spPr>
      </p:sp>
      <p:sp>
        <p:nvSpPr>
          <p:cNvPr id="12" name="Text 8"/>
          <p:cNvSpPr/>
          <p:nvPr/>
        </p:nvSpPr>
        <p:spPr>
          <a:xfrm>
            <a:off x="749808" y="1755648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3" name="Text 9"/>
          <p:cNvSpPr/>
          <p:nvPr/>
        </p:nvSpPr>
        <p:spPr>
          <a:xfrm>
            <a:off x="1335024" y="1728216"/>
            <a:ext cx="2926080" cy="7680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结构清晰</a:t>
            </a:r>
            <a:endParaRPr lang="en-US" sz="1152" dirty="0"/>
          </a:p>
        </p:txBody>
      </p:sp>
      <p:sp>
        <p:nvSpPr>
          <p:cNvPr id="14" name="Text 10"/>
          <p:cNvSpPr/>
          <p:nvPr/>
        </p:nvSpPr>
        <p:spPr>
          <a:xfrm>
            <a:off x="804672" y="2560320"/>
            <a:ext cx="3401568" cy="16642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先建立信息层级，再决定视觉表达。</a:t>
            </a:r>
            <a:endParaRPr lang="en-US" sz="1152" dirty="0"/>
          </a:p>
        </p:txBody>
      </p:sp>
      <p:sp>
        <p:nvSpPr>
          <p:cNvPr id="15" name="Shape 11"/>
          <p:cNvSpPr/>
          <p:nvPr/>
        </p:nvSpPr>
        <p:spPr>
          <a:xfrm>
            <a:off x="4718304" y="1591056"/>
            <a:ext cx="3840480" cy="2743200"/>
          </a:xfrm>
          <a:custGeom>
            <a:avLst/>
            <a:gdLst/>
            <a:ahLst/>
            <a:cxnLst/>
            <a:rect l="l" t="t" r="r" b="b"/>
            <a:pathLst>
              <a:path w="3840480" h="2743200">
                <a:moveTo>
                  <a:pt x="0" y="0"/>
                </a:moveTo>
                <a:lnTo>
                  <a:pt x="3840480" y="0"/>
                </a:lnTo>
                <a:lnTo>
                  <a:pt x="3840480" y="2743200"/>
                </a:lnTo>
                <a:lnTo>
                  <a:pt x="0" y="274320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1E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82896" y="1737360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B8C9CA"/>
          </a:solidFill>
          <a:ln/>
        </p:spPr>
      </p:sp>
      <p:sp>
        <p:nvSpPr>
          <p:cNvPr id="17" name="Text 13"/>
          <p:cNvSpPr/>
          <p:nvPr/>
        </p:nvSpPr>
        <p:spPr>
          <a:xfrm>
            <a:off x="4882896" y="1755648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8" name="Text 14"/>
          <p:cNvSpPr/>
          <p:nvPr/>
        </p:nvSpPr>
        <p:spPr>
          <a:xfrm>
            <a:off x="5468112" y="1728216"/>
            <a:ext cx="2926080" cy="7680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留白有度</a:t>
            </a:r>
            <a:endParaRPr lang="en-US" sz="1152" dirty="0"/>
          </a:p>
        </p:txBody>
      </p:sp>
      <p:sp>
        <p:nvSpPr>
          <p:cNvPr id="19" name="Text 15"/>
          <p:cNvSpPr/>
          <p:nvPr/>
        </p:nvSpPr>
        <p:spPr>
          <a:xfrm>
            <a:off x="4937760" y="2560320"/>
            <a:ext cx="3401568" cy="16642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让核心观点获得足够的阅读空间。</a:t>
            </a:r>
            <a:endParaRPr lang="en-US" sz="11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4F1E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310896"/>
            <a:ext cx="1417320" cy="14173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20624" y="219456"/>
            <a:ext cx="7772400" cy="1243584"/>
          </a:xfrm>
          <a:custGeom>
            <a:avLst/>
            <a:gdLst/>
            <a:ahLst/>
            <a:cxnLst/>
            <a:rect l="l" t="t" r="r" b="b"/>
            <a:pathLst>
              <a:path w="7772400" h="1243584">
                <a:moveTo>
                  <a:pt x="0" y="0"/>
                </a:moveTo>
                <a:lnTo>
                  <a:pt x="7772400" y="0"/>
                </a:lnTo>
                <a:lnTo>
                  <a:pt x="7772400" y="1243584"/>
                </a:lnTo>
                <a:lnTo>
                  <a:pt x="0" y="1243584"/>
                </a:lnTo>
                <a:close/>
              </a:path>
            </a:pathLst>
          </a:custGeom>
          <a:solidFill>
            <a:srgbClr val="F9FCFA">
              <a:alpha val="9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85216" y="310896"/>
            <a:ext cx="256032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b="1" dirty="0">
                <a:solidFill>
                  <a:srgbClr val="5F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 · SPACE · INSIGHT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85216" y="585216"/>
            <a:ext cx="7406640" cy="859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三步推进实施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585216" y="1335024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 h="0">
                <a:moveTo>
                  <a:pt x="0" y="0"/>
                </a:moveTo>
                <a:lnTo>
                  <a:pt x="1152144" y="0"/>
                </a:lnTo>
              </a:path>
            </a:pathLst>
          </a:custGeom>
          <a:noFill/>
          <a:ln w="36576">
            <a:solidFill>
              <a:srgbClr val="5F7F87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>
            <a:off x="1737360" y="1335024"/>
            <a:ext cx="585216" cy="0"/>
          </a:xfrm>
          <a:custGeom>
            <a:avLst/>
            <a:gdLst/>
            <a:ahLst/>
            <a:cxnLst/>
            <a:rect l="l" t="t" r="r" b="b"/>
            <a:pathLst>
              <a:path w="585216" h="0">
                <a:moveTo>
                  <a:pt x="0" y="0"/>
                </a:moveTo>
                <a:lnTo>
                  <a:pt x="585216" y="0"/>
                </a:lnTo>
              </a:path>
            </a:pathLst>
          </a:custGeom>
          <a:noFill/>
          <a:ln w="36576">
            <a:solidFill>
              <a:srgbClr val="B8C9CA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384048" y="1572768"/>
            <a:ext cx="2688336" cy="2971800"/>
          </a:xfrm>
          <a:custGeom>
            <a:avLst/>
            <a:gdLst/>
            <a:ahLst/>
            <a:cxnLst/>
            <a:rect l="l" t="t" r="r" b="b"/>
            <a:pathLst>
              <a:path w="2688336" h="2971800">
                <a:moveTo>
                  <a:pt x="0" y="0"/>
                </a:moveTo>
                <a:lnTo>
                  <a:pt x="2688336" y="0"/>
                </a:lnTo>
                <a:lnTo>
                  <a:pt x="2688336" y="2971800"/>
                </a:lnTo>
                <a:lnTo>
                  <a:pt x="0" y="297180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1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48640" y="1719072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5F7F87"/>
          </a:solidFill>
          <a:ln/>
        </p:spPr>
      </p:sp>
      <p:sp>
        <p:nvSpPr>
          <p:cNvPr id="12" name="Text 8"/>
          <p:cNvSpPr/>
          <p:nvPr/>
        </p:nvSpPr>
        <p:spPr>
          <a:xfrm>
            <a:off x="548640" y="1737360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3" name="Text 9"/>
          <p:cNvSpPr/>
          <p:nvPr/>
        </p:nvSpPr>
        <p:spPr>
          <a:xfrm>
            <a:off x="1133856" y="1709928"/>
            <a:ext cx="1773936" cy="7680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理解问题</a:t>
            </a:r>
            <a:endParaRPr lang="en-US" sz="1152" dirty="0"/>
          </a:p>
        </p:txBody>
      </p:sp>
      <p:sp>
        <p:nvSpPr>
          <p:cNvPr id="14" name="Text 10"/>
          <p:cNvSpPr/>
          <p:nvPr/>
        </p:nvSpPr>
        <p:spPr>
          <a:xfrm>
            <a:off x="603504" y="2542032"/>
            <a:ext cx="2249424" cy="1892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确认受众和决策目标。</a:t>
            </a:r>
            <a:endParaRPr lang="en-US" sz="1152" dirty="0"/>
          </a:p>
        </p:txBody>
      </p:sp>
      <p:sp>
        <p:nvSpPr>
          <p:cNvPr id="15" name="Shape 11"/>
          <p:cNvSpPr/>
          <p:nvPr/>
        </p:nvSpPr>
        <p:spPr>
          <a:xfrm>
            <a:off x="3227832" y="1572768"/>
            <a:ext cx="2688336" cy="2971800"/>
          </a:xfrm>
          <a:custGeom>
            <a:avLst/>
            <a:gdLst/>
            <a:ahLst/>
            <a:cxnLst/>
            <a:rect l="l" t="t" r="r" b="b"/>
            <a:pathLst>
              <a:path w="2688336" h="2971800">
                <a:moveTo>
                  <a:pt x="0" y="0"/>
                </a:moveTo>
                <a:lnTo>
                  <a:pt x="2688336" y="0"/>
                </a:lnTo>
                <a:lnTo>
                  <a:pt x="2688336" y="2971800"/>
                </a:lnTo>
                <a:lnTo>
                  <a:pt x="0" y="297180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1E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392424" y="1719072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B8C9CA"/>
          </a:solidFill>
          <a:ln/>
        </p:spPr>
      </p:sp>
      <p:sp>
        <p:nvSpPr>
          <p:cNvPr id="17" name="Text 13"/>
          <p:cNvSpPr/>
          <p:nvPr/>
        </p:nvSpPr>
        <p:spPr>
          <a:xfrm>
            <a:off x="3392424" y="1737360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8" name="Text 14"/>
          <p:cNvSpPr/>
          <p:nvPr/>
        </p:nvSpPr>
        <p:spPr>
          <a:xfrm>
            <a:off x="3977640" y="1709928"/>
            <a:ext cx="1773936" cy="7680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组织证据</a:t>
            </a:r>
            <a:endParaRPr lang="en-US" sz="1152" dirty="0"/>
          </a:p>
        </p:txBody>
      </p:sp>
      <p:sp>
        <p:nvSpPr>
          <p:cNvPr id="19" name="Text 15"/>
          <p:cNvSpPr/>
          <p:nvPr/>
        </p:nvSpPr>
        <p:spPr>
          <a:xfrm>
            <a:off x="3447288" y="2542032"/>
            <a:ext cx="2249424" cy="1892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用事实支撑核心结论。</a:t>
            </a:r>
            <a:endParaRPr lang="en-US" sz="1152" dirty="0"/>
          </a:p>
        </p:txBody>
      </p:sp>
      <p:sp>
        <p:nvSpPr>
          <p:cNvPr id="20" name="Shape 16"/>
          <p:cNvSpPr/>
          <p:nvPr/>
        </p:nvSpPr>
        <p:spPr>
          <a:xfrm>
            <a:off x="6071616" y="1572768"/>
            <a:ext cx="2688336" cy="2971800"/>
          </a:xfrm>
          <a:custGeom>
            <a:avLst/>
            <a:gdLst/>
            <a:ahLst/>
            <a:cxnLst/>
            <a:rect l="l" t="t" r="r" b="b"/>
            <a:pathLst>
              <a:path w="2688336" h="2971800">
                <a:moveTo>
                  <a:pt x="0" y="0"/>
                </a:moveTo>
                <a:lnTo>
                  <a:pt x="2688336" y="0"/>
                </a:lnTo>
                <a:lnTo>
                  <a:pt x="2688336" y="2971800"/>
                </a:lnTo>
                <a:lnTo>
                  <a:pt x="0" y="297180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1E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236208" y="1719072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B79A63"/>
          </a:solidFill>
          <a:ln/>
        </p:spPr>
      </p:sp>
      <p:sp>
        <p:nvSpPr>
          <p:cNvPr id="22" name="Text 18"/>
          <p:cNvSpPr/>
          <p:nvPr/>
        </p:nvSpPr>
        <p:spPr>
          <a:xfrm>
            <a:off x="6236208" y="1737360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23" name="Text 19"/>
          <p:cNvSpPr/>
          <p:nvPr/>
        </p:nvSpPr>
        <p:spPr>
          <a:xfrm>
            <a:off x="6821424" y="1709928"/>
            <a:ext cx="1773936" cy="7680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形成行动</a:t>
            </a:r>
            <a:endParaRPr lang="en-US" sz="1152" dirty="0"/>
          </a:p>
        </p:txBody>
      </p:sp>
      <p:sp>
        <p:nvSpPr>
          <p:cNvPr id="24" name="Text 20"/>
          <p:cNvSpPr/>
          <p:nvPr/>
        </p:nvSpPr>
        <p:spPr>
          <a:xfrm>
            <a:off x="6291072" y="2542032"/>
            <a:ext cx="2249424" cy="1892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把结论转化为下一步任务。</a:t>
            </a:r>
            <a:endParaRPr lang="en-US" sz="115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4F1E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4137660"/>
            <a:ext cx="3291840" cy="10058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20624" y="219456"/>
            <a:ext cx="7772400" cy="1243584"/>
          </a:xfrm>
          <a:custGeom>
            <a:avLst/>
            <a:gdLst/>
            <a:ahLst/>
            <a:cxnLst/>
            <a:rect l="l" t="t" r="r" b="b"/>
            <a:pathLst>
              <a:path w="7772400" h="1243584">
                <a:moveTo>
                  <a:pt x="0" y="0"/>
                </a:moveTo>
                <a:lnTo>
                  <a:pt x="7772400" y="0"/>
                </a:lnTo>
                <a:lnTo>
                  <a:pt x="7772400" y="1243584"/>
                </a:lnTo>
                <a:lnTo>
                  <a:pt x="0" y="1243584"/>
                </a:lnTo>
                <a:close/>
              </a:path>
            </a:pathLst>
          </a:custGeom>
          <a:solidFill>
            <a:srgbClr val="F9FCFA">
              <a:alpha val="9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85216" y="310896"/>
            <a:ext cx="256032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b="1" dirty="0">
                <a:solidFill>
                  <a:srgbClr val="5F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 · SPACE · INSIGHT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85216" y="585216"/>
            <a:ext cx="7406640" cy="859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四个维度保证表达质量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585216" y="1335024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 h="0">
                <a:moveTo>
                  <a:pt x="0" y="0"/>
                </a:moveTo>
                <a:lnTo>
                  <a:pt x="1152144" y="0"/>
                </a:lnTo>
              </a:path>
            </a:pathLst>
          </a:custGeom>
          <a:noFill/>
          <a:ln w="36576">
            <a:solidFill>
              <a:srgbClr val="5F7F87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>
            <a:off x="1737360" y="1335024"/>
            <a:ext cx="585216" cy="0"/>
          </a:xfrm>
          <a:custGeom>
            <a:avLst/>
            <a:gdLst/>
            <a:ahLst/>
            <a:cxnLst/>
            <a:rect l="l" t="t" r="r" b="b"/>
            <a:pathLst>
              <a:path w="585216" h="0">
                <a:moveTo>
                  <a:pt x="0" y="0"/>
                </a:moveTo>
                <a:lnTo>
                  <a:pt x="585216" y="0"/>
                </a:lnTo>
              </a:path>
            </a:pathLst>
          </a:custGeom>
          <a:noFill/>
          <a:ln w="36576">
            <a:solidFill>
              <a:srgbClr val="B8C9CA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585216" y="1517904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1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664208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5F7F87"/>
          </a:solidFill>
          <a:ln/>
        </p:spPr>
      </p:sp>
      <p:sp>
        <p:nvSpPr>
          <p:cNvPr id="12" name="Text 8"/>
          <p:cNvSpPr/>
          <p:nvPr/>
        </p:nvSpPr>
        <p:spPr>
          <a:xfrm>
            <a:off x="749808" y="1682496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3" name="Text 9"/>
          <p:cNvSpPr/>
          <p:nvPr/>
        </p:nvSpPr>
        <p:spPr>
          <a:xfrm>
            <a:off x="1335024" y="1655064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</a:t>
            </a:r>
            <a:endParaRPr lang="en-US" sz="1152" dirty="0"/>
          </a:p>
        </p:txBody>
      </p:sp>
      <p:sp>
        <p:nvSpPr>
          <p:cNvPr id="14" name="Text 10"/>
          <p:cNvSpPr/>
          <p:nvPr/>
        </p:nvSpPr>
        <p:spPr>
          <a:xfrm>
            <a:off x="804672" y="2267712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明确希望受众理解什么。</a:t>
            </a:r>
            <a:endParaRPr lang="en-US" sz="1152" dirty="0"/>
          </a:p>
        </p:txBody>
      </p:sp>
      <p:sp>
        <p:nvSpPr>
          <p:cNvPr id="15" name="Shape 11"/>
          <p:cNvSpPr/>
          <p:nvPr/>
        </p:nvSpPr>
        <p:spPr>
          <a:xfrm>
            <a:off x="4718304" y="1517904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1E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82896" y="1664208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B8C9CA"/>
          </a:solidFill>
          <a:ln/>
        </p:spPr>
      </p:sp>
      <p:sp>
        <p:nvSpPr>
          <p:cNvPr id="17" name="Text 13"/>
          <p:cNvSpPr/>
          <p:nvPr/>
        </p:nvSpPr>
        <p:spPr>
          <a:xfrm>
            <a:off x="4882896" y="1682496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8" name="Text 14"/>
          <p:cNvSpPr/>
          <p:nvPr/>
        </p:nvSpPr>
        <p:spPr>
          <a:xfrm>
            <a:off x="5468112" y="1655064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</a:t>
            </a:r>
            <a:endParaRPr lang="en-US" sz="1152" dirty="0"/>
          </a:p>
        </p:txBody>
      </p:sp>
      <p:sp>
        <p:nvSpPr>
          <p:cNvPr id="19" name="Text 15"/>
          <p:cNvSpPr/>
          <p:nvPr/>
        </p:nvSpPr>
        <p:spPr>
          <a:xfrm>
            <a:off x="4937760" y="2267712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每页只承担一个叙事任务。</a:t>
            </a:r>
            <a:endParaRPr lang="en-US" sz="1152" dirty="0"/>
          </a:p>
        </p:txBody>
      </p:sp>
      <p:sp>
        <p:nvSpPr>
          <p:cNvPr id="20" name="Shape 16"/>
          <p:cNvSpPr/>
          <p:nvPr/>
        </p:nvSpPr>
        <p:spPr>
          <a:xfrm>
            <a:off x="585216" y="3236976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1E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49808" y="3383280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B79A63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" y="3401568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23" name="Text 19"/>
          <p:cNvSpPr/>
          <p:nvPr/>
        </p:nvSpPr>
        <p:spPr>
          <a:xfrm>
            <a:off x="1335024" y="3374136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</a:t>
            </a:r>
            <a:endParaRPr lang="en-US" sz="1152" dirty="0"/>
          </a:p>
        </p:txBody>
      </p:sp>
      <p:sp>
        <p:nvSpPr>
          <p:cNvPr id="24" name="Text 20"/>
          <p:cNvSpPr/>
          <p:nvPr/>
        </p:nvSpPr>
        <p:spPr>
          <a:xfrm>
            <a:off x="804672" y="3986784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数据与案例服务当前观点。</a:t>
            </a:r>
            <a:endParaRPr lang="en-US" sz="1152" dirty="0"/>
          </a:p>
        </p:txBody>
      </p:sp>
      <p:sp>
        <p:nvSpPr>
          <p:cNvPr id="25" name="Shape 21"/>
          <p:cNvSpPr/>
          <p:nvPr/>
        </p:nvSpPr>
        <p:spPr>
          <a:xfrm>
            <a:off x="4718304" y="3236976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1E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882896" y="3383280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5F7F87"/>
          </a:solidFill>
          <a:ln/>
        </p:spPr>
      </p:sp>
      <p:sp>
        <p:nvSpPr>
          <p:cNvPr id="27" name="Text 23"/>
          <p:cNvSpPr/>
          <p:nvPr/>
        </p:nvSpPr>
        <p:spPr>
          <a:xfrm>
            <a:off x="4882896" y="3401568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8" name="Text 24"/>
          <p:cNvSpPr/>
          <p:nvPr/>
        </p:nvSpPr>
        <p:spPr>
          <a:xfrm>
            <a:off x="5468112" y="3374136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行动</a:t>
            </a:r>
            <a:endParaRPr lang="en-US" sz="1152" dirty="0"/>
          </a:p>
        </p:txBody>
      </p:sp>
      <p:sp>
        <p:nvSpPr>
          <p:cNvPr id="29" name="Text 25"/>
          <p:cNvSpPr/>
          <p:nvPr/>
        </p:nvSpPr>
        <p:spPr>
          <a:xfrm>
            <a:off x="4937760" y="3986784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结尾给出明确下一步。</a:t>
            </a:r>
            <a:endParaRPr lang="en-US" sz="115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4F1E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310896"/>
            <a:ext cx="1417320" cy="14173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20624" y="219456"/>
            <a:ext cx="7772400" cy="1243584"/>
          </a:xfrm>
          <a:custGeom>
            <a:avLst/>
            <a:gdLst/>
            <a:ahLst/>
            <a:cxnLst/>
            <a:rect l="l" t="t" r="r" b="b"/>
            <a:pathLst>
              <a:path w="7772400" h="1243584">
                <a:moveTo>
                  <a:pt x="0" y="0"/>
                </a:moveTo>
                <a:lnTo>
                  <a:pt x="7772400" y="0"/>
                </a:lnTo>
                <a:lnTo>
                  <a:pt x="7772400" y="1243584"/>
                </a:lnTo>
                <a:lnTo>
                  <a:pt x="0" y="1243584"/>
                </a:lnTo>
                <a:close/>
              </a:path>
            </a:pathLst>
          </a:custGeom>
          <a:solidFill>
            <a:srgbClr val="F9FCFA">
              <a:alpha val="9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85216" y="310896"/>
            <a:ext cx="256032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b="1" dirty="0">
                <a:solidFill>
                  <a:srgbClr val="5F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 · SPACE · INSIGHT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85216" y="585216"/>
            <a:ext cx="7406640" cy="859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关键数字说明真实变化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585216" y="1335024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 h="0">
                <a:moveTo>
                  <a:pt x="0" y="0"/>
                </a:moveTo>
                <a:lnTo>
                  <a:pt x="1152144" y="0"/>
                </a:lnTo>
              </a:path>
            </a:pathLst>
          </a:custGeom>
          <a:noFill/>
          <a:ln w="36576">
            <a:solidFill>
              <a:srgbClr val="5F7F87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>
            <a:off x="1737360" y="1335024"/>
            <a:ext cx="585216" cy="0"/>
          </a:xfrm>
          <a:custGeom>
            <a:avLst/>
            <a:gdLst/>
            <a:ahLst/>
            <a:cxnLst/>
            <a:rect l="l" t="t" r="r" b="b"/>
            <a:pathLst>
              <a:path w="585216" h="0">
                <a:moveTo>
                  <a:pt x="0" y="0"/>
                </a:moveTo>
                <a:lnTo>
                  <a:pt x="585216" y="0"/>
                </a:lnTo>
              </a:path>
            </a:pathLst>
          </a:custGeom>
          <a:noFill/>
          <a:ln w="36576">
            <a:solidFill>
              <a:srgbClr val="B8C9CA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1014984" y="1737360"/>
            <a:ext cx="1645920" cy="1645920"/>
          </a:xfrm>
          <a:custGeom>
            <a:avLst/>
            <a:gdLst/>
            <a:ahLst/>
            <a:cxnLst/>
            <a:rect l="l" t="t" r="r" b="b"/>
            <a:pathLst>
              <a:path w="1645920" h="1645920">
                <a:moveTo>
                  <a:pt x="822960" y="0"/>
                </a:moveTo>
                <a:cubicBezTo>
                  <a:pt x="1277164" y="0"/>
                  <a:pt x="1645920" y="368756"/>
                  <a:pt x="1645920" y="822960"/>
                </a:cubicBezTo>
                <a:cubicBezTo>
                  <a:pt x="1645920" y="1277164"/>
                  <a:pt x="1277164" y="1645920"/>
                  <a:pt x="822960" y="1645920"/>
                </a:cubicBezTo>
                <a:cubicBezTo>
                  <a:pt x="368756" y="1645920"/>
                  <a:pt x="0" y="1277164"/>
                  <a:pt x="0" y="822960"/>
                </a:cubicBezTo>
                <a:cubicBezTo>
                  <a:pt x="0" y="368756"/>
                  <a:pt x="368756" y="0"/>
                  <a:pt x="822960" y="0"/>
                </a:cubicBezTo>
                <a:close/>
              </a:path>
            </a:pathLst>
          </a:custGeom>
          <a:solidFill>
            <a:srgbClr val="FFFFFF">
              <a:alpha val="94000"/>
            </a:srgbClr>
          </a:solidFill>
          <a:ln w="45720">
            <a:solidFill>
              <a:srgbClr val="5F7F8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014984" y="2212848"/>
            <a:ext cx="16459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76" b="1" dirty="0">
                <a:solidFill>
                  <a:srgbClr val="5F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152" dirty="0"/>
          </a:p>
        </p:txBody>
      </p:sp>
      <p:sp>
        <p:nvSpPr>
          <p:cNvPr id="12" name="Text 8"/>
          <p:cNvSpPr/>
          <p:nvPr/>
        </p:nvSpPr>
        <p:spPr>
          <a:xfrm>
            <a:off x="603504" y="3511296"/>
            <a:ext cx="2468880" cy="6035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信息识别</a:t>
            </a:r>
            <a:endParaRPr lang="en-US" sz="1152" dirty="0"/>
          </a:p>
        </p:txBody>
      </p:sp>
      <p:sp>
        <p:nvSpPr>
          <p:cNvPr id="13" name="Shape 9"/>
          <p:cNvSpPr/>
          <p:nvPr/>
        </p:nvSpPr>
        <p:spPr>
          <a:xfrm>
            <a:off x="3749040" y="1737360"/>
            <a:ext cx="1645920" cy="1645920"/>
          </a:xfrm>
          <a:custGeom>
            <a:avLst/>
            <a:gdLst/>
            <a:ahLst/>
            <a:cxnLst/>
            <a:rect l="l" t="t" r="r" b="b"/>
            <a:pathLst>
              <a:path w="1645920" h="1645920">
                <a:moveTo>
                  <a:pt x="822960" y="0"/>
                </a:moveTo>
                <a:cubicBezTo>
                  <a:pt x="1277164" y="0"/>
                  <a:pt x="1645920" y="368756"/>
                  <a:pt x="1645920" y="822960"/>
                </a:cubicBezTo>
                <a:cubicBezTo>
                  <a:pt x="1645920" y="1277164"/>
                  <a:pt x="1277164" y="1645920"/>
                  <a:pt x="822960" y="1645920"/>
                </a:cubicBezTo>
                <a:cubicBezTo>
                  <a:pt x="368756" y="1645920"/>
                  <a:pt x="0" y="1277164"/>
                  <a:pt x="0" y="822960"/>
                </a:cubicBezTo>
                <a:cubicBezTo>
                  <a:pt x="0" y="368756"/>
                  <a:pt x="368756" y="0"/>
                  <a:pt x="822960" y="0"/>
                </a:cubicBezTo>
                <a:close/>
              </a:path>
            </a:pathLst>
          </a:custGeom>
          <a:solidFill>
            <a:srgbClr val="FFFFFF">
              <a:alpha val="94000"/>
            </a:srgbClr>
          </a:solidFill>
          <a:ln w="45720">
            <a:solidFill>
              <a:srgbClr val="B8C9C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749040" y="2212848"/>
            <a:ext cx="16459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76" b="1" dirty="0">
                <a:solidFill>
                  <a:srgbClr val="B8C9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1152" dirty="0"/>
          </a:p>
        </p:txBody>
      </p:sp>
      <p:sp>
        <p:nvSpPr>
          <p:cNvPr id="15" name="Text 11"/>
          <p:cNvSpPr/>
          <p:nvPr/>
        </p:nvSpPr>
        <p:spPr>
          <a:xfrm>
            <a:off x="3337560" y="3511296"/>
            <a:ext cx="2468880" cy="6035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阅读效率</a:t>
            </a:r>
            <a:endParaRPr lang="en-US" sz="1152" dirty="0"/>
          </a:p>
        </p:txBody>
      </p:sp>
      <p:sp>
        <p:nvSpPr>
          <p:cNvPr id="16" name="Shape 12"/>
          <p:cNvSpPr/>
          <p:nvPr/>
        </p:nvSpPr>
        <p:spPr>
          <a:xfrm>
            <a:off x="6483096" y="1737360"/>
            <a:ext cx="1645920" cy="1645920"/>
          </a:xfrm>
          <a:custGeom>
            <a:avLst/>
            <a:gdLst/>
            <a:ahLst/>
            <a:cxnLst/>
            <a:rect l="l" t="t" r="r" b="b"/>
            <a:pathLst>
              <a:path w="1645920" h="1645920">
                <a:moveTo>
                  <a:pt x="822960" y="0"/>
                </a:moveTo>
                <a:cubicBezTo>
                  <a:pt x="1277164" y="0"/>
                  <a:pt x="1645920" y="368756"/>
                  <a:pt x="1645920" y="822960"/>
                </a:cubicBezTo>
                <a:cubicBezTo>
                  <a:pt x="1645920" y="1277164"/>
                  <a:pt x="1277164" y="1645920"/>
                  <a:pt x="822960" y="1645920"/>
                </a:cubicBezTo>
                <a:cubicBezTo>
                  <a:pt x="368756" y="1645920"/>
                  <a:pt x="0" y="1277164"/>
                  <a:pt x="0" y="822960"/>
                </a:cubicBezTo>
                <a:cubicBezTo>
                  <a:pt x="0" y="368756"/>
                  <a:pt x="368756" y="0"/>
                  <a:pt x="822960" y="0"/>
                </a:cubicBezTo>
                <a:close/>
              </a:path>
            </a:pathLst>
          </a:custGeom>
          <a:solidFill>
            <a:srgbClr val="FFFFFF">
              <a:alpha val="94000"/>
            </a:srgbClr>
          </a:solidFill>
          <a:ln w="45720">
            <a:solidFill>
              <a:srgbClr val="B79A6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83096" y="2212848"/>
            <a:ext cx="16459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76" b="1" dirty="0">
                <a:solidFill>
                  <a:srgbClr val="B79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152" dirty="0"/>
          </a:p>
        </p:txBody>
      </p:sp>
      <p:sp>
        <p:nvSpPr>
          <p:cNvPr id="18" name="Text 14"/>
          <p:cNvSpPr/>
          <p:nvPr/>
        </p:nvSpPr>
        <p:spPr>
          <a:xfrm>
            <a:off x="6071616" y="3511296"/>
            <a:ext cx="2468880" cy="6035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行动转化</a:t>
            </a:r>
            <a:endParaRPr lang="en-US" sz="115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4F1E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201168"/>
            <a:ext cx="3291840" cy="76809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4137660"/>
            <a:ext cx="3291840" cy="100584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420624" y="219456"/>
            <a:ext cx="7772400" cy="1243584"/>
          </a:xfrm>
          <a:custGeom>
            <a:avLst/>
            <a:gdLst/>
            <a:ahLst/>
            <a:cxnLst/>
            <a:rect l="l" t="t" r="r" b="b"/>
            <a:pathLst>
              <a:path w="7772400" h="1243584">
                <a:moveTo>
                  <a:pt x="0" y="0"/>
                </a:moveTo>
                <a:lnTo>
                  <a:pt x="7772400" y="0"/>
                </a:lnTo>
                <a:lnTo>
                  <a:pt x="7772400" y="1243584"/>
                </a:lnTo>
                <a:lnTo>
                  <a:pt x="0" y="1243584"/>
                </a:lnTo>
                <a:close/>
              </a:path>
            </a:pathLst>
          </a:custGeom>
          <a:solidFill>
            <a:srgbClr val="F9FCFA">
              <a:alpha val="90000"/>
            </a:srgbClr>
          </a:solidFill>
          <a:ln/>
        </p:spPr>
      </p:sp>
      <p:sp>
        <p:nvSpPr>
          <p:cNvPr id="7" name="Text 2"/>
          <p:cNvSpPr/>
          <p:nvPr/>
        </p:nvSpPr>
        <p:spPr>
          <a:xfrm>
            <a:off x="585216" y="310896"/>
            <a:ext cx="256032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b="1" dirty="0">
                <a:solidFill>
                  <a:srgbClr val="5F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 · SPACE · INSIGHT</a:t>
            </a:r>
            <a:endParaRPr lang="en-US" sz="1152" dirty="0"/>
          </a:p>
        </p:txBody>
      </p:sp>
      <p:sp>
        <p:nvSpPr>
          <p:cNvPr id="8" name="Text 3"/>
          <p:cNvSpPr/>
          <p:nvPr/>
        </p:nvSpPr>
        <p:spPr>
          <a:xfrm>
            <a:off x="585216" y="585216"/>
            <a:ext cx="7406640" cy="7040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一张图说明关键场景</a:t>
            </a:r>
            <a:endParaRPr lang="en-US" sz="1152" dirty="0"/>
          </a:p>
        </p:txBody>
      </p:sp>
      <p:sp>
        <p:nvSpPr>
          <p:cNvPr id="9" name="Shape 4"/>
          <p:cNvSpPr/>
          <p:nvPr/>
        </p:nvSpPr>
        <p:spPr>
          <a:xfrm>
            <a:off x="585216" y="1335024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 h="0">
                <a:moveTo>
                  <a:pt x="0" y="0"/>
                </a:moveTo>
                <a:lnTo>
                  <a:pt x="1152144" y="0"/>
                </a:lnTo>
              </a:path>
            </a:pathLst>
          </a:custGeom>
          <a:noFill/>
          <a:ln w="36576">
            <a:solidFill>
              <a:srgbClr val="5F7F87"/>
            </a:solidFill>
            <a:prstDash val="solid"/>
            <a:headEnd type="none"/>
            <a:tailEnd type="none"/>
          </a:ln>
        </p:spPr>
      </p:sp>
      <p:sp>
        <p:nvSpPr>
          <p:cNvPr id="10" name="Shape 5"/>
          <p:cNvSpPr/>
          <p:nvPr/>
        </p:nvSpPr>
        <p:spPr>
          <a:xfrm>
            <a:off x="1737360" y="1335024"/>
            <a:ext cx="585216" cy="0"/>
          </a:xfrm>
          <a:custGeom>
            <a:avLst/>
            <a:gdLst/>
            <a:ahLst/>
            <a:cxnLst/>
            <a:rect l="l" t="t" r="r" b="b"/>
            <a:pathLst>
              <a:path w="585216" h="0">
                <a:moveTo>
                  <a:pt x="0" y="0"/>
                </a:moveTo>
                <a:lnTo>
                  <a:pt x="585216" y="0"/>
                </a:lnTo>
              </a:path>
            </a:pathLst>
          </a:custGeom>
          <a:noFill/>
          <a:ln w="36576">
            <a:solidFill>
              <a:srgbClr val="B8C9CA"/>
            </a:solidFill>
            <a:prstDash val="solid"/>
            <a:headEnd type="none"/>
            <a:tailEnd type="none"/>
          </a:ln>
        </p:spPr>
      </p:sp>
      <p:sp>
        <p:nvSpPr>
          <p:cNvPr id="11" name="Shape 6"/>
          <p:cNvSpPr/>
          <p:nvPr/>
        </p:nvSpPr>
        <p:spPr>
          <a:xfrm>
            <a:off x="640080" y="1554480"/>
            <a:ext cx="3840480" cy="3017520"/>
          </a:xfrm>
          <a:custGeom>
            <a:avLst/>
            <a:gdLst/>
            <a:ahLst/>
            <a:cxnLst/>
            <a:rect l="l" t="t" r="r" b="b"/>
            <a:pathLst>
              <a:path w="3840480" h="3017520">
                <a:moveTo>
                  <a:pt x="0" y="0"/>
                </a:moveTo>
                <a:lnTo>
                  <a:pt x="3840480" y="0"/>
                </a:lnTo>
                <a:lnTo>
                  <a:pt x="3840480" y="3017520"/>
                </a:lnTo>
                <a:lnTo>
                  <a:pt x="0" y="3017520"/>
                </a:lnTo>
                <a:close/>
              </a:path>
            </a:pathLst>
          </a:custGeom>
          <a:solidFill>
            <a:srgbClr val="FFFFFF"/>
          </a:solidFill>
          <a:ln w="18288">
            <a:solidFill>
              <a:srgbClr val="F4F1E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57154" y="1682496"/>
            <a:ext cx="11834949" cy="27614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37760" y="1645920"/>
            <a:ext cx="640080" cy="40919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5F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4" name="Text 8"/>
          <p:cNvSpPr/>
          <p:nvPr/>
        </p:nvSpPr>
        <p:spPr>
          <a:xfrm>
            <a:off x="4937760" y="2057400"/>
            <a:ext cx="356616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山水框景</a:t>
            </a:r>
            <a:endParaRPr lang="en-US" sz="1152" dirty="0"/>
          </a:p>
        </p:txBody>
      </p:sp>
      <p:sp>
        <p:nvSpPr>
          <p:cNvPr id="15" name="Shape 9"/>
          <p:cNvSpPr/>
          <p:nvPr/>
        </p:nvSpPr>
        <p:spPr>
          <a:xfrm>
            <a:off x="4937760" y="2834640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 h="0">
                <a:moveTo>
                  <a:pt x="0" y="0"/>
                </a:moveTo>
                <a:lnTo>
                  <a:pt x="1371600" y="0"/>
                </a:lnTo>
              </a:path>
            </a:pathLst>
          </a:custGeom>
          <a:noFill/>
          <a:ln w="27432">
            <a:solidFill>
              <a:srgbClr val="B8C9CA"/>
            </a:solidFill>
            <a:prstDash val="solid"/>
            <a:headEnd type="none"/>
            <a:tailEnd type="none"/>
          </a:ln>
        </p:spPr>
      </p:sp>
      <p:sp>
        <p:nvSpPr>
          <p:cNvPr id="16" name="Text 10"/>
          <p:cNvSpPr/>
          <p:nvPr/>
        </p:nvSpPr>
        <p:spPr>
          <a:xfrm>
            <a:off x="4937760" y="3063240"/>
            <a:ext cx="3566160" cy="6766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图片与正文共同呈现安静、克制且可编辑的表达。</a:t>
            </a:r>
            <a:endParaRPr lang="en-US" sz="115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4F1E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201168"/>
            <a:ext cx="3291840" cy="76809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4137660"/>
            <a:ext cx="3291840" cy="100584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420624" y="219456"/>
            <a:ext cx="7772400" cy="1243584"/>
          </a:xfrm>
          <a:custGeom>
            <a:avLst/>
            <a:gdLst/>
            <a:ahLst/>
            <a:cxnLst/>
            <a:rect l="l" t="t" r="r" b="b"/>
            <a:pathLst>
              <a:path w="7772400" h="1243584">
                <a:moveTo>
                  <a:pt x="0" y="0"/>
                </a:moveTo>
                <a:lnTo>
                  <a:pt x="7772400" y="0"/>
                </a:lnTo>
                <a:lnTo>
                  <a:pt x="7772400" y="1243584"/>
                </a:lnTo>
                <a:lnTo>
                  <a:pt x="0" y="1243584"/>
                </a:lnTo>
                <a:close/>
              </a:path>
            </a:pathLst>
          </a:custGeom>
          <a:solidFill>
            <a:srgbClr val="F9FCFA">
              <a:alpha val="90000"/>
            </a:srgbClr>
          </a:solidFill>
          <a:ln/>
        </p:spPr>
      </p:sp>
      <p:sp>
        <p:nvSpPr>
          <p:cNvPr id="7" name="Text 2"/>
          <p:cNvSpPr/>
          <p:nvPr/>
        </p:nvSpPr>
        <p:spPr>
          <a:xfrm>
            <a:off x="585216" y="310896"/>
            <a:ext cx="256032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b="1" dirty="0">
                <a:solidFill>
                  <a:srgbClr val="5F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 · SPACE · INSIGHT</a:t>
            </a:r>
            <a:endParaRPr lang="en-US" sz="1152" dirty="0"/>
          </a:p>
        </p:txBody>
      </p:sp>
      <p:sp>
        <p:nvSpPr>
          <p:cNvPr id="8" name="Text 3"/>
          <p:cNvSpPr/>
          <p:nvPr/>
        </p:nvSpPr>
        <p:spPr>
          <a:xfrm>
            <a:off x="585216" y="585216"/>
            <a:ext cx="7406640" cy="859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八项任务自动拆页</a:t>
            </a:r>
            <a:endParaRPr lang="en-US" sz="1152" dirty="0"/>
          </a:p>
        </p:txBody>
      </p:sp>
      <p:sp>
        <p:nvSpPr>
          <p:cNvPr id="9" name="Shape 4"/>
          <p:cNvSpPr/>
          <p:nvPr/>
        </p:nvSpPr>
        <p:spPr>
          <a:xfrm>
            <a:off x="585216" y="1335024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 h="0">
                <a:moveTo>
                  <a:pt x="0" y="0"/>
                </a:moveTo>
                <a:lnTo>
                  <a:pt x="1152144" y="0"/>
                </a:lnTo>
              </a:path>
            </a:pathLst>
          </a:custGeom>
          <a:noFill/>
          <a:ln w="36576">
            <a:solidFill>
              <a:srgbClr val="5F7F87"/>
            </a:solidFill>
            <a:prstDash val="solid"/>
            <a:headEnd type="none"/>
            <a:tailEnd type="none"/>
          </a:ln>
        </p:spPr>
      </p:sp>
      <p:sp>
        <p:nvSpPr>
          <p:cNvPr id="10" name="Shape 5"/>
          <p:cNvSpPr/>
          <p:nvPr/>
        </p:nvSpPr>
        <p:spPr>
          <a:xfrm>
            <a:off x="1737360" y="1335024"/>
            <a:ext cx="585216" cy="0"/>
          </a:xfrm>
          <a:custGeom>
            <a:avLst/>
            <a:gdLst/>
            <a:ahLst/>
            <a:cxnLst/>
            <a:rect l="l" t="t" r="r" b="b"/>
            <a:pathLst>
              <a:path w="585216" h="0">
                <a:moveTo>
                  <a:pt x="0" y="0"/>
                </a:moveTo>
                <a:lnTo>
                  <a:pt x="585216" y="0"/>
                </a:lnTo>
              </a:path>
            </a:pathLst>
          </a:custGeom>
          <a:noFill/>
          <a:ln w="36576">
            <a:solidFill>
              <a:srgbClr val="B8C9CA"/>
            </a:solidFill>
            <a:prstDash val="solid"/>
            <a:headEnd type="none"/>
            <a:tailEnd type="none"/>
          </a:ln>
        </p:spPr>
      </p:sp>
      <p:sp>
        <p:nvSpPr>
          <p:cNvPr id="11" name="Shape 6"/>
          <p:cNvSpPr/>
          <p:nvPr/>
        </p:nvSpPr>
        <p:spPr>
          <a:xfrm>
            <a:off x="2075688" y="2368296"/>
            <a:ext cx="713232" cy="0"/>
          </a:xfrm>
          <a:custGeom>
            <a:avLst/>
            <a:gdLst/>
            <a:ahLst/>
            <a:cxnLst/>
            <a:rect l="l" t="t" r="r" b="b"/>
            <a:pathLst>
              <a:path w="713232" h="0">
                <a:moveTo>
                  <a:pt x="0" y="0"/>
                </a:moveTo>
                <a:lnTo>
                  <a:pt x="713232" y="0"/>
                </a:lnTo>
              </a:path>
            </a:pathLst>
          </a:custGeom>
          <a:noFill/>
          <a:ln w="45720">
            <a:solidFill>
              <a:srgbClr val="F4F1EA"/>
            </a:solidFill>
            <a:prstDash val="solid"/>
            <a:headEnd type="none"/>
            <a:tailEnd type="none"/>
          </a:ln>
        </p:spPr>
      </p:sp>
      <p:sp>
        <p:nvSpPr>
          <p:cNvPr id="12" name="Shape 7"/>
          <p:cNvSpPr/>
          <p:nvPr/>
        </p:nvSpPr>
        <p:spPr>
          <a:xfrm>
            <a:off x="987552" y="1874520"/>
            <a:ext cx="987552" cy="987552"/>
          </a:xfrm>
          <a:custGeom>
            <a:avLst/>
            <a:gdLst/>
            <a:ahLst/>
            <a:cxnLst/>
            <a:rect l="l" t="t" r="r" b="b"/>
            <a:pathLst>
              <a:path w="987552" h="987552">
                <a:moveTo>
                  <a:pt x="493776" y="0"/>
                </a:moveTo>
                <a:cubicBezTo>
                  <a:pt x="766298" y="0"/>
                  <a:pt x="987552" y="221254"/>
                  <a:pt x="987552" y="493776"/>
                </a:cubicBezTo>
                <a:cubicBezTo>
                  <a:pt x="987552" y="766298"/>
                  <a:pt x="766298" y="987552"/>
                  <a:pt x="493776" y="987552"/>
                </a:cubicBezTo>
                <a:cubicBezTo>
                  <a:pt x="221254" y="987552"/>
                  <a:pt x="0" y="766298"/>
                  <a:pt x="0" y="493776"/>
                </a:cubicBezTo>
                <a:cubicBezTo>
                  <a:pt x="0" y="221254"/>
                  <a:pt x="221254" y="0"/>
                  <a:pt x="493776" y="0"/>
                </a:cubicBezTo>
                <a:close/>
              </a:path>
            </a:pathLst>
          </a:custGeom>
          <a:solidFill>
            <a:srgbClr val="FFFFFF"/>
          </a:solidFill>
          <a:ln w="36576">
            <a:solidFill>
              <a:srgbClr val="5F7F87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987552" y="2157984"/>
            <a:ext cx="987552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5F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4" name="Text 9"/>
          <p:cNvSpPr/>
          <p:nvPr/>
        </p:nvSpPr>
        <p:spPr>
          <a:xfrm>
            <a:off x="502920" y="3017520"/>
            <a:ext cx="1956816" cy="6035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 1</a:t>
            </a:r>
            <a:endParaRPr lang="en-US" sz="1152" dirty="0"/>
          </a:p>
        </p:txBody>
      </p:sp>
      <p:sp>
        <p:nvSpPr>
          <p:cNvPr id="15" name="Text 10"/>
          <p:cNvSpPr/>
          <p:nvPr/>
        </p:nvSpPr>
        <p:spPr>
          <a:xfrm>
            <a:off x="548640" y="3630168"/>
            <a:ext cx="1865376" cy="10058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项任务按原顺序完整保留。</a:t>
            </a:r>
            <a:endParaRPr lang="en-US" sz="1152" dirty="0"/>
          </a:p>
        </p:txBody>
      </p:sp>
      <p:sp>
        <p:nvSpPr>
          <p:cNvPr id="16" name="Shape 11"/>
          <p:cNvSpPr/>
          <p:nvPr/>
        </p:nvSpPr>
        <p:spPr>
          <a:xfrm>
            <a:off x="4206240" y="2368296"/>
            <a:ext cx="713232" cy="0"/>
          </a:xfrm>
          <a:custGeom>
            <a:avLst/>
            <a:gdLst/>
            <a:ahLst/>
            <a:cxnLst/>
            <a:rect l="l" t="t" r="r" b="b"/>
            <a:pathLst>
              <a:path w="713232" h="0">
                <a:moveTo>
                  <a:pt x="0" y="0"/>
                </a:moveTo>
                <a:lnTo>
                  <a:pt x="713232" y="0"/>
                </a:lnTo>
              </a:path>
            </a:pathLst>
          </a:custGeom>
          <a:noFill/>
          <a:ln w="45720">
            <a:solidFill>
              <a:srgbClr val="F4F1EA"/>
            </a:solidFill>
            <a:prstDash val="solid"/>
            <a:headEnd type="none"/>
            <a:tailEnd type="none"/>
          </a:ln>
        </p:spPr>
      </p:sp>
      <p:sp>
        <p:nvSpPr>
          <p:cNvPr id="17" name="Shape 12"/>
          <p:cNvSpPr/>
          <p:nvPr/>
        </p:nvSpPr>
        <p:spPr>
          <a:xfrm>
            <a:off x="3118104" y="1874520"/>
            <a:ext cx="987552" cy="987552"/>
          </a:xfrm>
          <a:custGeom>
            <a:avLst/>
            <a:gdLst/>
            <a:ahLst/>
            <a:cxnLst/>
            <a:rect l="l" t="t" r="r" b="b"/>
            <a:pathLst>
              <a:path w="987552" h="987552">
                <a:moveTo>
                  <a:pt x="493776" y="0"/>
                </a:moveTo>
                <a:cubicBezTo>
                  <a:pt x="766298" y="0"/>
                  <a:pt x="987552" y="221254"/>
                  <a:pt x="987552" y="493776"/>
                </a:cubicBezTo>
                <a:cubicBezTo>
                  <a:pt x="987552" y="766298"/>
                  <a:pt x="766298" y="987552"/>
                  <a:pt x="493776" y="987552"/>
                </a:cubicBezTo>
                <a:cubicBezTo>
                  <a:pt x="221254" y="987552"/>
                  <a:pt x="0" y="766298"/>
                  <a:pt x="0" y="493776"/>
                </a:cubicBezTo>
                <a:cubicBezTo>
                  <a:pt x="0" y="221254"/>
                  <a:pt x="221254" y="0"/>
                  <a:pt x="493776" y="0"/>
                </a:cubicBezTo>
                <a:close/>
              </a:path>
            </a:pathLst>
          </a:custGeom>
          <a:solidFill>
            <a:srgbClr val="FFFFFF"/>
          </a:solidFill>
          <a:ln w="36576">
            <a:solidFill>
              <a:srgbClr val="B8C9C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118104" y="2157984"/>
            <a:ext cx="987552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B8C9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9" name="Text 14"/>
          <p:cNvSpPr/>
          <p:nvPr/>
        </p:nvSpPr>
        <p:spPr>
          <a:xfrm>
            <a:off x="2633472" y="3017520"/>
            <a:ext cx="1956816" cy="6035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 2</a:t>
            </a:r>
            <a:endParaRPr lang="en-US" sz="1152" dirty="0"/>
          </a:p>
        </p:txBody>
      </p:sp>
      <p:sp>
        <p:nvSpPr>
          <p:cNvPr id="20" name="Text 15"/>
          <p:cNvSpPr/>
          <p:nvPr/>
        </p:nvSpPr>
        <p:spPr>
          <a:xfrm>
            <a:off x="2679192" y="3630168"/>
            <a:ext cx="1865376" cy="10058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项任务按原顺序完整保留。</a:t>
            </a:r>
            <a:endParaRPr lang="en-US" sz="1152" dirty="0"/>
          </a:p>
        </p:txBody>
      </p:sp>
      <p:sp>
        <p:nvSpPr>
          <p:cNvPr id="21" name="Shape 16"/>
          <p:cNvSpPr/>
          <p:nvPr/>
        </p:nvSpPr>
        <p:spPr>
          <a:xfrm>
            <a:off x="6336792" y="2368296"/>
            <a:ext cx="713232" cy="0"/>
          </a:xfrm>
          <a:custGeom>
            <a:avLst/>
            <a:gdLst/>
            <a:ahLst/>
            <a:cxnLst/>
            <a:rect l="l" t="t" r="r" b="b"/>
            <a:pathLst>
              <a:path w="713232" h="0">
                <a:moveTo>
                  <a:pt x="0" y="0"/>
                </a:moveTo>
                <a:lnTo>
                  <a:pt x="713232" y="0"/>
                </a:lnTo>
              </a:path>
            </a:pathLst>
          </a:custGeom>
          <a:noFill/>
          <a:ln w="45720">
            <a:solidFill>
              <a:srgbClr val="F4F1EA"/>
            </a:solidFill>
            <a:prstDash val="solid"/>
            <a:headEnd type="none"/>
            <a:tailEnd type="none"/>
          </a:ln>
        </p:spPr>
      </p:sp>
      <p:sp>
        <p:nvSpPr>
          <p:cNvPr id="22" name="Shape 17"/>
          <p:cNvSpPr/>
          <p:nvPr/>
        </p:nvSpPr>
        <p:spPr>
          <a:xfrm>
            <a:off x="5248656" y="1874520"/>
            <a:ext cx="987552" cy="987552"/>
          </a:xfrm>
          <a:custGeom>
            <a:avLst/>
            <a:gdLst/>
            <a:ahLst/>
            <a:cxnLst/>
            <a:rect l="l" t="t" r="r" b="b"/>
            <a:pathLst>
              <a:path w="987552" h="987552">
                <a:moveTo>
                  <a:pt x="493776" y="0"/>
                </a:moveTo>
                <a:cubicBezTo>
                  <a:pt x="766298" y="0"/>
                  <a:pt x="987552" y="221254"/>
                  <a:pt x="987552" y="493776"/>
                </a:cubicBezTo>
                <a:cubicBezTo>
                  <a:pt x="987552" y="766298"/>
                  <a:pt x="766298" y="987552"/>
                  <a:pt x="493776" y="987552"/>
                </a:cubicBezTo>
                <a:cubicBezTo>
                  <a:pt x="221254" y="987552"/>
                  <a:pt x="0" y="766298"/>
                  <a:pt x="0" y="493776"/>
                </a:cubicBezTo>
                <a:cubicBezTo>
                  <a:pt x="0" y="221254"/>
                  <a:pt x="221254" y="0"/>
                  <a:pt x="493776" y="0"/>
                </a:cubicBezTo>
                <a:close/>
              </a:path>
            </a:pathLst>
          </a:custGeom>
          <a:solidFill>
            <a:srgbClr val="FFFFFF"/>
          </a:solidFill>
          <a:ln w="36576">
            <a:solidFill>
              <a:srgbClr val="5F7F87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248656" y="2157984"/>
            <a:ext cx="987552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5F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24" name="Text 19"/>
          <p:cNvSpPr/>
          <p:nvPr/>
        </p:nvSpPr>
        <p:spPr>
          <a:xfrm>
            <a:off x="4764024" y="3017520"/>
            <a:ext cx="1956816" cy="6035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 3</a:t>
            </a:r>
            <a:endParaRPr lang="en-US" sz="1152" dirty="0"/>
          </a:p>
        </p:txBody>
      </p:sp>
      <p:sp>
        <p:nvSpPr>
          <p:cNvPr id="25" name="Text 20"/>
          <p:cNvSpPr/>
          <p:nvPr/>
        </p:nvSpPr>
        <p:spPr>
          <a:xfrm>
            <a:off x="4809744" y="3630168"/>
            <a:ext cx="1865376" cy="10058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 项任务按原顺序完整保留。</a:t>
            </a:r>
            <a:endParaRPr lang="en-US" sz="1152" dirty="0"/>
          </a:p>
        </p:txBody>
      </p:sp>
      <p:sp>
        <p:nvSpPr>
          <p:cNvPr id="26" name="Shape 21"/>
          <p:cNvSpPr/>
          <p:nvPr/>
        </p:nvSpPr>
        <p:spPr>
          <a:xfrm>
            <a:off x="7379208" y="1874520"/>
            <a:ext cx="987552" cy="987552"/>
          </a:xfrm>
          <a:custGeom>
            <a:avLst/>
            <a:gdLst/>
            <a:ahLst/>
            <a:cxnLst/>
            <a:rect l="l" t="t" r="r" b="b"/>
            <a:pathLst>
              <a:path w="987552" h="987552">
                <a:moveTo>
                  <a:pt x="493776" y="0"/>
                </a:moveTo>
                <a:cubicBezTo>
                  <a:pt x="766298" y="0"/>
                  <a:pt x="987552" y="221254"/>
                  <a:pt x="987552" y="493776"/>
                </a:cubicBezTo>
                <a:cubicBezTo>
                  <a:pt x="987552" y="766298"/>
                  <a:pt x="766298" y="987552"/>
                  <a:pt x="493776" y="987552"/>
                </a:cubicBezTo>
                <a:cubicBezTo>
                  <a:pt x="221254" y="987552"/>
                  <a:pt x="0" y="766298"/>
                  <a:pt x="0" y="493776"/>
                </a:cubicBezTo>
                <a:cubicBezTo>
                  <a:pt x="0" y="221254"/>
                  <a:pt x="221254" y="0"/>
                  <a:pt x="493776" y="0"/>
                </a:cubicBezTo>
                <a:close/>
              </a:path>
            </a:pathLst>
          </a:custGeom>
          <a:solidFill>
            <a:srgbClr val="FFFFFF"/>
          </a:solidFill>
          <a:ln w="36576">
            <a:solidFill>
              <a:srgbClr val="B8C9CA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379208" y="2157984"/>
            <a:ext cx="987552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B8C9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8" name="Text 23"/>
          <p:cNvSpPr/>
          <p:nvPr/>
        </p:nvSpPr>
        <p:spPr>
          <a:xfrm>
            <a:off x="6894576" y="3017520"/>
            <a:ext cx="1956816" cy="6035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 4</a:t>
            </a:r>
            <a:endParaRPr lang="en-US" sz="1152" dirty="0"/>
          </a:p>
        </p:txBody>
      </p:sp>
      <p:sp>
        <p:nvSpPr>
          <p:cNvPr id="29" name="Text 24"/>
          <p:cNvSpPr/>
          <p:nvPr/>
        </p:nvSpPr>
        <p:spPr>
          <a:xfrm>
            <a:off x="6940296" y="3630168"/>
            <a:ext cx="1865376" cy="10058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4 项任务按原顺序完整保留。</a:t>
            </a:r>
            <a:endParaRPr lang="en-US" sz="115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4F1E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4137660"/>
            <a:ext cx="3291840" cy="10058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20624" y="219456"/>
            <a:ext cx="7772400" cy="1243584"/>
          </a:xfrm>
          <a:custGeom>
            <a:avLst/>
            <a:gdLst/>
            <a:ahLst/>
            <a:cxnLst/>
            <a:rect l="l" t="t" r="r" b="b"/>
            <a:pathLst>
              <a:path w="7772400" h="1243584">
                <a:moveTo>
                  <a:pt x="0" y="0"/>
                </a:moveTo>
                <a:lnTo>
                  <a:pt x="7772400" y="0"/>
                </a:lnTo>
                <a:lnTo>
                  <a:pt x="7772400" y="1243584"/>
                </a:lnTo>
                <a:lnTo>
                  <a:pt x="0" y="1243584"/>
                </a:lnTo>
                <a:close/>
              </a:path>
            </a:pathLst>
          </a:custGeom>
          <a:solidFill>
            <a:srgbClr val="F9FCFA">
              <a:alpha val="9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85216" y="310896"/>
            <a:ext cx="256032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b="1" dirty="0">
                <a:solidFill>
                  <a:srgbClr val="5F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 · SPACE · INSIGHT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85216" y="585216"/>
            <a:ext cx="7406640" cy="859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八项任务自动拆页（续）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585216" y="1335024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 h="0">
                <a:moveTo>
                  <a:pt x="0" y="0"/>
                </a:moveTo>
                <a:lnTo>
                  <a:pt x="1152144" y="0"/>
                </a:lnTo>
              </a:path>
            </a:pathLst>
          </a:custGeom>
          <a:noFill/>
          <a:ln w="36576">
            <a:solidFill>
              <a:srgbClr val="5F7F87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>
            <a:off x="1737360" y="1335024"/>
            <a:ext cx="585216" cy="0"/>
          </a:xfrm>
          <a:custGeom>
            <a:avLst/>
            <a:gdLst/>
            <a:ahLst/>
            <a:cxnLst/>
            <a:rect l="l" t="t" r="r" b="b"/>
            <a:pathLst>
              <a:path w="585216" h="0">
                <a:moveTo>
                  <a:pt x="0" y="0"/>
                </a:moveTo>
                <a:lnTo>
                  <a:pt x="585216" y="0"/>
                </a:lnTo>
              </a:path>
            </a:pathLst>
          </a:custGeom>
          <a:noFill/>
          <a:ln w="36576">
            <a:solidFill>
              <a:srgbClr val="B8C9CA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585216" y="1517904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1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664208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5F7F87"/>
          </a:solidFill>
          <a:ln/>
        </p:spPr>
      </p:sp>
      <p:sp>
        <p:nvSpPr>
          <p:cNvPr id="12" name="Text 8"/>
          <p:cNvSpPr/>
          <p:nvPr/>
        </p:nvSpPr>
        <p:spPr>
          <a:xfrm>
            <a:off x="749808" y="1682496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3" name="Text 9"/>
          <p:cNvSpPr/>
          <p:nvPr/>
        </p:nvSpPr>
        <p:spPr>
          <a:xfrm>
            <a:off x="1335024" y="1655064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 5</a:t>
            </a:r>
            <a:endParaRPr lang="en-US" sz="1152" dirty="0"/>
          </a:p>
        </p:txBody>
      </p:sp>
      <p:sp>
        <p:nvSpPr>
          <p:cNvPr id="14" name="Text 10"/>
          <p:cNvSpPr/>
          <p:nvPr/>
        </p:nvSpPr>
        <p:spPr>
          <a:xfrm>
            <a:off x="804672" y="2267712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5 项任务按原顺序完整保留。</a:t>
            </a:r>
            <a:endParaRPr lang="en-US" sz="1152" dirty="0"/>
          </a:p>
        </p:txBody>
      </p:sp>
      <p:sp>
        <p:nvSpPr>
          <p:cNvPr id="15" name="Shape 11"/>
          <p:cNvSpPr/>
          <p:nvPr/>
        </p:nvSpPr>
        <p:spPr>
          <a:xfrm>
            <a:off x="4718304" y="1517904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1E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82896" y="1664208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B8C9CA"/>
          </a:solidFill>
          <a:ln/>
        </p:spPr>
      </p:sp>
      <p:sp>
        <p:nvSpPr>
          <p:cNvPr id="17" name="Text 13"/>
          <p:cNvSpPr/>
          <p:nvPr/>
        </p:nvSpPr>
        <p:spPr>
          <a:xfrm>
            <a:off x="4882896" y="1682496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8" name="Text 14"/>
          <p:cNvSpPr/>
          <p:nvPr/>
        </p:nvSpPr>
        <p:spPr>
          <a:xfrm>
            <a:off x="5468112" y="1655064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 6</a:t>
            </a:r>
            <a:endParaRPr lang="en-US" sz="1152" dirty="0"/>
          </a:p>
        </p:txBody>
      </p:sp>
      <p:sp>
        <p:nvSpPr>
          <p:cNvPr id="19" name="Text 15"/>
          <p:cNvSpPr/>
          <p:nvPr/>
        </p:nvSpPr>
        <p:spPr>
          <a:xfrm>
            <a:off x="4937760" y="2267712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6 项任务按原顺序完整保留。</a:t>
            </a:r>
            <a:endParaRPr lang="en-US" sz="1152" dirty="0"/>
          </a:p>
        </p:txBody>
      </p:sp>
      <p:sp>
        <p:nvSpPr>
          <p:cNvPr id="20" name="Shape 16"/>
          <p:cNvSpPr/>
          <p:nvPr/>
        </p:nvSpPr>
        <p:spPr>
          <a:xfrm>
            <a:off x="585216" y="3236976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1E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49808" y="3383280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B79A63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" y="3401568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23" name="Text 19"/>
          <p:cNvSpPr/>
          <p:nvPr/>
        </p:nvSpPr>
        <p:spPr>
          <a:xfrm>
            <a:off x="1335024" y="3374136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 7</a:t>
            </a:r>
            <a:endParaRPr lang="en-US" sz="1152" dirty="0"/>
          </a:p>
        </p:txBody>
      </p:sp>
      <p:sp>
        <p:nvSpPr>
          <p:cNvPr id="24" name="Text 20"/>
          <p:cNvSpPr/>
          <p:nvPr/>
        </p:nvSpPr>
        <p:spPr>
          <a:xfrm>
            <a:off x="804672" y="3986784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7 项任务按原顺序完整保留。</a:t>
            </a:r>
            <a:endParaRPr lang="en-US" sz="1152" dirty="0"/>
          </a:p>
        </p:txBody>
      </p:sp>
      <p:sp>
        <p:nvSpPr>
          <p:cNvPr id="25" name="Shape 21"/>
          <p:cNvSpPr/>
          <p:nvPr/>
        </p:nvSpPr>
        <p:spPr>
          <a:xfrm>
            <a:off x="4718304" y="3236976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1E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882896" y="3383280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5F7F87"/>
          </a:solidFill>
          <a:ln/>
        </p:spPr>
      </p:sp>
      <p:sp>
        <p:nvSpPr>
          <p:cNvPr id="27" name="Text 23"/>
          <p:cNvSpPr/>
          <p:nvPr/>
        </p:nvSpPr>
        <p:spPr>
          <a:xfrm>
            <a:off x="4882896" y="3401568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8" name="Text 24"/>
          <p:cNvSpPr/>
          <p:nvPr/>
        </p:nvSpPr>
        <p:spPr>
          <a:xfrm>
            <a:off x="5468112" y="3374136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 8</a:t>
            </a:r>
            <a:endParaRPr lang="en-US" sz="1152" dirty="0"/>
          </a:p>
        </p:txBody>
      </p:sp>
      <p:sp>
        <p:nvSpPr>
          <p:cNvPr id="29" name="Text 25"/>
          <p:cNvSpPr/>
          <p:nvPr/>
        </p:nvSpPr>
        <p:spPr>
          <a:xfrm>
            <a:off x="4937760" y="3986784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8 项任务按原顺序完整保留。</a:t>
            </a:r>
            <a:endParaRPr lang="en-US" sz="115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210812"/>
            <a:ext cx="585216" cy="58521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097280" y="1207008"/>
            <a:ext cx="694944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5F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 WASH · LASTING IMPRESSION</a:t>
            </a:r>
            <a:endParaRPr lang="en-US" sz="1152" dirty="0"/>
          </a:p>
        </p:txBody>
      </p:sp>
      <p:sp>
        <p:nvSpPr>
          <p:cNvPr id="6" name="Text 1"/>
          <p:cNvSpPr/>
          <p:nvPr/>
        </p:nvSpPr>
        <p:spPr>
          <a:xfrm>
            <a:off x="1097280" y="1572768"/>
            <a:ext cx="6949440" cy="13716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888" b="1" dirty="0">
                <a:solidFill>
                  <a:srgbClr val="2238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让东方意境留下余韵</a:t>
            </a:r>
            <a:endParaRPr lang="en-US" sz="1152" dirty="0"/>
          </a:p>
        </p:txBody>
      </p:sp>
      <p:sp>
        <p:nvSpPr>
          <p:cNvPr id="7" name="Shape 2"/>
          <p:cNvSpPr/>
          <p:nvPr/>
        </p:nvSpPr>
        <p:spPr>
          <a:xfrm>
            <a:off x="3474720" y="2926080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 h="0">
                <a:moveTo>
                  <a:pt x="0" y="0"/>
                </a:moveTo>
                <a:lnTo>
                  <a:pt x="1371600" y="0"/>
                </a:lnTo>
              </a:path>
            </a:pathLst>
          </a:custGeom>
          <a:noFill/>
          <a:ln w="36576">
            <a:solidFill>
              <a:srgbClr val="5F7F87"/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/>
        </p:nvSpPr>
        <p:spPr>
          <a:xfrm>
            <a:off x="4846320" y="2926080"/>
            <a:ext cx="822960" cy="0"/>
          </a:xfrm>
          <a:custGeom>
            <a:avLst/>
            <a:gdLst/>
            <a:ahLst/>
            <a:cxnLst/>
            <a:rect l="l" t="t" r="r" b="b"/>
            <a:pathLst>
              <a:path w="822960" h="0">
                <a:moveTo>
                  <a:pt x="0" y="0"/>
                </a:moveTo>
                <a:lnTo>
                  <a:pt x="822960" y="0"/>
                </a:lnTo>
              </a:path>
            </a:pathLst>
          </a:custGeom>
          <a:noFill/>
          <a:ln w="36576">
            <a:solidFill>
              <a:srgbClr val="B8C9CA"/>
            </a:solidFill>
            <a:prstDash val="solid"/>
            <a:headEnd type="none"/>
            <a:tailEnd type="none"/>
          </a:ln>
        </p:spPr>
      </p:sp>
      <p:sp>
        <p:nvSpPr>
          <p:cNvPr id="9" name="Text 4"/>
          <p:cNvSpPr/>
          <p:nvPr/>
        </p:nvSpPr>
        <p:spPr>
          <a:xfrm>
            <a:off x="1463040" y="3163824"/>
            <a:ext cx="621792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368" dirty="0">
                <a:solidFill>
                  <a:srgbClr val="5F6F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感谢聆听，期待一起把下一步变得更清晰。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2026-08-27T06:10:07Z</dcterms:created>
  <dcterms:modified xsi:type="dcterms:W3CDTF">2026-08-27T06:10:07Z</dcterms:modified>
</cp:coreProperties>
</file>