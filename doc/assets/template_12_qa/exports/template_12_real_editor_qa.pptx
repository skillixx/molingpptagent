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310896"/>
            <a:ext cx="1920240" cy="19202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690620"/>
            <a:ext cx="4754880" cy="14528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00400"/>
            <a:ext cx="2423160" cy="15544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713232" y="1371600"/>
            <a:ext cx="274320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ORIENTAL INK</a:t>
            </a:r>
            <a:endParaRPr lang="en-US" sz="1152" dirty="0"/>
          </a:p>
        </p:txBody>
      </p:sp>
      <p:sp>
        <p:nvSpPr>
          <p:cNvPr id="9" name="Text 2"/>
          <p:cNvSpPr/>
          <p:nvPr/>
        </p:nvSpPr>
        <p:spPr>
          <a:xfrm>
            <a:off x="694944" y="1737360"/>
            <a:ext cx="5943600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84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东方水墨语境下的信息表达·编辑验收</a:t>
            </a:r>
            <a:endParaRPr lang="en-US" sz="1152" dirty="0"/>
          </a:p>
        </p:txBody>
      </p:sp>
      <p:sp>
        <p:nvSpPr>
          <p:cNvPr id="10" name="Shape 3"/>
          <p:cNvSpPr/>
          <p:nvPr/>
        </p:nvSpPr>
        <p:spPr>
          <a:xfrm>
            <a:off x="713232" y="3090672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11" name="Shape 4"/>
          <p:cNvSpPr/>
          <p:nvPr/>
        </p:nvSpPr>
        <p:spPr>
          <a:xfrm>
            <a:off x="2084832" y="3090672"/>
            <a:ext cx="731520" cy="0"/>
          </a:xfrm>
          <a:custGeom>
            <a:avLst/>
            <a:gdLst/>
            <a:ahLst/>
            <a:cxnLst/>
            <a:rect l="l" t="t" r="r" b="b"/>
            <a:pathLst>
              <a:path w="731520" h="0">
                <a:moveTo>
                  <a:pt x="0" y="0"/>
                </a:moveTo>
                <a:lnTo>
                  <a:pt x="731520" y="0"/>
                </a:lnTo>
              </a:path>
            </a:pathLst>
          </a:custGeom>
          <a:noFill/>
          <a:ln w="36576">
            <a:solidFill>
              <a:srgbClr val="B79A63"/>
            </a:solidFill>
            <a:prstDash val="solid"/>
            <a:headEnd type="none"/>
            <a:tailEnd type="none"/>
          </a:ln>
        </p:spPr>
      </p:sp>
      <p:sp>
        <p:nvSpPr>
          <p:cNvPr id="12" name="Text 5"/>
          <p:cNvSpPr/>
          <p:nvPr/>
        </p:nvSpPr>
        <p:spPr>
          <a:xfrm>
            <a:off x="713232" y="3291840"/>
            <a:ext cx="512064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以水墨美学重构复杂信息，适用于文化传播、品牌叙事与演示设计等多场景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10896"/>
            <a:ext cx="1417320" cy="14173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970020"/>
            <a:ext cx="3840480" cy="1173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329184"/>
            <a:ext cx="2743200" cy="2011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NAVIGATION</a:t>
            </a:r>
            <a:endParaRPr lang="en-US" sz="1152" dirty="0"/>
          </a:p>
        </p:txBody>
      </p:sp>
      <p:sp>
        <p:nvSpPr>
          <p:cNvPr id="7" name="Text 2"/>
          <p:cNvSpPr/>
          <p:nvPr/>
        </p:nvSpPr>
        <p:spPr>
          <a:xfrm>
            <a:off x="585216" y="594360"/>
            <a:ext cx="3657600" cy="6583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8" name="Shape 3"/>
          <p:cNvSpPr/>
          <p:nvPr/>
        </p:nvSpPr>
        <p:spPr>
          <a:xfrm>
            <a:off x="585216" y="1252728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475488" y="182880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F4F1EA"/>
          </a:solidFill>
          <a:ln w="18288">
            <a:solidFill>
              <a:srgbClr val="5F7F87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75488" y="1901952"/>
            <a:ext cx="512064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1170432" y="1865376"/>
            <a:ext cx="1865376" cy="8778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从真实问题出发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3291840" y="182880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F4F1EA"/>
          </a:solidFill>
          <a:ln w="18288">
            <a:solidFill>
              <a:srgbClr val="B8C9C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91840" y="1901952"/>
            <a:ext cx="512064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4" name="Text 9"/>
          <p:cNvSpPr/>
          <p:nvPr/>
        </p:nvSpPr>
        <p:spPr>
          <a:xfrm>
            <a:off x="3986784" y="1865376"/>
            <a:ext cx="1865376" cy="8778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用结构承载东方意境</a:t>
            </a:r>
            <a:endParaRPr lang="en-US" sz="1152" dirty="0"/>
          </a:p>
        </p:txBody>
      </p:sp>
      <p:sp>
        <p:nvSpPr>
          <p:cNvPr id="15" name="Shape 10"/>
          <p:cNvSpPr/>
          <p:nvPr/>
        </p:nvSpPr>
        <p:spPr>
          <a:xfrm>
            <a:off x="6108192" y="182880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F4F1EA"/>
          </a:solidFill>
          <a:ln w="18288">
            <a:solidFill>
              <a:srgbClr val="B79A6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108192" y="1901952"/>
            <a:ext cx="512064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B79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7" name="Text 12"/>
          <p:cNvSpPr/>
          <p:nvPr/>
        </p:nvSpPr>
        <p:spPr>
          <a:xfrm>
            <a:off x="6803136" y="1865376"/>
            <a:ext cx="1865376" cy="8778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让结论形成持久余韵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49040" y="1554480"/>
            <a:ext cx="5029200" cy="2926080"/>
          </a:xfrm>
          <a:custGeom>
            <a:avLst/>
            <a:gdLst/>
            <a:ahLst/>
            <a:cxnLst/>
            <a:rect l="l" t="t" r="r" b="b"/>
            <a:pathLst>
              <a:path w="5029200" h="2926080">
                <a:moveTo>
                  <a:pt x="0" y="0"/>
                </a:moveTo>
                <a:lnTo>
                  <a:pt x="5029200" y="0"/>
                </a:lnTo>
                <a:lnTo>
                  <a:pt x="5029200" y="2926080"/>
                </a:lnTo>
                <a:lnTo>
                  <a:pt x="0" y="2926080"/>
                </a:lnTo>
                <a:close/>
              </a:path>
            </a:pathLst>
          </a:custGeom>
          <a:solidFill>
            <a:srgbClr val="F4F1EA">
              <a:alpha val="88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640080" y="1042416"/>
            <a:ext cx="182880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603504" y="1280160"/>
            <a:ext cx="164592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752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160520" y="1874520"/>
            <a:ext cx="429768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从真实问题出发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206240" y="3063240"/>
            <a:ext cx="39319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真实问题驱动探索方向，避免空谈与假设。本章聚焦关键挑战，拆解根因与核心矛盾。你将获得可行的分析框架，聚焦解决路径。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7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明确受众与决策目标</a:t>
            </a:r>
            <a:endParaRPr lang="en-US" sz="1152" dirty="0"/>
          </a:p>
        </p:txBody>
      </p:sp>
      <p:sp>
        <p:nvSpPr>
          <p:cNvPr id="9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2075688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>
            <a:off x="987552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5F7F8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87552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4" name="Text 9"/>
          <p:cNvSpPr/>
          <p:nvPr/>
        </p:nvSpPr>
        <p:spPr>
          <a:xfrm>
            <a:off x="502920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界定核心受众画像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548640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通过调研交叉分析，锁定决策链关键角色，明确其信息需求与关注重点。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206240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3118104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B8C9C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118104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633472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对齐业务决策目标</a:t>
            </a:r>
            <a:endParaRPr lang="en-US" sz="1152" dirty="0"/>
          </a:p>
        </p:txBody>
      </p:sp>
      <p:sp>
        <p:nvSpPr>
          <p:cNvPr id="20" name="Text 15"/>
          <p:cNvSpPr/>
          <p:nvPr/>
        </p:nvSpPr>
        <p:spPr>
          <a:xfrm>
            <a:off x="2679192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区分战略、战术与执行层目标，确保内容输出有明确导向与评估标准。</a:t>
            </a:r>
            <a:endParaRPr lang="en-US" sz="1152" dirty="0"/>
          </a:p>
        </p:txBody>
      </p:sp>
      <p:sp>
        <p:nvSpPr>
          <p:cNvPr id="21" name="Shape 16"/>
          <p:cNvSpPr/>
          <p:nvPr/>
        </p:nvSpPr>
        <p:spPr>
          <a:xfrm>
            <a:off x="6336792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22" name="Shape 17"/>
          <p:cNvSpPr/>
          <p:nvPr/>
        </p:nvSpPr>
        <p:spPr>
          <a:xfrm>
            <a:off x="5248656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5F7F8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48656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4" name="Text 19"/>
          <p:cNvSpPr/>
          <p:nvPr/>
        </p:nvSpPr>
        <p:spPr>
          <a:xfrm>
            <a:off x="4764024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建立优先级与迭代机制</a:t>
            </a:r>
            <a:endParaRPr lang="en-US" sz="1152" dirty="0"/>
          </a:p>
        </p:txBody>
      </p:sp>
      <p:sp>
        <p:nvSpPr>
          <p:cNvPr id="25" name="Text 20"/>
          <p:cNvSpPr/>
          <p:nvPr/>
        </p:nvSpPr>
        <p:spPr>
          <a:xfrm>
            <a:off x="4809744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按影响力与紧急性排序，设定期望值并通过反馈循环持续校准。</a:t>
            </a:r>
            <a:endParaRPr lang="en-US" sz="1152" dirty="0"/>
          </a:p>
        </p:txBody>
      </p:sp>
      <p:sp>
        <p:nvSpPr>
          <p:cNvPr id="26" name="Shape 21"/>
          <p:cNvSpPr/>
          <p:nvPr/>
        </p:nvSpPr>
        <p:spPr>
          <a:xfrm>
            <a:off x="7379208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B8C9C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379208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3"/>
          <p:cNvSpPr/>
          <p:nvPr/>
        </p:nvSpPr>
        <p:spPr>
          <a:xfrm>
            <a:off x="6894576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  <p:sp>
        <p:nvSpPr>
          <p:cNvPr id="29" name="Text 24"/>
          <p:cNvSpPr/>
          <p:nvPr/>
        </p:nvSpPr>
        <p:spPr>
          <a:xfrm>
            <a:off x="6940296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10896"/>
            <a:ext cx="1417320" cy="14173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识别核心信息层级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384048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133856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明确页面唯一核心结论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603504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从业务目标出发，提炼本页最需传达的一个关键结论，将其作为信息设计的锚点，防止多重点分散受众注意力。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3227832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92424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8C9CA"/>
          </a:solidFill>
          <a:ln/>
        </p:spPr>
      </p:sp>
      <p:sp>
        <p:nvSpPr>
          <p:cNvPr id="17" name="Text 13"/>
          <p:cNvSpPr/>
          <p:nvPr/>
        </p:nvSpPr>
        <p:spPr>
          <a:xfrm>
            <a:off x="3392424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3977640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构建主次分明的视觉层次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3447288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通过字号、色彩与留白区分信息优先级，让核心结论占据视觉焦点，辅助数据与论据依次退居次位，提升阅读效率。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6071616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36208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79A63"/>
          </a:solidFill>
          <a:ln/>
        </p:spPr>
      </p:sp>
      <p:sp>
        <p:nvSpPr>
          <p:cNvPr id="22" name="Text 18"/>
          <p:cNvSpPr/>
          <p:nvPr/>
        </p:nvSpPr>
        <p:spPr>
          <a:xfrm>
            <a:off x="6236208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6821424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统一层级逻辑贯穿全页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6291072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保持全页信息结构的一致性，核心信息始终置于最显眼位置，支撑内容按固定次序排列，确保受众快速抓取重点信息。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1874520" cy="18745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280916"/>
            <a:ext cx="2834640" cy="66141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58368" y="1298448"/>
            <a:ext cx="2240280" cy="1234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472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9" name="Text 2"/>
          <p:cNvSpPr/>
          <p:nvPr/>
        </p:nvSpPr>
        <p:spPr>
          <a:xfrm>
            <a:off x="3054096" y="1600200"/>
            <a:ext cx="521208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用结构承载东方意境</a:t>
            </a:r>
            <a:endParaRPr lang="en-US" sz="1152" dirty="0"/>
          </a:p>
        </p:txBody>
      </p:sp>
      <p:sp>
        <p:nvSpPr>
          <p:cNvPr id="10" name="Text 3"/>
          <p:cNvSpPr/>
          <p:nvPr/>
        </p:nvSpPr>
        <p:spPr>
          <a:xfrm>
            <a:off x="3108960" y="2834640"/>
            <a:ext cx="4846320" cy="13258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从结构逻辑出发，理解东方美学如何融入现代空间。本章将回答结构体系与意境营造如何协同的问题。读者将掌握实现形意合一的设计思路与关键方法。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连接观点、证据与行动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观点驱动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从产业趋势中提炼核心观点，为决策提供清晰方向，使战略思考更具前瞻性与穿透力。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8C9CA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证据支撑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以调研数据与案例事实为锚点，验证观点成立条件，确保判断有充分事实依据。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79A63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行动落地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将观点与证据转化为可执行路径，明确阶段目标与责任分工，推动成果持续落地与迭代。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7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用关键指标观察表达效果</a:t>
            </a:r>
            <a:endParaRPr lang="en-US" sz="1152" dirty="0"/>
          </a:p>
        </p:txBody>
      </p:sp>
      <p:sp>
        <p:nvSpPr>
          <p:cNvPr id="9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2075688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>
            <a:off x="987552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5F7F8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87552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4" name="Text 9"/>
          <p:cNvSpPr/>
          <p:nvPr/>
        </p:nvSpPr>
        <p:spPr>
          <a:xfrm>
            <a:off x="502920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定义核心指标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548640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从受众理解度、注意力保持、信息留存、行动转化等维度建立量化框架，将主观感受转为可衡量的观察维度。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206240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3118104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B8C9C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118104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633472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为何重要</a:t>
            </a:r>
            <a:endParaRPr lang="en-US" sz="1152" dirty="0"/>
          </a:p>
        </p:txBody>
      </p:sp>
      <p:sp>
        <p:nvSpPr>
          <p:cNvPr id="20" name="Text 15"/>
          <p:cNvSpPr/>
          <p:nvPr/>
        </p:nvSpPr>
        <p:spPr>
          <a:xfrm>
            <a:off x="2679192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避免凭感觉优化表达，通过指标追踪定位薄弱环节，让改进有据可依，提升沟通效率与说服力。</a:t>
            </a:r>
            <a:endParaRPr lang="en-US" sz="1152" dirty="0"/>
          </a:p>
        </p:txBody>
      </p:sp>
      <p:sp>
        <p:nvSpPr>
          <p:cNvPr id="21" name="Shape 16"/>
          <p:cNvSpPr/>
          <p:nvPr/>
        </p:nvSpPr>
        <p:spPr>
          <a:xfrm>
            <a:off x="6336792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22" name="Shape 17"/>
          <p:cNvSpPr/>
          <p:nvPr/>
        </p:nvSpPr>
        <p:spPr>
          <a:xfrm>
            <a:off x="5248656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5F7F8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48656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4" name="Text 19"/>
          <p:cNvSpPr/>
          <p:nvPr/>
        </p:nvSpPr>
        <p:spPr>
          <a:xfrm>
            <a:off x="4764024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落地方法</a:t>
            </a:r>
            <a:endParaRPr lang="en-US" sz="1152" dirty="0"/>
          </a:p>
        </p:txBody>
      </p:sp>
      <p:sp>
        <p:nvSpPr>
          <p:cNvPr id="25" name="Text 20"/>
          <p:cNvSpPr/>
          <p:nvPr/>
        </p:nvSpPr>
        <p:spPr>
          <a:xfrm>
            <a:off x="4809744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选择3-5个核心指标，设定统一观察口径，定期记录复盘，逐步建立表达评估体系。</a:t>
            </a:r>
            <a:endParaRPr lang="en-US" sz="1152" dirty="0"/>
          </a:p>
        </p:txBody>
      </p:sp>
      <p:sp>
        <p:nvSpPr>
          <p:cNvPr id="26" name="Shape 21"/>
          <p:cNvSpPr/>
          <p:nvPr/>
        </p:nvSpPr>
        <p:spPr>
          <a:xfrm>
            <a:off x="7379208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B8C9C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379208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3"/>
          <p:cNvSpPr/>
          <p:nvPr/>
        </p:nvSpPr>
        <p:spPr>
          <a:xfrm>
            <a:off x="6894576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</a:t>
            </a:r>
            <a:endParaRPr lang="en-US" sz="1152" dirty="0"/>
          </a:p>
        </p:txBody>
      </p:sp>
      <p:sp>
        <p:nvSpPr>
          <p:cNvPr id="29" name="Text 24"/>
          <p:cNvSpPr/>
          <p:nvPr/>
        </p:nvSpPr>
        <p:spPr>
          <a:xfrm>
            <a:off x="6940296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49040" y="1554480"/>
            <a:ext cx="5029200" cy="2926080"/>
          </a:xfrm>
          <a:custGeom>
            <a:avLst/>
            <a:gdLst/>
            <a:ahLst/>
            <a:cxnLst/>
            <a:rect l="l" t="t" r="r" b="b"/>
            <a:pathLst>
              <a:path w="5029200" h="2926080">
                <a:moveTo>
                  <a:pt x="0" y="0"/>
                </a:moveTo>
                <a:lnTo>
                  <a:pt x="5029200" y="0"/>
                </a:lnTo>
                <a:lnTo>
                  <a:pt x="5029200" y="2926080"/>
                </a:lnTo>
                <a:lnTo>
                  <a:pt x="0" y="2926080"/>
                </a:lnTo>
                <a:close/>
              </a:path>
            </a:pathLst>
          </a:custGeom>
          <a:solidFill>
            <a:srgbClr val="F4F1EA">
              <a:alpha val="88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640080" y="1042416"/>
            <a:ext cx="182880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603504" y="1280160"/>
            <a:ext cx="164592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752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160520" y="1874520"/>
            <a:ext cx="429768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让结论形成持久余韵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206240" y="3063240"/>
            <a:ext cx="39319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结论如何被真正记住，是本讲的核心议题。我们将探讨余韵形成的机制与路径，助您掌握让观点留存听众心中的实用方法。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210812"/>
            <a:ext cx="585216" cy="58521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1207008"/>
            <a:ext cx="694944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WASH · LASTING IMPRESSION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097280" y="1572768"/>
            <a:ext cx="6949440" cy="1371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让东方意境留下余韵</a:t>
            </a:r>
            <a:endParaRPr lang="en-US" sz="1152" dirty="0"/>
          </a:p>
        </p:txBody>
      </p:sp>
      <p:sp>
        <p:nvSpPr>
          <p:cNvPr id="7" name="Shape 2"/>
          <p:cNvSpPr/>
          <p:nvPr/>
        </p:nvSpPr>
        <p:spPr>
          <a:xfrm>
            <a:off x="3474720" y="292608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4846320" y="2926080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 h="0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463040" y="3163824"/>
            <a:ext cx="62179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感谢聆听，期待一起把下一步变得更清晰。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2026-08-27T06:10:02Z</dcterms:created>
  <dcterms:modified xsi:type="dcterms:W3CDTF">2026-08-27T06:10:02Z</dcterms:modified>
</cp:coreProperties>
</file>