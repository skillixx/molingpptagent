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0"/>
            <a:ext cx="3749040" cy="2834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1371600"/>
            <a:ext cx="62179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桃夭墨韵编辑验收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219456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固定语义数据与真实处理链验收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46888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6112" y="521208"/>
            <a:ext cx="1783080" cy="384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841248" y="1463040"/>
            <a:ext cx="493776" cy="384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1463040" y="1472184"/>
            <a:ext cx="288036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1463040" y="1892808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w="9144">
            <a:solidFill>
              <a:srgbClr val="E7C8D0"/>
            </a:solidFill>
            <a:prstDash val="solid"/>
            <a:headEnd type="none"/>
            <a:tailEnd type="none"/>
          </a:ln>
        </p:spPr>
      </p:sp>
      <p:sp>
        <p:nvSpPr>
          <p:cNvPr id="8" name="Text 4"/>
          <p:cNvSpPr/>
          <p:nvPr/>
        </p:nvSpPr>
        <p:spPr>
          <a:xfrm>
            <a:off x="4864608" y="1463040"/>
            <a:ext cx="493776" cy="384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5486400" y="1472184"/>
            <a:ext cx="288036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关键成果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486400" y="1892808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w="9144">
            <a:solidFill>
              <a:srgbClr val="E7C8D0"/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841248" y="2340864"/>
            <a:ext cx="493776" cy="384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1463040" y="2350008"/>
            <a:ext cx="288036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1463040" y="2770632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w="9144">
            <a:solidFill>
              <a:srgbClr val="E7C8D0"/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4864608" y="2340864"/>
            <a:ext cx="493776" cy="384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52" dirty="0"/>
          </a:p>
        </p:txBody>
      </p:sp>
      <p:sp>
        <p:nvSpPr>
          <p:cNvPr id="15" name="Text 11"/>
          <p:cNvSpPr/>
          <p:nvPr/>
        </p:nvSpPr>
        <p:spPr>
          <a:xfrm>
            <a:off x="5486400" y="2350008"/>
            <a:ext cx="288036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后续计划</a:t>
            </a:r>
            <a:endParaRPr lang="en-US" sz="1152" dirty="0"/>
          </a:p>
        </p:txBody>
      </p:sp>
      <p:sp>
        <p:nvSpPr>
          <p:cNvPr id="16" name="Shape 12"/>
          <p:cNvSpPr/>
          <p:nvPr/>
        </p:nvSpPr>
        <p:spPr>
          <a:xfrm>
            <a:off x="5486400" y="2770632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w="9144">
            <a:solidFill>
              <a:srgbClr val="E7C8D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7160"/>
            <a:ext cx="3200400" cy="23774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508760"/>
            <a:ext cx="1371600" cy="10515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5472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2606040" y="1737360"/>
            <a:ext cx="5120640" cy="8229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关键成果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2651760" y="2743200"/>
            <a:ext cx="4572000" cy="6583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以桃花、水墨与留白承载清晰的业务表达。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6583680" cy="64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本阶段四项成果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58368" y="1133856"/>
            <a:ext cx="1463040" cy="0"/>
          </a:xfrm>
          <a:custGeom>
            <a:avLst/>
            <a:gdLst/>
            <a:ahLst/>
            <a:cxnLst/>
            <a:rect l="l" t="t" r="r" b="b"/>
            <a:pathLst>
              <a:path w="1463040" h="0">
                <a:moveTo>
                  <a:pt x="0" y="0"/>
                </a:moveTo>
                <a:lnTo>
                  <a:pt x="1463040" y="0"/>
                </a:lnTo>
              </a:path>
            </a:pathLst>
          </a:custGeom>
          <a:noFill/>
          <a:ln w="18288">
            <a:solidFill>
              <a:srgbClr val="B56F7D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457200" y="1463040"/>
            <a:ext cx="566928" cy="5189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457200" y="1956816"/>
            <a:ext cx="17830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统一视觉规范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1783080" cy="0"/>
          </a:xfrm>
          <a:custGeom>
            <a:avLst/>
            <a:gdLst/>
            <a:ahLst/>
            <a:cxnLst/>
            <a:rect l="l" t="t" r="r" b="b"/>
            <a:pathLst>
              <a:path w="1783080" h="0">
                <a:moveTo>
                  <a:pt x="0" y="0"/>
                </a:moveTo>
                <a:lnTo>
                  <a:pt x="1783080" y="0"/>
                </a:lnTo>
              </a:path>
            </a:pathLst>
          </a:custGeom>
          <a:noFill/>
          <a:ln w="18288">
            <a:solidFill>
              <a:srgbClr val="B56F7D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457200" y="2706624"/>
            <a:ext cx="1783080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正文编辑验收：内容保持可修改并可保存。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2560320" y="1463040"/>
            <a:ext cx="566928" cy="5189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2560320" y="1956816"/>
            <a:ext cx="17830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完善模板库存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2560320" y="2514600"/>
            <a:ext cx="1783080" cy="0"/>
          </a:xfrm>
          <a:custGeom>
            <a:avLst/>
            <a:gdLst/>
            <a:ahLst/>
            <a:cxnLst/>
            <a:rect l="l" t="t" r="r" b="b"/>
            <a:pathLst>
              <a:path w="1783080" h="0">
                <a:moveTo>
                  <a:pt x="0" y="0"/>
                </a:moveTo>
                <a:lnTo>
                  <a:pt x="1783080" y="0"/>
                </a:lnTo>
              </a:path>
            </a:pathLst>
          </a:custGeom>
          <a:noFill/>
          <a:ln w="18288">
            <a:solidFill>
              <a:srgbClr val="B56F7D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2560320" y="2706624"/>
            <a:ext cx="1783080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覆盖封面、目录、章节、正文、图文、指标和结束页。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4663440" y="1463040"/>
            <a:ext cx="566928" cy="5189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4663440" y="1956816"/>
            <a:ext cx="17830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保留编辑能力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4663440" y="2514600"/>
            <a:ext cx="1783080" cy="0"/>
          </a:xfrm>
          <a:custGeom>
            <a:avLst/>
            <a:gdLst/>
            <a:ahLst/>
            <a:cxnLst/>
            <a:rect l="l" t="t" r="r" b="b"/>
            <a:pathLst>
              <a:path w="1783080" h="0">
                <a:moveTo>
                  <a:pt x="0" y="0"/>
                </a:moveTo>
                <a:lnTo>
                  <a:pt x="1783080" y="0"/>
                </a:lnTo>
              </a:path>
            </a:pathLst>
          </a:custGeom>
          <a:noFill/>
          <a:ln w="18288">
            <a:solidFill>
              <a:srgbClr val="B56F7D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4663440" y="2706624"/>
            <a:ext cx="1783080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标题正文可编辑，业务图片可替换，固定装饰保持锁定。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6766560" y="1463040"/>
            <a:ext cx="566928" cy="5189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6766560" y="1956816"/>
            <a:ext cx="17830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建立验收证据</a:t>
            </a:r>
            <a:endParaRPr lang="en-US" sz="1152" dirty="0"/>
          </a:p>
        </p:txBody>
      </p:sp>
      <p:sp>
        <p:nvSpPr>
          <p:cNvPr id="19" name="Shape 16"/>
          <p:cNvSpPr/>
          <p:nvPr/>
        </p:nvSpPr>
        <p:spPr>
          <a:xfrm>
            <a:off x="6766560" y="2514600"/>
            <a:ext cx="1783080" cy="0"/>
          </a:xfrm>
          <a:custGeom>
            <a:avLst/>
            <a:gdLst/>
            <a:ahLst/>
            <a:cxnLst/>
            <a:rect l="l" t="t" r="r" b="b"/>
            <a:pathLst>
              <a:path w="1783080" h="0">
                <a:moveTo>
                  <a:pt x="0" y="0"/>
                </a:moveTo>
                <a:lnTo>
                  <a:pt x="1783080" y="0"/>
                </a:lnTo>
              </a:path>
            </a:pathLst>
          </a:custGeom>
          <a:noFill/>
          <a:ln w="18288">
            <a:solidFill>
              <a:srgbClr val="B56F7D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6766560" y="2706624"/>
            <a:ext cx="1783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 JSON 保存重载及 PPTX 导出重新导入。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6583680" cy="6583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核心指标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58368" y="1133856"/>
            <a:ext cx="1463040" cy="0"/>
          </a:xfrm>
          <a:custGeom>
            <a:avLst/>
            <a:gdLst/>
            <a:ahLst/>
            <a:cxnLst/>
            <a:rect l="l" t="t" r="r" b="b"/>
            <a:pathLst>
              <a:path w="1463040" h="0">
                <a:moveTo>
                  <a:pt x="0" y="0"/>
                </a:moveTo>
                <a:lnTo>
                  <a:pt x="1463040" y="0"/>
                </a:lnTo>
              </a:path>
            </a:pathLst>
          </a:custGeom>
          <a:noFill/>
          <a:ln w="18288">
            <a:solidFill>
              <a:srgbClr val="B56F7D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25880"/>
            <a:ext cx="6949440" cy="731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95528" y="187452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617220" y="0"/>
                </a:moveTo>
                <a:cubicBezTo>
                  <a:pt x="958041" y="170"/>
                  <a:pt x="1234217" y="276553"/>
                  <a:pt x="1234131" y="617374"/>
                </a:cubicBezTo>
                <a:cubicBezTo>
                  <a:pt x="1234046" y="958195"/>
                  <a:pt x="957732" y="1234440"/>
                  <a:pt x="616911" y="1234440"/>
                </a:cubicBezTo>
                <a:cubicBezTo>
                  <a:pt x="276090" y="1234440"/>
                  <a:pt x="-223" y="958195"/>
                  <a:pt x="-309" y="617374"/>
                </a:cubicBezTo>
                <a:cubicBezTo>
                  <a:pt x="-394" y="276553"/>
                  <a:pt x="275782" y="170"/>
                  <a:pt x="616603" y="0"/>
                </a:cubicBezTo>
                <a:close/>
              </a:path>
            </a:pathLst>
          </a:custGeom>
          <a:solidFill>
            <a:srgbClr val="FFF9F5"/>
          </a:solidFill>
          <a:ln w="27432">
            <a:solidFill>
              <a:srgbClr val="B56F7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05256" y="2267712"/>
            <a:ext cx="1024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566928" y="3337560"/>
            <a:ext cx="169164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页面库存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566928" y="3840480"/>
            <a:ext cx="16916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生产页面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2898648" y="187452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617220" y="0"/>
                </a:moveTo>
                <a:cubicBezTo>
                  <a:pt x="958041" y="170"/>
                  <a:pt x="1234217" y="276553"/>
                  <a:pt x="1234131" y="617374"/>
                </a:cubicBezTo>
                <a:cubicBezTo>
                  <a:pt x="1234046" y="958195"/>
                  <a:pt x="957732" y="1234440"/>
                  <a:pt x="616911" y="1234440"/>
                </a:cubicBezTo>
                <a:cubicBezTo>
                  <a:pt x="276090" y="1234440"/>
                  <a:pt x="-223" y="958195"/>
                  <a:pt x="-309" y="617374"/>
                </a:cubicBezTo>
                <a:cubicBezTo>
                  <a:pt x="-394" y="276553"/>
                  <a:pt x="275782" y="170"/>
                  <a:pt x="616603" y="0"/>
                </a:cubicBezTo>
                <a:close/>
              </a:path>
            </a:pathLst>
          </a:custGeom>
          <a:solidFill>
            <a:srgbClr val="FFF9F5"/>
          </a:solidFill>
          <a:ln w="27432">
            <a:solidFill>
              <a:srgbClr val="B56F7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008376" y="2267712"/>
            <a:ext cx="1024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2670048" y="3337560"/>
            <a:ext cx="169164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页面类型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2670048" y="3840480"/>
            <a:ext cx="16916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语义类型</a:t>
            </a:r>
            <a:endParaRPr lang="en-US" sz="1152" dirty="0"/>
          </a:p>
        </p:txBody>
      </p:sp>
      <p:sp>
        <p:nvSpPr>
          <p:cNvPr id="14" name="Shape 10"/>
          <p:cNvSpPr/>
          <p:nvPr/>
        </p:nvSpPr>
        <p:spPr>
          <a:xfrm>
            <a:off x="5001768" y="187452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617220" y="0"/>
                </a:moveTo>
                <a:cubicBezTo>
                  <a:pt x="958041" y="170"/>
                  <a:pt x="1234217" y="276553"/>
                  <a:pt x="1234131" y="617374"/>
                </a:cubicBezTo>
                <a:cubicBezTo>
                  <a:pt x="1234046" y="958195"/>
                  <a:pt x="957732" y="1234440"/>
                  <a:pt x="616911" y="1234440"/>
                </a:cubicBezTo>
                <a:cubicBezTo>
                  <a:pt x="276090" y="1234440"/>
                  <a:pt x="-223" y="958195"/>
                  <a:pt x="-309" y="617374"/>
                </a:cubicBezTo>
                <a:cubicBezTo>
                  <a:pt x="-394" y="276553"/>
                  <a:pt x="275782" y="170"/>
                  <a:pt x="616603" y="0"/>
                </a:cubicBezTo>
                <a:close/>
              </a:path>
            </a:pathLst>
          </a:custGeom>
          <a:solidFill>
            <a:srgbClr val="FFF9F5"/>
          </a:solidFill>
          <a:ln w="27432">
            <a:solidFill>
              <a:srgbClr val="B56F7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11496" y="2267712"/>
            <a:ext cx="1024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4773168" y="3337560"/>
            <a:ext cx="169164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业务图片</a:t>
            </a:r>
            <a:endParaRPr lang="en-US" sz="1152" dirty="0"/>
          </a:p>
        </p:txBody>
      </p:sp>
      <p:sp>
        <p:nvSpPr>
          <p:cNvPr id="17" name="Text 13"/>
          <p:cNvSpPr/>
          <p:nvPr/>
        </p:nvSpPr>
        <p:spPr>
          <a:xfrm>
            <a:off x="4773168" y="3840480"/>
            <a:ext cx="16916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可替换槽位</a:t>
            </a:r>
            <a:endParaRPr lang="en-US" sz="1152" dirty="0"/>
          </a:p>
        </p:txBody>
      </p:sp>
      <p:sp>
        <p:nvSpPr>
          <p:cNvPr id="18" name="Shape 14"/>
          <p:cNvSpPr/>
          <p:nvPr/>
        </p:nvSpPr>
        <p:spPr>
          <a:xfrm>
            <a:off x="7104888" y="187452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617220" y="0"/>
                </a:moveTo>
                <a:cubicBezTo>
                  <a:pt x="958041" y="170"/>
                  <a:pt x="1234217" y="276553"/>
                  <a:pt x="1234131" y="617374"/>
                </a:cubicBezTo>
                <a:cubicBezTo>
                  <a:pt x="1234046" y="958195"/>
                  <a:pt x="957732" y="1234440"/>
                  <a:pt x="616911" y="1234440"/>
                </a:cubicBezTo>
                <a:cubicBezTo>
                  <a:pt x="276090" y="1234440"/>
                  <a:pt x="-223" y="958195"/>
                  <a:pt x="-309" y="617374"/>
                </a:cubicBezTo>
                <a:cubicBezTo>
                  <a:pt x="-394" y="276553"/>
                  <a:pt x="275782" y="170"/>
                  <a:pt x="616603" y="0"/>
                </a:cubicBezTo>
                <a:close/>
              </a:path>
            </a:pathLst>
          </a:custGeom>
          <a:solidFill>
            <a:srgbClr val="FFF9F5"/>
          </a:solidFill>
          <a:ln w="27432">
            <a:solidFill>
              <a:srgbClr val="B56F7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14616" y="2267712"/>
            <a:ext cx="1024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52" dirty="0"/>
          </a:p>
        </p:txBody>
      </p:sp>
      <p:sp>
        <p:nvSpPr>
          <p:cNvPr id="20" name="Text 16"/>
          <p:cNvSpPr/>
          <p:nvPr/>
        </p:nvSpPr>
        <p:spPr>
          <a:xfrm>
            <a:off x="6876288" y="3337560"/>
            <a:ext cx="169164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验收视口</a:t>
            </a:r>
            <a:endParaRPr lang="en-US" sz="1152" dirty="0"/>
          </a:p>
        </p:txBody>
      </p:sp>
      <p:sp>
        <p:nvSpPr>
          <p:cNvPr id="21" name="Text 17"/>
          <p:cNvSpPr/>
          <p:nvPr/>
        </p:nvSpPr>
        <p:spPr>
          <a:xfrm>
            <a:off x="6876288" y="3840480"/>
            <a:ext cx="16916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设备尺寸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6583680" cy="64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模板应用示例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58368" y="1133856"/>
            <a:ext cx="1463040" cy="0"/>
          </a:xfrm>
          <a:custGeom>
            <a:avLst/>
            <a:gdLst/>
            <a:ahLst/>
            <a:cxnLst/>
            <a:rect l="l" t="t" r="r" b="b"/>
            <a:pathLst>
              <a:path w="1463040" h="0">
                <a:moveTo>
                  <a:pt x="0" y="0"/>
                </a:moveTo>
                <a:lnTo>
                  <a:pt x="1463040" y="0"/>
                </a:lnTo>
              </a:path>
            </a:pathLst>
          </a:custGeom>
          <a:noFill/>
          <a:ln w="18288">
            <a:solidFill>
              <a:srgbClr val="B56F7D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5556" r="5556" t="0" b="0"/>
          <a:stretch/>
        </p:blipFill>
        <p:spPr>
          <a:xfrm>
            <a:off x="685800" y="1508760"/>
            <a:ext cx="3840480" cy="2880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74920" y="1920240"/>
            <a:ext cx="31089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统一图片协议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074920" y="2743200"/>
            <a:ext cx="3108960" cy="64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横图、竖图和方图使用统一裁切协议，并与固定装饰严格分离。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713232"/>
            <a:ext cx="5486400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dirty="0">
                <a:solidFill>
                  <a:srgbClr val="7B33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1005840" y="1508760"/>
            <a:ext cx="475488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4A3F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桃夭墨韵商务汇报模板技术验收完成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1051560" y="2331720"/>
            <a:ext cx="493776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1645920" y="2304288"/>
            <a:ext cx="38404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确认候选版本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1051560" y="3044952"/>
            <a:ext cx="493776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DF8F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1645920" y="3017520"/>
            <a:ext cx="38404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211B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进入后续交付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2026-09-15T11:59:39Z</dcterms:created>
  <dcterms:modified xsi:type="dcterms:W3CDTF">2026-09-15T11:59:39Z</dcterms:modified>
</cp:coreProperties>
</file>