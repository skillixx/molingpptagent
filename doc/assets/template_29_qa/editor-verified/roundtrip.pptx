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jpeg"/><Relationship Id="rId3" Type="http://schemas.openxmlformats.org/officeDocument/2006/relationships/image" Target="../media/image-15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jpeg"/><Relationship Id="rId3" Type="http://schemas.openxmlformats.org/officeDocument/2006/relationships/image" Target="../media/image-16-3.jpeg"/><Relationship Id="rId4" Type="http://schemas.openxmlformats.org/officeDocument/2006/relationships/image" Target="../media/image-16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jpeg"/><Relationship Id="rId3" Type="http://schemas.openxmlformats.org/officeDocument/2006/relationships/image" Target="../media/image-17-3.jpeg"/><Relationship Id="rId4" Type="http://schemas.openxmlformats.org/officeDocument/2006/relationships/image" Target="../media/image-17-4.jpeg"/><Relationship Id="rId5" Type="http://schemas.openxmlformats.org/officeDocument/2006/relationships/image" Target="../media/image-17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777240"/>
            <a:ext cx="731520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乐章雅韵编辑验收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676656" y="2240280"/>
            <a:ext cx="5943600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项目介绍与阶段成果汇报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汇报人：项目组　日期：2026年9月</a:t>
            </a:r>
            <a:endParaRPr lang="en-US" sz="1152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603504"/>
            <a:ext cx="7315200" cy="12252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面向未来业务持续发展与团队协作的项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目建设目标实施路径及阶段成果汇报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676656" y="2331720"/>
            <a:ext cx="5943600" cy="48463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项目介绍与阶段成果汇报</a:t>
            </a:r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endParaRPr lang="en-US" sz="1152" dirty="0"/>
          </a:p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84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汇报人：项目组　日期：2026年9月</a:t>
            </a:r>
            <a:endParaRPr lang="en-US" sz="115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DA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560320" y="166649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0" y="173050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182112" y="1611630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182112" y="2471166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2560320" y="2654046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0" y="2718054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182112" y="2599182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3182112" y="3458718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DA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560320" y="117271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0" y="123672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182112" y="1117854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182112" y="1977390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2560320" y="2160270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0" y="2224278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182112" y="2105406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3182112" y="2964942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560320" y="314782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321183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3182112" y="3092958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3182112" y="3952494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DA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560320" y="67894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560320" y="74295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3182112" y="624078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182112" y="1483614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2560320" y="166649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560320" y="173050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3182112" y="1611630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3182112" y="2471166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560320" y="2654046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560320" y="2718054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3182112" y="2599182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3182112" y="3458718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2560320" y="364159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2560320" y="370560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3182112" y="3586734"/>
            <a:ext cx="470916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3182112" y="4446270"/>
            <a:ext cx="470916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DA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249424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49424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2871216" y="829818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2871216" y="1689354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5157216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57216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5779008" y="829818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5779008" y="1689354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249424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49424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2871216" y="2009394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2871216" y="2868930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5157216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57216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5779008" y="2009394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5779008" y="2868930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2249424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49424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2871216" y="3188970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阶段成果</a:t>
            </a:r>
            <a:endParaRPr lang="en-US" sz="1152" dirty="0"/>
          </a:p>
        </p:txBody>
      </p:sp>
      <p:sp>
        <p:nvSpPr>
          <p:cNvPr id="24" name="Shape 21"/>
          <p:cNvSpPr/>
          <p:nvPr/>
        </p:nvSpPr>
        <p:spPr>
          <a:xfrm>
            <a:off x="2871216" y="4048506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029968"/>
            <a:ext cx="164592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548640" y="2852928"/>
            <a:ext cx="1463040" cy="40233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DA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52" dirty="0"/>
          </a:p>
        </p:txBody>
      </p:sp>
      <p:sp>
        <p:nvSpPr>
          <p:cNvPr id="5" name="Shape 2"/>
          <p:cNvSpPr/>
          <p:nvPr/>
        </p:nvSpPr>
        <p:spPr>
          <a:xfrm>
            <a:off x="2249424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49424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2871216" y="829818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2871216" y="1689354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5157216" y="884682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157216" y="948690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52" dirty="0"/>
          </a:p>
        </p:txBody>
      </p:sp>
      <p:sp>
        <p:nvSpPr>
          <p:cNvPr id="11" name="Text 8"/>
          <p:cNvSpPr/>
          <p:nvPr/>
        </p:nvSpPr>
        <p:spPr>
          <a:xfrm>
            <a:off x="5779008" y="829818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建设目标</a:t>
            </a:r>
            <a:endParaRPr lang="en-US" sz="1152" dirty="0"/>
          </a:p>
        </p:txBody>
      </p:sp>
      <p:sp>
        <p:nvSpPr>
          <p:cNvPr id="12" name="Shape 9"/>
          <p:cNvSpPr/>
          <p:nvPr/>
        </p:nvSpPr>
        <p:spPr>
          <a:xfrm>
            <a:off x="5779008" y="1689354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3" name="Shape 10"/>
          <p:cNvSpPr/>
          <p:nvPr/>
        </p:nvSpPr>
        <p:spPr>
          <a:xfrm>
            <a:off x="2249424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49424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52" dirty="0"/>
          </a:p>
        </p:txBody>
      </p:sp>
      <p:sp>
        <p:nvSpPr>
          <p:cNvPr id="15" name="Text 12"/>
          <p:cNvSpPr/>
          <p:nvPr/>
        </p:nvSpPr>
        <p:spPr>
          <a:xfrm>
            <a:off x="2871216" y="2009394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实施路径</a:t>
            </a:r>
            <a:endParaRPr lang="en-US" sz="1152" dirty="0"/>
          </a:p>
        </p:txBody>
      </p:sp>
      <p:sp>
        <p:nvSpPr>
          <p:cNvPr id="16" name="Shape 13"/>
          <p:cNvSpPr/>
          <p:nvPr/>
        </p:nvSpPr>
        <p:spPr>
          <a:xfrm>
            <a:off x="2871216" y="2868930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7" name="Shape 14"/>
          <p:cNvSpPr/>
          <p:nvPr/>
        </p:nvSpPr>
        <p:spPr>
          <a:xfrm>
            <a:off x="5157216" y="2064258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157216" y="2128266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52" dirty="0"/>
          </a:p>
        </p:txBody>
      </p:sp>
      <p:sp>
        <p:nvSpPr>
          <p:cNvPr id="19" name="Text 16"/>
          <p:cNvSpPr/>
          <p:nvPr/>
        </p:nvSpPr>
        <p:spPr>
          <a:xfrm>
            <a:off x="5779008" y="2009394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协作安排</a:t>
            </a:r>
            <a:endParaRPr lang="en-US" sz="1152" dirty="0"/>
          </a:p>
        </p:txBody>
      </p:sp>
      <p:sp>
        <p:nvSpPr>
          <p:cNvPr id="20" name="Shape 17"/>
          <p:cNvSpPr/>
          <p:nvPr/>
        </p:nvSpPr>
        <p:spPr>
          <a:xfrm>
            <a:off x="5779008" y="2868930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21" name="Shape 18"/>
          <p:cNvSpPr/>
          <p:nvPr/>
        </p:nvSpPr>
        <p:spPr>
          <a:xfrm>
            <a:off x="2249424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2249424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52" dirty="0"/>
          </a:p>
        </p:txBody>
      </p:sp>
      <p:sp>
        <p:nvSpPr>
          <p:cNvPr id="23" name="Text 20"/>
          <p:cNvSpPr/>
          <p:nvPr/>
        </p:nvSpPr>
        <p:spPr>
          <a:xfrm>
            <a:off x="2871216" y="3188970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阶段成果</a:t>
            </a:r>
            <a:endParaRPr lang="en-US" sz="1152" dirty="0"/>
          </a:p>
        </p:txBody>
      </p:sp>
      <p:sp>
        <p:nvSpPr>
          <p:cNvPr id="24" name="Shape 21"/>
          <p:cNvSpPr/>
          <p:nvPr/>
        </p:nvSpPr>
        <p:spPr>
          <a:xfrm>
            <a:off x="2871216" y="4048506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25" name="Shape 22"/>
          <p:cNvSpPr/>
          <p:nvPr/>
        </p:nvSpPr>
        <p:spPr>
          <a:xfrm>
            <a:off x="5157216" y="3243834"/>
            <a:ext cx="475488" cy="475488"/>
          </a:xfrm>
          <a:custGeom>
            <a:avLst/>
            <a:gdLst/>
            <a:ahLst/>
            <a:cxnLst/>
            <a:rect l="l" t="t" r="r" b="b"/>
            <a:pathLst>
              <a:path w="475488" h="475488">
                <a:moveTo>
                  <a:pt x="237744" y="0"/>
                </a:moveTo>
                <a:cubicBezTo>
                  <a:pt x="368958" y="0"/>
                  <a:pt x="475488" y="106530"/>
                  <a:pt x="475488" y="237744"/>
                </a:cubicBezTo>
                <a:cubicBezTo>
                  <a:pt x="475488" y="368958"/>
                  <a:pt x="368958" y="475488"/>
                  <a:pt x="237744" y="475488"/>
                </a:cubicBezTo>
                <a:cubicBezTo>
                  <a:pt x="106530" y="475488"/>
                  <a:pt x="0" y="368958"/>
                  <a:pt x="0" y="237744"/>
                </a:cubicBezTo>
                <a:cubicBezTo>
                  <a:pt x="0" y="106530"/>
                  <a:pt x="106530" y="0"/>
                  <a:pt x="237744" y="0"/>
                </a:cubicBezTo>
                <a:close/>
              </a:path>
            </a:pathLst>
          </a:custGeom>
          <a:solidFill>
            <a:srgbClr val="FFFFFF">
              <a:alpha val="13000"/>
            </a:srgbClr>
          </a:solidFill>
          <a:ln w="6401">
            <a:solidFill>
              <a:srgbClr val="78655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157216" y="3307842"/>
            <a:ext cx="475488" cy="52578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00" dirty="0">
                <a:solidFill>
                  <a:srgbClr val="E448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52" dirty="0"/>
          </a:p>
        </p:txBody>
      </p:sp>
      <p:sp>
        <p:nvSpPr>
          <p:cNvPr id="27" name="Text 24"/>
          <p:cNvSpPr/>
          <p:nvPr/>
        </p:nvSpPr>
        <p:spPr>
          <a:xfrm>
            <a:off x="5779008" y="3188970"/>
            <a:ext cx="2103120" cy="51206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728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下一步计划</a:t>
            </a:r>
            <a:endParaRPr lang="en-US" sz="1152" dirty="0"/>
          </a:p>
        </p:txBody>
      </p:sp>
      <p:sp>
        <p:nvSpPr>
          <p:cNvPr id="28" name="Shape 25"/>
          <p:cNvSpPr/>
          <p:nvPr/>
        </p:nvSpPr>
        <p:spPr>
          <a:xfrm>
            <a:off x="5779008" y="4048506"/>
            <a:ext cx="21031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94944" y="2468880"/>
            <a:ext cx="2011680" cy="171907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8064" b="1" dirty="0">
                <a:solidFill>
                  <a:srgbClr val="DABB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3017520" y="1737360"/>
            <a:ext cx="5029200" cy="70408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736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从共同目标出发</a:t>
            </a:r>
            <a:endParaRPr lang="en-US" sz="1152" dirty="0"/>
          </a:p>
        </p:txBody>
      </p:sp>
      <p:sp>
        <p:nvSpPr>
          <p:cNvPr id="5" name="Text 2"/>
          <p:cNvSpPr/>
          <p:nvPr/>
        </p:nvSpPr>
        <p:spPr>
          <a:xfrm>
            <a:off x="3017520" y="3154680"/>
            <a:ext cx="5029200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将每一步行动落到具体任务，让项目进展清晰可见。</a:t>
            </a:r>
            <a:endParaRPr lang="en-US" sz="1152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" y="1353312"/>
            <a:ext cx="2313432" cy="3200400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3108960" y="1408176"/>
            <a:ext cx="29260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7" name="Text 3"/>
          <p:cNvSpPr/>
          <p:nvPr/>
        </p:nvSpPr>
        <p:spPr>
          <a:xfrm>
            <a:off x="3108960" y="1609344"/>
            <a:ext cx="4754880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8" name="Text 4"/>
          <p:cNvSpPr/>
          <p:nvPr/>
        </p:nvSpPr>
        <p:spPr>
          <a:xfrm>
            <a:off x="3108960" y="2267712"/>
            <a:ext cx="475488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426464"/>
            <a:ext cx="29260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512064" y="1627632"/>
            <a:ext cx="3602736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12064" y="2286000"/>
            <a:ext cx="3602736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334256" y="1426464"/>
            <a:ext cx="29260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4334256" y="1627632"/>
            <a:ext cx="3602736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334256" y="2286000"/>
            <a:ext cx="3602736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444752"/>
            <a:ext cx="29260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512064" y="1645920"/>
            <a:ext cx="2322576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12064" y="2304288"/>
            <a:ext cx="232257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围绕实际需求定义预期结果，明确本阶段需要解决的问题。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3072384" y="1444752"/>
            <a:ext cx="29260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3072384" y="1645920"/>
            <a:ext cx="2322576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3072384" y="2304288"/>
            <a:ext cx="2322576" cy="923544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632704" y="1444752"/>
            <a:ext cx="29260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5632704" y="1645920"/>
            <a:ext cx="2322576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建立协作机制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5632704" y="2304288"/>
            <a:ext cx="2322576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同步信息与进展，及时处理依赖，让各方保持一致理解。</a:t>
            </a:r>
            <a:endParaRPr lang="en-US" sz="115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让想法清晰呈现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5" name="Shape 2"/>
          <p:cNvSpPr/>
          <p:nvPr/>
        </p:nvSpPr>
        <p:spPr>
          <a:xfrm>
            <a:off x="512064" y="1335024"/>
            <a:ext cx="2743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6" name="Text 3"/>
          <p:cNvSpPr/>
          <p:nvPr/>
        </p:nvSpPr>
        <p:spPr>
          <a:xfrm>
            <a:off x="512064" y="1426464"/>
            <a:ext cx="3529584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明确项目目标</a:t>
            </a:r>
            <a:endParaRPr lang="en-US" sz="1152" dirty="0"/>
          </a:p>
        </p:txBody>
      </p:sp>
      <p:sp>
        <p:nvSpPr>
          <p:cNvPr id="7" name="Text 4"/>
          <p:cNvSpPr/>
          <p:nvPr/>
        </p:nvSpPr>
        <p:spPr>
          <a:xfrm>
            <a:off x="512064" y="1975104"/>
            <a:ext cx="3529584" cy="42976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正文编辑验收：保留项目内容。</a:t>
            </a:r>
            <a:endParaRPr lang="en-US" sz="1152" dirty="0"/>
          </a:p>
        </p:txBody>
      </p:sp>
      <p:sp>
        <p:nvSpPr>
          <p:cNvPr id="8" name="Shape 5"/>
          <p:cNvSpPr/>
          <p:nvPr/>
        </p:nvSpPr>
        <p:spPr>
          <a:xfrm>
            <a:off x="4334256" y="1335024"/>
            <a:ext cx="2743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9" name="Text 6"/>
          <p:cNvSpPr/>
          <p:nvPr/>
        </p:nvSpPr>
        <p:spPr>
          <a:xfrm>
            <a:off x="4334256" y="1426464"/>
            <a:ext cx="3529584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梳理实施路径</a:t>
            </a:r>
            <a:endParaRPr lang="en-US" sz="1152" dirty="0"/>
          </a:p>
        </p:txBody>
      </p:sp>
      <p:sp>
        <p:nvSpPr>
          <p:cNvPr id="10" name="Text 7"/>
          <p:cNvSpPr/>
          <p:nvPr/>
        </p:nvSpPr>
        <p:spPr>
          <a:xfrm>
            <a:off x="4334256" y="1975104"/>
            <a:ext cx="3529584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把目标拆解为可执行步骤，记录负责人、时间安排与交付物。</a:t>
            </a:r>
            <a:endParaRPr lang="en-US" sz="1152" dirty="0"/>
          </a:p>
        </p:txBody>
      </p:sp>
      <p:sp>
        <p:nvSpPr>
          <p:cNvPr id="11" name="Shape 8"/>
          <p:cNvSpPr/>
          <p:nvPr/>
        </p:nvSpPr>
        <p:spPr>
          <a:xfrm>
            <a:off x="512064" y="3063240"/>
            <a:ext cx="2743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2" name="Text 9"/>
          <p:cNvSpPr/>
          <p:nvPr/>
        </p:nvSpPr>
        <p:spPr>
          <a:xfrm>
            <a:off x="512064" y="3154680"/>
            <a:ext cx="3529584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建立协作机制</a:t>
            </a:r>
            <a:endParaRPr lang="en-US" sz="1152" dirty="0"/>
          </a:p>
        </p:txBody>
      </p:sp>
      <p:sp>
        <p:nvSpPr>
          <p:cNvPr id="13" name="Text 10"/>
          <p:cNvSpPr/>
          <p:nvPr/>
        </p:nvSpPr>
        <p:spPr>
          <a:xfrm>
            <a:off x="512064" y="3703320"/>
            <a:ext cx="3529584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同步信息与进展，及时处理依赖，让各方保持一致理解。</a:t>
            </a:r>
            <a:endParaRPr lang="en-US" sz="1152" dirty="0"/>
          </a:p>
        </p:txBody>
      </p:sp>
      <p:sp>
        <p:nvSpPr>
          <p:cNvPr id="14" name="Shape 11"/>
          <p:cNvSpPr/>
          <p:nvPr/>
        </p:nvSpPr>
        <p:spPr>
          <a:xfrm>
            <a:off x="4334256" y="3063240"/>
            <a:ext cx="274320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sp>
        <p:nvSpPr>
          <p:cNvPr id="15" name="Text 12"/>
          <p:cNvSpPr/>
          <p:nvPr/>
        </p:nvSpPr>
        <p:spPr>
          <a:xfrm>
            <a:off x="4334256" y="3154680"/>
            <a:ext cx="3529584" cy="4709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5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验证实际成果</a:t>
            </a:r>
            <a:endParaRPr lang="en-US" sz="1152" dirty="0"/>
          </a:p>
        </p:txBody>
      </p:sp>
      <p:sp>
        <p:nvSpPr>
          <p:cNvPr id="16" name="Text 13"/>
          <p:cNvSpPr/>
          <p:nvPr/>
        </p:nvSpPr>
        <p:spPr>
          <a:xfrm>
            <a:off x="4334256" y="3703320"/>
            <a:ext cx="3529584" cy="67665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296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结合实际使用场景检查成果，保留有效证据并修正问题。</a:t>
            </a:r>
            <a:endParaRPr lang="en-US" sz="1152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课堂与舞台的音乐实践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13793" r="13793" t="0" b="0"/>
          <a:stretch/>
        </p:blipFill>
        <p:spPr>
          <a:xfrm>
            <a:off x="512064" y="1362456"/>
            <a:ext cx="3456432" cy="31821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279392" y="1591056"/>
            <a:ext cx="3657600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专注练习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4279392" y="2423160"/>
            <a:ext cx="365760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从节奏与指法入手，在日常练习中积累稳定的演奏能力。</a:t>
            </a:r>
            <a:endParaRPr lang="en-US" sz="1152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课堂与舞台的音乐实践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13748" r="13748" t="0" b="0"/>
          <a:stretch/>
        </p:blipFill>
        <p:spPr>
          <a:xfrm>
            <a:off x="4480560" y="1362456"/>
            <a:ext cx="3456432" cy="31821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1591056"/>
            <a:ext cx="3657600" cy="53949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87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专注练习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2423160"/>
            <a:ext cx="3657600" cy="73152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从节奏与指法入手，在日常练习中积累稳定的演奏能力。</a:t>
            </a:r>
            <a:endParaRPr lang="en-US" sz="1152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课堂与舞台的音乐实践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11125" b="11125"/>
          <a:stretch/>
        </p:blipFill>
        <p:spPr>
          <a:xfrm>
            <a:off x="512064" y="1353312"/>
            <a:ext cx="3611880" cy="187452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3364992"/>
            <a:ext cx="361188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专注练习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931920"/>
            <a:ext cx="36118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从节奏与指法入手，在日常练习中积累稳定的演奏能力。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11076" b="11076"/>
          <a:stretch/>
        </p:blipFill>
        <p:spPr>
          <a:xfrm>
            <a:off x="4325112" y="1353312"/>
            <a:ext cx="3611880" cy="187452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325112" y="3364992"/>
            <a:ext cx="3611880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合奏交流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4325112" y="3931920"/>
            <a:ext cx="3611880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通过合奏练习感受声部之间的联系，学习配合与相互倾听。</a:t>
            </a:r>
            <a:endParaRPr lang="en-US" sz="1152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课堂与舞台的音乐实践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2796" r="2796" t="0" b="0"/>
          <a:stretch/>
        </p:blipFill>
        <p:spPr>
          <a:xfrm>
            <a:off x="512064" y="1353312"/>
            <a:ext cx="2340864" cy="165506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3145536"/>
            <a:ext cx="2340864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专注练习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712464"/>
            <a:ext cx="2340864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从节奏与指法入手，在日常练习中积累稳定的演奏能力。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2855" r="2855" t="0" b="0"/>
          <a:stretch/>
        </p:blipFill>
        <p:spPr>
          <a:xfrm>
            <a:off x="3054096" y="1353312"/>
            <a:ext cx="2340864" cy="165506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3054096" y="3145536"/>
            <a:ext cx="2340864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合奏交流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3054096" y="3712464"/>
            <a:ext cx="2340864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通过合奏练习感受声部之间的联系，学习配合与相互倾听。</a:t>
            </a:r>
            <a:endParaRPr lang="en-US" sz="115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2855" r="2855" t="0" b="0"/>
          <a:stretch/>
        </p:blipFill>
        <p:spPr>
          <a:xfrm>
            <a:off x="5596128" y="1353312"/>
            <a:ext cx="2340864" cy="165506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596128" y="3145536"/>
            <a:ext cx="2340864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聆听作品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5596128" y="3712464"/>
            <a:ext cx="2340864" cy="621792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聆听不同风格的音乐作品，认识旋律、和声与作品结构。</a:t>
            </a:r>
            <a:endParaRPr lang="en-US" sz="1152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2064" y="274320"/>
            <a:ext cx="7424928" cy="59436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216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课堂与舞台的音乐实践</a:t>
            </a:r>
            <a:endParaRPr lang="en-US" sz="1152" dirty="0"/>
          </a:p>
        </p:txBody>
      </p:sp>
      <p:sp>
        <p:nvSpPr>
          <p:cNvPr id="4" name="Shape 1"/>
          <p:cNvSpPr/>
          <p:nvPr/>
        </p:nvSpPr>
        <p:spPr>
          <a:xfrm>
            <a:off x="512064" y="1042416"/>
            <a:ext cx="7424928" cy="0"/>
          </a:xfrm>
          <a:prstGeom prst="line">
            <a:avLst/>
          </a:prstGeom>
          <a:noFill/>
          <a:ln w="9144">
            <a:solidFill>
              <a:srgbClr val="786558"/>
            </a:solidFill>
            <a:prstDash val="solid"/>
            <a:headEnd type="none"/>
            <a:tailEnd type="none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rcRect l="9050" r="9050" t="0" b="0"/>
          <a:stretch/>
        </p:blipFill>
        <p:spPr>
          <a:xfrm>
            <a:off x="512064" y="1353312"/>
            <a:ext cx="1705356" cy="138988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12064" y="2880360"/>
            <a:ext cx="170535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专注练习</a:t>
            </a:r>
            <a:endParaRPr lang="en-US" sz="1152" dirty="0"/>
          </a:p>
        </p:txBody>
      </p:sp>
      <p:sp>
        <p:nvSpPr>
          <p:cNvPr id="7" name="Text 3"/>
          <p:cNvSpPr/>
          <p:nvPr/>
        </p:nvSpPr>
        <p:spPr>
          <a:xfrm>
            <a:off x="512064" y="3447288"/>
            <a:ext cx="170535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从节奏与指法入手，在日常练习中积累稳定的演奏能力。</a:t>
            </a:r>
            <a:endParaRPr lang="en-US" sz="1152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rcRect l="9101" r="9101" t="0" b="0"/>
          <a:stretch/>
        </p:blipFill>
        <p:spPr>
          <a:xfrm>
            <a:off x="2418588" y="1353312"/>
            <a:ext cx="1705356" cy="138988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2418588" y="2880360"/>
            <a:ext cx="170535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合奏交流</a:t>
            </a:r>
            <a:endParaRPr lang="en-US" sz="1152" dirty="0"/>
          </a:p>
        </p:txBody>
      </p:sp>
      <p:sp>
        <p:nvSpPr>
          <p:cNvPr id="10" name="Text 5"/>
          <p:cNvSpPr/>
          <p:nvPr/>
        </p:nvSpPr>
        <p:spPr>
          <a:xfrm>
            <a:off x="2418588" y="3447288"/>
            <a:ext cx="170535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通过合奏练习感受声部之间的联系，学习配合与相互倾听。</a:t>
            </a:r>
            <a:endParaRPr lang="en-US" sz="1152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9101" r="9101" t="0" b="0"/>
          <a:stretch/>
        </p:blipFill>
        <p:spPr>
          <a:xfrm>
            <a:off x="4325112" y="1353312"/>
            <a:ext cx="1705356" cy="138988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4325112" y="2880360"/>
            <a:ext cx="170535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聆听作品</a:t>
            </a:r>
            <a:endParaRPr lang="en-US" sz="1152" dirty="0"/>
          </a:p>
        </p:txBody>
      </p:sp>
      <p:sp>
        <p:nvSpPr>
          <p:cNvPr id="13" name="Text 7"/>
          <p:cNvSpPr/>
          <p:nvPr/>
        </p:nvSpPr>
        <p:spPr>
          <a:xfrm>
            <a:off x="4325112" y="3447288"/>
            <a:ext cx="170535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聆听不同风格的音乐作品，认识旋律、和声与作品结构。</a:t>
            </a:r>
            <a:endParaRPr lang="en-US" sz="1152" dirty="0"/>
          </a:p>
        </p:txBody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5"/>
          <a:srcRect l="8743" r="8743" t="0" b="0"/>
          <a:stretch/>
        </p:blipFill>
        <p:spPr>
          <a:xfrm>
            <a:off x="6231636" y="1353312"/>
            <a:ext cx="1705356" cy="1389888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6231636" y="2880360"/>
            <a:ext cx="1705356" cy="457200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440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舞台表达</a:t>
            </a:r>
            <a:endParaRPr lang="en-US" sz="1152" dirty="0"/>
          </a:p>
        </p:txBody>
      </p:sp>
      <p:sp>
        <p:nvSpPr>
          <p:cNvPr id="16" name="Text 9"/>
          <p:cNvSpPr/>
          <p:nvPr/>
        </p:nvSpPr>
        <p:spPr>
          <a:xfrm>
            <a:off x="6231636" y="3447288"/>
            <a:ext cx="1705356" cy="8412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l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152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在舞台实践中整理学习成果，用音乐表达情绪与想法。</a:t>
            </a:r>
            <a:endParaRPr lang="en-US" sz="1152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31A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22960" y="960120"/>
            <a:ext cx="6583680" cy="813816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3312" b="1" dirty="0">
                <a:solidFill>
                  <a:srgbClr val="FAF7F2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感谢您的关注</a:t>
            </a:r>
            <a:endParaRPr lang="en-US" sz="1152" dirty="0"/>
          </a:p>
        </p:txBody>
      </p:sp>
      <p:sp>
        <p:nvSpPr>
          <p:cNvPr id="4" name="Text 1"/>
          <p:cNvSpPr/>
          <p:nvPr/>
        </p:nvSpPr>
        <p:spPr>
          <a:xfrm>
            <a:off x="1188720" y="2240280"/>
            <a:ext cx="5852160" cy="498348"/>
          </a:xfrm>
          <a:prstGeom prst="rect">
            <a:avLst/>
          </a:prstGeom>
          <a:noFill/>
          <a:ln/>
        </p:spPr>
        <p:txBody>
          <a:bodyPr wrap="square" lIns="91440" tIns="91440" rIns="91440" bIns="91440" rtlCol="0" anchor="t">
            <a:spAutoFit/>
          </a:bodyPr>
          <a:lstStyle/>
          <a:p>
            <a:pPr algn="ctr" indent="0" marL="0">
              <a:lnSpc>
                <a:spcPct val="120000"/>
              </a:lnSpc>
              <a:spcBef>
                <a:spcPts val="360"/>
              </a:spcBef>
              <a:buNone/>
            </a:pPr>
            <a:r>
              <a:rPr lang="en-US" sz="1656" dirty="0">
                <a:solidFill>
                  <a:srgbClr val="EBE4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项目组期待与您共同推进下一阶段工作</a:t>
            </a:r>
            <a:endParaRPr lang="en-US" sz="115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2026-09-23T12:09:09Z</dcterms:created>
  <dcterms:modified xsi:type="dcterms:W3CDTF">2026-09-23T12:09:09Z</dcterms:modified>
</cp:coreProperties>
</file>